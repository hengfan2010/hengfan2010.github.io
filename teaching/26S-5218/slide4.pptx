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6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  <p:sldMasterId id="2147483708" r:id="rId3"/>
    <p:sldMasterId id="2147483720" r:id="rId4"/>
    <p:sldMasterId id="2147483733" r:id="rId5"/>
    <p:sldMasterId id="2147483745" r:id="rId6"/>
    <p:sldMasterId id="2147483751" r:id="rId7"/>
  </p:sldMasterIdLst>
  <p:notesMasterIdLst>
    <p:notesMasterId r:id="rId91"/>
  </p:notesMasterIdLst>
  <p:sldIdLst>
    <p:sldId id="894" r:id="rId8"/>
    <p:sldId id="434" r:id="rId9"/>
    <p:sldId id="1088" r:id="rId10"/>
    <p:sldId id="446" r:id="rId11"/>
    <p:sldId id="447" r:id="rId12"/>
    <p:sldId id="270" r:id="rId13"/>
    <p:sldId id="449" r:id="rId14"/>
    <p:sldId id="450" r:id="rId15"/>
    <p:sldId id="838" r:id="rId16"/>
    <p:sldId id="839" r:id="rId17"/>
    <p:sldId id="452" r:id="rId18"/>
    <p:sldId id="453" r:id="rId19"/>
    <p:sldId id="454" r:id="rId20"/>
    <p:sldId id="455" r:id="rId21"/>
    <p:sldId id="456" r:id="rId22"/>
    <p:sldId id="457" r:id="rId23"/>
    <p:sldId id="458" r:id="rId24"/>
    <p:sldId id="459" r:id="rId25"/>
    <p:sldId id="1089" r:id="rId26"/>
    <p:sldId id="479" r:id="rId27"/>
    <p:sldId id="1091" r:id="rId28"/>
    <p:sldId id="641" r:id="rId29"/>
    <p:sldId id="643" r:id="rId30"/>
    <p:sldId id="645" r:id="rId31"/>
    <p:sldId id="646" r:id="rId32"/>
    <p:sldId id="647" r:id="rId33"/>
    <p:sldId id="648" r:id="rId34"/>
    <p:sldId id="649" r:id="rId35"/>
    <p:sldId id="650" r:id="rId36"/>
    <p:sldId id="651" r:id="rId37"/>
    <p:sldId id="652" r:id="rId38"/>
    <p:sldId id="653" r:id="rId39"/>
    <p:sldId id="654" r:id="rId40"/>
    <p:sldId id="1077" r:id="rId41"/>
    <p:sldId id="1078" r:id="rId42"/>
    <p:sldId id="1079" r:id="rId43"/>
    <p:sldId id="840" r:id="rId44"/>
    <p:sldId id="841" r:id="rId45"/>
    <p:sldId id="815" r:id="rId46"/>
    <p:sldId id="1090" r:id="rId47"/>
    <p:sldId id="657" r:id="rId48"/>
    <p:sldId id="658" r:id="rId49"/>
    <p:sldId id="709" r:id="rId50"/>
    <p:sldId id="506" r:id="rId51"/>
    <p:sldId id="507" r:id="rId52"/>
    <p:sldId id="508" r:id="rId53"/>
    <p:sldId id="509" r:id="rId54"/>
    <p:sldId id="510" r:id="rId55"/>
    <p:sldId id="511" r:id="rId56"/>
    <p:sldId id="517" r:id="rId57"/>
    <p:sldId id="519" r:id="rId58"/>
    <p:sldId id="710" r:id="rId59"/>
    <p:sldId id="659" r:id="rId60"/>
    <p:sldId id="525" r:id="rId61"/>
    <p:sldId id="475" r:id="rId62"/>
    <p:sldId id="1083" r:id="rId63"/>
    <p:sldId id="705" r:id="rId64"/>
    <p:sldId id="1084" r:id="rId65"/>
    <p:sldId id="1085" r:id="rId66"/>
    <p:sldId id="1086" r:id="rId67"/>
    <p:sldId id="845" r:id="rId68"/>
    <p:sldId id="863" r:id="rId69"/>
    <p:sldId id="864" r:id="rId70"/>
    <p:sldId id="1087" r:id="rId71"/>
    <p:sldId id="828" r:id="rId72"/>
    <p:sldId id="829" r:id="rId73"/>
    <p:sldId id="830" r:id="rId74"/>
    <p:sldId id="831" r:id="rId75"/>
    <p:sldId id="832" r:id="rId76"/>
    <p:sldId id="833" r:id="rId77"/>
    <p:sldId id="816" r:id="rId78"/>
    <p:sldId id="817" r:id="rId79"/>
    <p:sldId id="818" r:id="rId80"/>
    <p:sldId id="819" r:id="rId81"/>
    <p:sldId id="820" r:id="rId82"/>
    <p:sldId id="821" r:id="rId83"/>
    <p:sldId id="822" r:id="rId84"/>
    <p:sldId id="823" r:id="rId85"/>
    <p:sldId id="824" r:id="rId86"/>
    <p:sldId id="825" r:id="rId87"/>
    <p:sldId id="826" r:id="rId88"/>
    <p:sldId id="827" r:id="rId89"/>
    <p:sldId id="715" r:id="rId9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488"/>
      </p:cViewPr>
      <p:guideLst>
        <p:guide orient="horz" pos="213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3.xml"/><Relationship Id="rId95" Type="http://schemas.openxmlformats.org/officeDocument/2006/relationships/tableStyles" Target="tableStyles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9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E8995898-8D84-4C5D-BADA-C939A07F5565}" type="datetimeFigureOut">
              <a:rPr lang="en-US" smtClean="0"/>
              <a:pPr/>
              <a:t>2/3/26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7DB51EDA-6654-40B8-9D58-82E30EE6B6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26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WfmCyLEQ8U&amp;list=PL16j5WbGpaM0_Tj8CRmurZ8Kk1gEBc7fg&amp;index=4" TargetMode="External"/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9DEB-A5ED-49DA-809F-4D64373B3F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29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w^T x + b = [sum_{i=1, ..., d} w_i * x_i ] + b</a:t>
            </a:r>
          </a:p>
          <a:p>
            <a:endParaRPr lang="pl-PL" dirty="0"/>
          </a:p>
          <a:p>
            <a:r>
              <a:rPr lang="pl-PL" dirty="0"/>
              <a:t>w: dx1 vector</a:t>
            </a:r>
          </a:p>
          <a:p>
            <a:r>
              <a:rPr lang="pl-PL" dirty="0"/>
              <a:t>x: dx1 vector</a:t>
            </a:r>
          </a:p>
          <a:p>
            <a:endParaRPr lang="pl-PL" dirty="0"/>
          </a:p>
          <a:p>
            <a:r>
              <a:rPr lang="pl-PL" dirty="0"/>
              <a:t>w' = [w; b]  : (d+1)x1 vector </a:t>
            </a:r>
          </a:p>
          <a:p>
            <a:r>
              <a:rPr lang="pl-PL" dirty="0"/>
              <a:t>x' = [x; 1] : (d+1)x1 </a:t>
            </a:r>
          </a:p>
          <a:p>
            <a:endParaRPr lang="pl-PL" dirty="0"/>
          </a:p>
          <a:p>
            <a:r>
              <a:rPr lang="pl-PL" dirty="0"/>
              <a:t>w'^T x' = w^T x +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BAD559-58E6-437A-A7FE-2E6C4DB0F6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538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EC01E2-A5DA-4CED-AB94-E8AA331F702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9618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Wikipedia: </a:t>
            </a:r>
            <a:r>
              <a:rPr lang="en-US" sz="1100" dirty="0"/>
              <a:t>At the majority of synapses, signals are sent from the axon of one neuron to a dendrite of another... All neurons are electrically excitable, maintaining voltage gradients across their membranes… If the voltage changes by a large enough amount, an all-or-none electrochemical pulse called an action potential is generated, which travels rapidly along the cell's axon, and activates synaptic connections with other cells when it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3B36A2-D391-4BB6-B1CB-0A6BDE1DFA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289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BAD559-58E6-437A-A7FE-2E6C4DB0F6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877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BAD559-58E6-437A-A7FE-2E6C4DB0F6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84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hlinkClick r:id="rId3"/>
              </a:rPr>
              <a:t>https://www.youtube.com/watch?v=QWfmCyLEQ8U&amp;list=PL16j5WbGpaM0_Tj8CRmurZ8Kk1gEBc7fg&amp;index=4</a:t>
            </a:r>
            <a:r>
              <a:rPr lang="en-US" sz="1200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BAD559-58E6-437A-A7FE-2E6C4DB0F6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51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92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45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5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06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76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61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9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212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57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33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407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5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011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063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3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144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808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59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369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8492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821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7862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9386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2539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42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2667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3220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5414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6027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2731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2764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0629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9365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223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252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9615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7038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8552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9497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9945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9808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1009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6359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9727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025" y="1136441"/>
            <a:ext cx="308165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lang="en-US" spc="-5">
                <a:latin typeface="Garamond" panose="02020404030301010803" pitchFamily="18" charset="0"/>
              </a:rPr>
              <a:t>April 19,</a:t>
            </a:r>
            <a:r>
              <a:rPr lang="en-US" spc="-90">
                <a:latin typeface="Garamond" panose="02020404030301010803" pitchFamily="18" charset="0"/>
              </a:rPr>
              <a:t> </a:t>
            </a:r>
            <a:r>
              <a:rPr lang="en-US" spc="-5">
                <a:latin typeface="Garamond" panose="02020404030301010803" pitchFamily="18" charset="0"/>
              </a:rPr>
              <a:t>2018</a:t>
            </a:r>
            <a:endParaRPr lang="en-US" spc="-5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5">
                <a:latin typeface="Garamond" panose="02020404030301010803" pitchFamily="18" charset="0"/>
              </a:rPr>
              <a:t>Fei-Fei Li </a:t>
            </a:r>
            <a:r>
              <a:rPr lang="en-US">
                <a:latin typeface="Garamond" panose="02020404030301010803" pitchFamily="18" charset="0"/>
              </a:rPr>
              <a:t>&amp; Justin Johnson &amp; </a:t>
            </a:r>
            <a:r>
              <a:rPr lang="en-US" spc="-5">
                <a:latin typeface="Garamond" panose="02020404030301010803" pitchFamily="18" charset="0"/>
              </a:rPr>
              <a:t>Serena</a:t>
            </a:r>
            <a:r>
              <a:rPr lang="en-US" spc="-125">
                <a:latin typeface="Garamond" panose="02020404030301010803" pitchFamily="18" charset="0"/>
              </a:rPr>
              <a:t> </a:t>
            </a:r>
            <a:r>
              <a:rPr lang="en-US" spc="-5">
                <a:latin typeface="Garamond" panose="02020404030301010803" pitchFamily="18" charset="0"/>
              </a:rPr>
              <a:t>Yeung</a:t>
            </a:r>
            <a:endParaRPr lang="en-US" spc="-5" dirty="0">
              <a:latin typeface="Garamond" panose="02020404030301010803" pitchFamily="18" charset="0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80"/>
              </a:lnSpc>
            </a:pPr>
            <a:r>
              <a:rPr lang="en-US" sz="3000" spc="-7" baseline="1388">
                <a:latin typeface="Garamond" panose="02020404030301010803" pitchFamily="18" charset="0"/>
              </a:rPr>
              <a:t>Lecture </a:t>
            </a:r>
            <a:r>
              <a:rPr lang="en-US" sz="3000" baseline="1388">
                <a:latin typeface="Garamond" panose="02020404030301010803" pitchFamily="18" charset="0"/>
              </a:rPr>
              <a:t>6 -</a:t>
            </a:r>
            <a:r>
              <a:rPr lang="en-US" sz="3000" spc="-277" baseline="1388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380"/>
                </a:lnSpc>
              </a:pPr>
              <a:t>‹#›</a:t>
            </a:fld>
            <a:endParaRPr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7768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7077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7396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6962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168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1185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1111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09527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162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6202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4212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6546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1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11 Jan</a:t>
            </a:r>
            <a:r>
              <a:rPr lang="en-US" spc="-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2016</a:t>
            </a:r>
            <a:endParaRPr lang="en-US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Johnson</a:t>
            </a:r>
            <a:endParaRPr lang="nn-NO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0423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11 Jan</a:t>
            </a:r>
            <a:r>
              <a:rPr lang="en-US" spc="-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2016</a:t>
            </a:r>
            <a:endParaRPr lang="en-US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Johnson</a:t>
            </a:r>
            <a:endParaRPr lang="nn-NO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8152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751666" y="1176740"/>
            <a:ext cx="310260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11 Jan</a:t>
            </a:r>
            <a:r>
              <a:rPr lang="en-US" spc="-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2016</a:t>
            </a:r>
            <a:endParaRPr lang="en-US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Johnson</a:t>
            </a:r>
            <a:endParaRPr lang="nn-NO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7932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11 Jan</a:t>
            </a:r>
            <a:r>
              <a:rPr lang="en-US" spc="-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2016</a:t>
            </a:r>
            <a:endParaRPr lang="en-US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Johnson</a:t>
            </a:r>
            <a:endParaRPr lang="nn-NO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7519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11 Jan</a:t>
            </a:r>
            <a:r>
              <a:rPr lang="en-US" spc="-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2016</a:t>
            </a:r>
            <a:endParaRPr lang="en-US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Johnson</a:t>
            </a:r>
            <a:endParaRPr lang="nn-NO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9957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1"/>
            <a:ext cx="77724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latin typeface="Garamond" panose="02020404030301010803" pitchFamily="18" charset="0"/>
              </a:rPr>
              <a:t>13 Jan</a:t>
            </a:r>
            <a:r>
              <a:rPr lang="en-US" spc="-65">
                <a:latin typeface="Garamond" panose="02020404030301010803" pitchFamily="18" charset="0"/>
              </a:rPr>
              <a:t> </a:t>
            </a:r>
            <a:r>
              <a:rPr lang="en-US" spc="-5">
                <a:latin typeface="Garamond" panose="02020404030301010803" pitchFamily="18" charset="0"/>
              </a:rPr>
              <a:t>2016</a:t>
            </a:r>
            <a:endParaRPr lang="en-US" spc="-5" dirty="0"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latin typeface="Garamond" panose="02020404030301010803" pitchFamily="18" charset="0"/>
              </a:rPr>
              <a:t> </a:t>
            </a:r>
            <a:r>
              <a:rPr lang="nn-NO" spc="-5">
                <a:latin typeface="Garamond" panose="02020404030301010803" pitchFamily="18" charset="0"/>
              </a:rPr>
              <a:t>Johnson</a:t>
            </a:r>
            <a:endParaRPr lang="nn-NO" spc="-5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5570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F0000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latin typeface="Garamond" panose="02020404030301010803" pitchFamily="18" charset="0"/>
              </a:rPr>
              <a:t>13 Jan</a:t>
            </a:r>
            <a:r>
              <a:rPr lang="en-US" spc="-65">
                <a:latin typeface="Garamond" panose="02020404030301010803" pitchFamily="18" charset="0"/>
              </a:rPr>
              <a:t> </a:t>
            </a:r>
            <a:r>
              <a:rPr lang="en-US" spc="-5">
                <a:latin typeface="Garamond" panose="02020404030301010803" pitchFamily="18" charset="0"/>
              </a:rPr>
              <a:t>2016</a:t>
            </a:r>
            <a:endParaRPr lang="en-US" spc="-5" dirty="0"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latin typeface="Garamond" panose="02020404030301010803" pitchFamily="18" charset="0"/>
              </a:rPr>
              <a:t> </a:t>
            </a:r>
            <a:r>
              <a:rPr lang="nn-NO" spc="-5">
                <a:latin typeface="Garamond" panose="02020404030301010803" pitchFamily="18" charset="0"/>
              </a:rPr>
              <a:t>Johnson</a:t>
            </a:r>
            <a:endParaRPr lang="nn-NO" spc="-5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12819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latin typeface="Garamond" panose="02020404030301010803" pitchFamily="18" charset="0"/>
              </a:rPr>
              <a:t>13 Jan</a:t>
            </a:r>
            <a:r>
              <a:rPr lang="en-US" spc="-65">
                <a:latin typeface="Garamond" panose="02020404030301010803" pitchFamily="18" charset="0"/>
              </a:rPr>
              <a:t> </a:t>
            </a:r>
            <a:r>
              <a:rPr lang="en-US" spc="-5">
                <a:latin typeface="Garamond" panose="02020404030301010803" pitchFamily="18" charset="0"/>
              </a:rPr>
              <a:t>2016</a:t>
            </a:r>
            <a:endParaRPr lang="en-US" spc="-5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latin typeface="Garamond" panose="02020404030301010803" pitchFamily="18" charset="0"/>
              </a:rPr>
              <a:t> </a:t>
            </a:r>
            <a:r>
              <a:rPr lang="nn-NO" spc="-5">
                <a:latin typeface="Garamond" panose="02020404030301010803" pitchFamily="18" charset="0"/>
              </a:rPr>
              <a:t>Johnson</a:t>
            </a:r>
            <a:endParaRPr lang="nn-NO" spc="-5" dirty="0">
              <a:latin typeface="Garamond" panose="02020404030301010803" pitchFamily="18" charset="0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79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latin typeface="Garamond" panose="02020404030301010803" pitchFamily="18" charset="0"/>
              </a:rPr>
              <a:t>13 Jan</a:t>
            </a:r>
            <a:r>
              <a:rPr lang="en-US" spc="-65">
                <a:latin typeface="Garamond" panose="02020404030301010803" pitchFamily="18" charset="0"/>
              </a:rPr>
              <a:t> </a:t>
            </a:r>
            <a:r>
              <a:rPr lang="en-US" spc="-5">
                <a:latin typeface="Garamond" panose="02020404030301010803" pitchFamily="18" charset="0"/>
              </a:rPr>
              <a:t>2016</a:t>
            </a:r>
            <a:endParaRPr lang="en-US" spc="-5" dirty="0">
              <a:latin typeface="Garamond" panose="02020404030301010803" pitchFamily="18" charset="0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latin typeface="Garamond" panose="02020404030301010803" pitchFamily="18" charset="0"/>
              </a:rPr>
              <a:t> </a:t>
            </a:r>
            <a:r>
              <a:rPr lang="nn-NO" spc="-5">
                <a:latin typeface="Garamond" panose="02020404030301010803" pitchFamily="18" charset="0"/>
              </a:rPr>
              <a:t>Johnson</a:t>
            </a:r>
            <a:endParaRPr lang="nn-NO" spc="-5" dirty="0"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56169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latin typeface="Garamond" panose="02020404030301010803" pitchFamily="18" charset="0"/>
              </a:rPr>
              <a:t>13 Jan</a:t>
            </a:r>
            <a:r>
              <a:rPr lang="en-US" spc="-65">
                <a:latin typeface="Garamond" panose="02020404030301010803" pitchFamily="18" charset="0"/>
              </a:rPr>
              <a:t> </a:t>
            </a:r>
            <a:r>
              <a:rPr lang="en-US" spc="-5">
                <a:latin typeface="Garamond" panose="02020404030301010803" pitchFamily="18" charset="0"/>
              </a:rPr>
              <a:t>2016</a:t>
            </a:r>
            <a:endParaRPr lang="en-US" spc="-5" dirty="0">
              <a:latin typeface="Garamond" panose="02020404030301010803" pitchFamily="18" charset="0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latin typeface="Garamond" panose="02020404030301010803" pitchFamily="18" charset="0"/>
              </a:rPr>
              <a:t> </a:t>
            </a:r>
            <a:r>
              <a:rPr lang="nn-NO" spc="-5">
                <a:latin typeface="Garamond" panose="02020404030301010803" pitchFamily="18" charset="0"/>
              </a:rPr>
              <a:t>Johnson</a:t>
            </a:r>
            <a:endParaRPr lang="nn-NO" spc="-5" dirty="0">
              <a:latin typeface="Garamond" panose="02020404030301010803" pitchFamily="18" charset="0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278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09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9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fld id="{7C7B0B04-5B08-449E-9A80-4C83B77B7073}" type="datetimeFigureOut">
              <a:rPr lang="en-US" smtClean="0">
                <a:solidFill>
                  <a:srgbClr val="000000"/>
                </a:solidFill>
              </a:rPr>
              <a:pPr/>
              <a:t>2/3/26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fld id="{C4388728-ECF9-405A-8F50-53431964C9F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31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anose="02020404030301010803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Garamond" panose="02020404030301010803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Garamond" panose="02020404030301010803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Garamond" panose="02020404030301010803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Garamond" panose="02020404030301010803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fld id="{7C7B0B04-5B08-449E-9A80-4C83B77B7073}" type="datetimeFigureOut">
              <a:rPr lang="en-US" smtClean="0">
                <a:solidFill>
                  <a:srgbClr val="000000"/>
                </a:solidFill>
              </a:rPr>
              <a:pPr/>
              <a:t>2/3/26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fld id="{C4388728-ECF9-405A-8F50-53431964C9F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70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anose="02020404030301010803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Garamond" panose="02020404030301010803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Garamond" panose="02020404030301010803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Garamond" panose="02020404030301010803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Garamond" panose="02020404030301010803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2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anose="02020404030301010803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Garamond" panose="02020404030301010803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Garamond" panose="02020404030301010803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Garamond" panose="02020404030301010803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Garamond" panose="02020404030301010803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649" y="113444"/>
            <a:ext cx="89347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96780" y="2262723"/>
            <a:ext cx="555044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08913" y="6305350"/>
            <a:ext cx="1423034" cy="273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11 Jan</a:t>
            </a:r>
            <a:r>
              <a:rPr lang="en-US" spc="-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en-US" spc="-5">
                <a:solidFill>
                  <a:prstClr val="white"/>
                </a:solidFill>
                <a:latin typeface="Garamond" panose="02020404030301010803" pitchFamily="18" charset="0"/>
              </a:rPr>
              <a:t>2016</a:t>
            </a:r>
            <a:endParaRPr lang="en-US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5224" y="6308472"/>
            <a:ext cx="4697730" cy="247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solidFill>
                  <a:prstClr val="white"/>
                </a:solidFill>
                <a:latin typeface="Garamond" panose="02020404030301010803" pitchFamily="18" charset="0"/>
              </a:rPr>
              <a:t> </a:t>
            </a:r>
            <a:r>
              <a:rPr lang="nn-NO" spc="-5">
                <a:solidFill>
                  <a:prstClr val="white"/>
                </a:solidFill>
                <a:latin typeface="Garamond" panose="02020404030301010803" pitchFamily="18" charset="0"/>
              </a:rPr>
              <a:t>Johnson</a:t>
            </a:r>
            <a:endParaRPr lang="nn-NO" spc="-5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8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</p:sldLayoutIdLst>
  <p:txStyles>
    <p:titleStyle>
      <a:lvl1pPr>
        <a:defRPr>
          <a:latin typeface="Garamond" panose="02020404030301010803" pitchFamily="18" charset="0"/>
          <a:ea typeface="+mj-ea"/>
          <a:cs typeface="+mj-cs"/>
        </a:defRPr>
      </a:lvl1pPr>
    </p:titleStyle>
    <p:bodyStyle>
      <a:lvl1pPr marL="0">
        <a:defRPr>
          <a:latin typeface="Garamond" panose="02020404030301010803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925" y="230776"/>
            <a:ext cx="875615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5798" y="1293671"/>
            <a:ext cx="761240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08913" y="6305350"/>
            <a:ext cx="1423034" cy="273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>
                <a:latin typeface="Garamond" panose="02020404030301010803" pitchFamily="18" charset="0"/>
              </a:rPr>
              <a:t>13 Jan</a:t>
            </a:r>
            <a:r>
              <a:rPr lang="en-US" spc="-65">
                <a:latin typeface="Garamond" panose="02020404030301010803" pitchFamily="18" charset="0"/>
              </a:rPr>
              <a:t> </a:t>
            </a:r>
            <a:r>
              <a:rPr lang="en-US" spc="-5">
                <a:latin typeface="Garamond" panose="02020404030301010803" pitchFamily="18" charset="0"/>
              </a:rPr>
              <a:t>2016</a:t>
            </a:r>
            <a:endParaRPr lang="en-US" spc="-5" dirty="0"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5224" y="6308472"/>
            <a:ext cx="4697730" cy="247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>
                <a:latin typeface="Garamond" panose="02020404030301010803" pitchFamily="18" charset="0"/>
              </a:rPr>
              <a:t> </a:t>
            </a:r>
            <a:r>
              <a:rPr lang="nn-NO" spc="-5">
                <a:latin typeface="Garamond" panose="02020404030301010803" pitchFamily="18" charset="0"/>
              </a:rPr>
              <a:t>Johnson</a:t>
            </a:r>
            <a:endParaRPr lang="nn-NO" spc="-5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8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txStyles>
    <p:titleStyle>
      <a:lvl1pPr>
        <a:defRPr>
          <a:latin typeface="Garamond" panose="02020404030301010803" pitchFamily="18" charset="0"/>
          <a:ea typeface="+mj-ea"/>
          <a:cs typeface="+mj-cs"/>
        </a:defRPr>
      </a:lvl1pPr>
    </p:titleStyle>
    <p:bodyStyle>
      <a:lvl1pPr marL="0">
        <a:defRPr>
          <a:latin typeface="Garamond" panose="02020404030301010803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emf"/><Relationship Id="rId7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5.png"/><Relationship Id="rId11" Type="http://schemas.openxmlformats.org/officeDocument/2006/relationships/image" Target="../media/image20.jpg"/><Relationship Id="rId5" Type="http://schemas.openxmlformats.org/officeDocument/2006/relationships/image" Target="../media/image14.png"/><Relationship Id="rId10" Type="http://schemas.openxmlformats.org/officeDocument/2006/relationships/image" Target="../media/image19.jpg"/><Relationship Id="rId4" Type="http://schemas.openxmlformats.org/officeDocument/2006/relationships/image" Target="../media/image13.png"/><Relationship Id="rId9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Layout" Target="../slideLayouts/slideLayout47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Layout" Target="../slideLayouts/slideLayout47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Layout" Target="../slideLayouts/slideLayout47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Layout" Target="../slideLayouts/slideLayout47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Layout" Target="../slideLayouts/slideLayout47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Layout" Target="../slideLayouts/slideLayout47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Layout" Target="../slideLayouts/slideLayout47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9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6.jpg"/><Relationship Id="rId4" Type="http://schemas.openxmlformats.org/officeDocument/2006/relationships/image" Target="../media/image39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13" Type="http://schemas.openxmlformats.org/officeDocument/2006/relationships/image" Target="../media/image47.jpg"/><Relationship Id="rId3" Type="http://schemas.openxmlformats.org/officeDocument/2006/relationships/image" Target="../media/image38.jpg"/><Relationship Id="rId7" Type="http://schemas.openxmlformats.org/officeDocument/2006/relationships/image" Target="../media/image41.jpg"/><Relationship Id="rId12" Type="http://schemas.openxmlformats.org/officeDocument/2006/relationships/image" Target="../media/image4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0.jpg"/><Relationship Id="rId11" Type="http://schemas.openxmlformats.org/officeDocument/2006/relationships/image" Target="../media/image45.jpg"/><Relationship Id="rId5" Type="http://schemas.openxmlformats.org/officeDocument/2006/relationships/image" Target="../media/image36.jpg"/><Relationship Id="rId10" Type="http://schemas.openxmlformats.org/officeDocument/2006/relationships/image" Target="../media/image44.jpg"/><Relationship Id="rId4" Type="http://schemas.openxmlformats.org/officeDocument/2006/relationships/image" Target="../media/image39.jpg"/><Relationship Id="rId9" Type="http://schemas.openxmlformats.org/officeDocument/2006/relationships/image" Target="../media/image43.jpg"/><Relationship Id="rId14" Type="http://schemas.openxmlformats.org/officeDocument/2006/relationships/image" Target="../media/image48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8.jpg"/><Relationship Id="rId7" Type="http://schemas.openxmlformats.org/officeDocument/2006/relationships/image" Target="../media/image41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0.jpg"/><Relationship Id="rId5" Type="http://schemas.openxmlformats.org/officeDocument/2006/relationships/image" Target="../media/image36.jpg"/><Relationship Id="rId10" Type="http://schemas.openxmlformats.org/officeDocument/2006/relationships/image" Target="../media/image44.jpg"/><Relationship Id="rId4" Type="http://schemas.openxmlformats.org/officeDocument/2006/relationships/image" Target="../media/image39.jpg"/><Relationship Id="rId9" Type="http://schemas.openxmlformats.org/officeDocument/2006/relationships/image" Target="../media/image43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8.jpg"/><Relationship Id="rId7" Type="http://schemas.openxmlformats.org/officeDocument/2006/relationships/image" Target="../media/image41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0.jpg"/><Relationship Id="rId5" Type="http://schemas.openxmlformats.org/officeDocument/2006/relationships/image" Target="../media/image36.jpg"/><Relationship Id="rId10" Type="http://schemas.openxmlformats.org/officeDocument/2006/relationships/image" Target="../media/image44.jpg"/><Relationship Id="rId4" Type="http://schemas.openxmlformats.org/officeDocument/2006/relationships/image" Target="../media/image39.jpg"/><Relationship Id="rId9" Type="http://schemas.openxmlformats.org/officeDocument/2006/relationships/image" Target="../media/image43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8.jpg"/><Relationship Id="rId7" Type="http://schemas.openxmlformats.org/officeDocument/2006/relationships/image" Target="../media/image41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0.jpg"/><Relationship Id="rId5" Type="http://schemas.openxmlformats.org/officeDocument/2006/relationships/image" Target="../media/image36.jpg"/><Relationship Id="rId10" Type="http://schemas.openxmlformats.org/officeDocument/2006/relationships/image" Target="../media/image44.jpg"/><Relationship Id="rId4" Type="http://schemas.openxmlformats.org/officeDocument/2006/relationships/image" Target="../media/image39.jpg"/><Relationship Id="rId9" Type="http://schemas.openxmlformats.org/officeDocument/2006/relationships/image" Target="../media/image43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8.jpg"/><Relationship Id="rId7" Type="http://schemas.openxmlformats.org/officeDocument/2006/relationships/image" Target="../media/image41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0.jpg"/><Relationship Id="rId11" Type="http://schemas.openxmlformats.org/officeDocument/2006/relationships/image" Target="../media/image49.jpg"/><Relationship Id="rId5" Type="http://schemas.openxmlformats.org/officeDocument/2006/relationships/image" Target="../media/image36.jpg"/><Relationship Id="rId10" Type="http://schemas.openxmlformats.org/officeDocument/2006/relationships/image" Target="../media/image44.jpg"/><Relationship Id="rId4" Type="http://schemas.openxmlformats.org/officeDocument/2006/relationships/image" Target="../media/image39.jpg"/><Relationship Id="rId9" Type="http://schemas.openxmlformats.org/officeDocument/2006/relationships/image" Target="../media/image4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jp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9.jpg"/><Relationship Id="rId5" Type="http://schemas.openxmlformats.org/officeDocument/2006/relationships/image" Target="../media/image58.jpg"/><Relationship Id="rId4" Type="http://schemas.openxmlformats.org/officeDocument/2006/relationships/image" Target="../media/image57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70.jpg"/><Relationship Id="rId5" Type="http://schemas.openxmlformats.org/officeDocument/2006/relationships/image" Target="../media/image74.jpg"/><Relationship Id="rId4" Type="http://schemas.openxmlformats.org/officeDocument/2006/relationships/image" Target="../media/image73.jp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77.jp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3.jpg"/><Relationship Id="rId5" Type="http://schemas.openxmlformats.org/officeDocument/2006/relationships/image" Target="../media/image8.emf"/><Relationship Id="rId4" Type="http://schemas.openxmlformats.org/officeDocument/2006/relationships/image" Target="../media/image6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3.xml"/><Relationship Id="rId5" Type="http://schemas.openxmlformats.org/officeDocument/2006/relationships/image" Target="../media/image81.jpg"/><Relationship Id="rId4" Type="http://schemas.openxmlformats.org/officeDocument/2006/relationships/image" Target="../media/image80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4" Type="http://schemas.openxmlformats.org/officeDocument/2006/relationships/image" Target="../media/image81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7" Type="http://schemas.openxmlformats.org/officeDocument/2006/relationships/image" Target="../media/image84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4" Type="http://schemas.openxmlformats.org/officeDocument/2006/relationships/image" Target="../media/image81.jp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jpg"/><Relationship Id="rId7" Type="http://schemas.openxmlformats.org/officeDocument/2006/relationships/image" Target="../media/image83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82.jpg"/><Relationship Id="rId5" Type="http://schemas.openxmlformats.org/officeDocument/2006/relationships/image" Target="../media/image84.jpg"/><Relationship Id="rId4" Type="http://schemas.openxmlformats.org/officeDocument/2006/relationships/image" Target="../media/image81.jp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jpg"/><Relationship Id="rId7" Type="http://schemas.openxmlformats.org/officeDocument/2006/relationships/image" Target="../media/image83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82.jpg"/><Relationship Id="rId5" Type="http://schemas.openxmlformats.org/officeDocument/2006/relationships/image" Target="../media/image84.jpg"/><Relationship Id="rId4" Type="http://schemas.openxmlformats.org/officeDocument/2006/relationships/image" Target="../media/image81.jpg"/><Relationship Id="rId9" Type="http://schemas.openxmlformats.org/officeDocument/2006/relationships/image" Target="../media/image86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jpg"/><Relationship Id="rId7" Type="http://schemas.openxmlformats.org/officeDocument/2006/relationships/image" Target="../media/image83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82.jpg"/><Relationship Id="rId5" Type="http://schemas.openxmlformats.org/officeDocument/2006/relationships/image" Target="../media/image84.jpg"/><Relationship Id="rId4" Type="http://schemas.openxmlformats.org/officeDocument/2006/relationships/image" Target="../media/image81.jpg"/><Relationship Id="rId9" Type="http://schemas.openxmlformats.org/officeDocument/2006/relationships/image" Target="../media/image8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88.jp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Relationship Id="rId9" Type="http://schemas.openxmlformats.org/officeDocument/2006/relationships/image" Target="../media/image94.jp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Relationship Id="rId9" Type="http://schemas.openxmlformats.org/officeDocument/2006/relationships/image" Target="../media/image94.jp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Relationship Id="rId9" Type="http://schemas.openxmlformats.org/officeDocument/2006/relationships/image" Target="../media/image95.jp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Relationship Id="rId9" Type="http://schemas.openxmlformats.org/officeDocument/2006/relationships/image" Target="../media/image95.jp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Relationship Id="rId9" Type="http://schemas.openxmlformats.org/officeDocument/2006/relationships/image" Target="../media/image96.jp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Relationship Id="rId9" Type="http://schemas.openxmlformats.org/officeDocument/2006/relationships/image" Target="../media/image96.jp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Relationship Id="rId9" Type="http://schemas.openxmlformats.org/officeDocument/2006/relationships/image" Target="../media/image97.jp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11" Type="http://schemas.openxmlformats.org/officeDocument/2006/relationships/image" Target="../media/image99.jpg"/><Relationship Id="rId5" Type="http://schemas.openxmlformats.org/officeDocument/2006/relationships/image" Target="../media/image90.jpg"/><Relationship Id="rId10" Type="http://schemas.openxmlformats.org/officeDocument/2006/relationships/image" Target="../media/image97.jpg"/><Relationship Id="rId4" Type="http://schemas.openxmlformats.org/officeDocument/2006/relationships/image" Target="../media/image89.jpg"/><Relationship Id="rId9" Type="http://schemas.openxmlformats.org/officeDocument/2006/relationships/image" Target="../media/image98.jp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Relationship Id="rId9" Type="http://schemas.openxmlformats.org/officeDocument/2006/relationships/image" Target="../media/image100.jp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10" Type="http://schemas.openxmlformats.org/officeDocument/2006/relationships/image" Target="../media/image98.jpg"/><Relationship Id="rId4" Type="http://schemas.openxmlformats.org/officeDocument/2006/relationships/image" Target="../media/image89.jpg"/><Relationship Id="rId9" Type="http://schemas.openxmlformats.org/officeDocument/2006/relationships/image" Target="../media/image100.jp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A2844304-8D4E-49AC-99A9-CC54E13E85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0" y="46895"/>
            <a:ext cx="1841888" cy="594497"/>
          </a:xfrm>
          <a:prstGeom prst="rect">
            <a:avLst/>
          </a:prstGeom>
          <a:effectLst>
            <a:reflection stA="15000" endPos="65000" dist="508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E12115-B5CE-453C-967D-DFFC315D5FB5}"/>
              </a:ext>
            </a:extLst>
          </p:cNvPr>
          <p:cNvSpPr/>
          <p:nvPr/>
        </p:nvSpPr>
        <p:spPr>
          <a:xfrm>
            <a:off x="0" y="1336432"/>
            <a:ext cx="9144000" cy="1546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CSCE 5218</a:t>
            </a:r>
          </a:p>
          <a:p>
            <a:pPr algn="ctr"/>
            <a:r>
              <a:rPr lang="en-US" sz="44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Deep Learning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FFFAB-39EF-4ACC-9EF6-A3A1475FC4D4}"/>
              </a:ext>
            </a:extLst>
          </p:cNvPr>
          <p:cNvCxnSpPr>
            <a:cxnSpLocks/>
          </p:cNvCxnSpPr>
          <p:nvPr/>
        </p:nvCxnSpPr>
        <p:spPr>
          <a:xfrm>
            <a:off x="614362" y="3052641"/>
            <a:ext cx="7915275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DB69BA-A1E7-4F07-9D08-D763F6B04D39}"/>
              </a:ext>
            </a:extLst>
          </p:cNvPr>
          <p:cNvSpPr/>
          <p:nvPr/>
        </p:nvSpPr>
        <p:spPr>
          <a:xfrm>
            <a:off x="614361" y="3409042"/>
            <a:ext cx="7915275" cy="942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3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Neural Network Basics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7A988-A29A-4D86-87FC-7064D9BC0171}"/>
              </a:ext>
            </a:extLst>
          </p:cNvPr>
          <p:cNvSpPr/>
          <p:nvPr/>
        </p:nvSpPr>
        <p:spPr>
          <a:xfrm>
            <a:off x="0" y="6400803"/>
            <a:ext cx="7915275" cy="457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2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Slides adapted from Adriana </a:t>
            </a:r>
            <a:r>
              <a:rPr lang="en-US" sz="220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Kovashka</a:t>
            </a:r>
            <a:endParaRPr lang="en-US" sz="22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 for this lecture (next few classes)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Definition </a:t>
            </a:r>
          </a:p>
          <a:p>
            <a:pPr lvl="1"/>
            <a:r>
              <a:rPr lang="en-US" dirty="0"/>
              <a:t>Architecture</a:t>
            </a:r>
          </a:p>
          <a:p>
            <a:pPr lvl="1"/>
            <a:r>
              <a:rPr lang="en-US" dirty="0"/>
              <a:t>Basic operations</a:t>
            </a:r>
          </a:p>
          <a:p>
            <a:pPr lvl="1"/>
            <a:r>
              <a:rPr lang="en-US" dirty="0"/>
              <a:t>Biological inspiration</a:t>
            </a:r>
          </a:p>
          <a:p>
            <a:r>
              <a:rPr lang="en-US" dirty="0"/>
              <a:t>Goals</a:t>
            </a:r>
          </a:p>
          <a:p>
            <a:pPr lvl="1"/>
            <a:r>
              <a:rPr lang="en-US" dirty="0"/>
              <a:t>Loss functions  </a:t>
            </a:r>
          </a:p>
          <a:p>
            <a:r>
              <a:rPr lang="en-US" dirty="0"/>
              <a:t>Training</a:t>
            </a:r>
          </a:p>
          <a:p>
            <a:pPr lvl="1"/>
            <a:r>
              <a:rPr lang="en-US" dirty="0"/>
              <a:t>Gradient descent</a:t>
            </a:r>
          </a:p>
          <a:p>
            <a:pPr lvl="1"/>
            <a:r>
              <a:rPr lang="en-US" dirty="0"/>
              <a:t>Backpropagation </a:t>
            </a:r>
          </a:p>
          <a:p>
            <a:r>
              <a:rPr lang="en-US" dirty="0"/>
              <a:t>Hands-on exercise</a:t>
            </a:r>
          </a:p>
        </p:txBody>
      </p:sp>
    </p:spTree>
    <p:extLst>
      <p:ext uri="{BB962C8B-B14F-4D97-AF65-F5344CB8AC3E}">
        <p14:creationId xmlns:p14="http://schemas.microsoft.com/office/powerpoint/2010/main" val="1523539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A38-ECC2-486F-9EE0-CCAEBDAF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0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426979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8090338" cy="5257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sz="40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Raw activations: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0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Nonlinear activation function </a:t>
            </a:r>
            <a:r>
              <a:rPr lang="en-US" i="1" dirty="0"/>
              <a:t>h</a:t>
            </a:r>
            <a:r>
              <a:rPr lang="en-US" dirty="0"/>
              <a:t> (e.g. sigmoid, tanh, RELU):			</a:t>
            </a:r>
            <a:r>
              <a:rPr lang="en-US" sz="2000" dirty="0"/>
              <a:t>e.g. z = RELU(a) = max(0, a)</a:t>
            </a:r>
            <a:endParaRPr lang="en-US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0018" y="908720"/>
            <a:ext cx="7683964" cy="3615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82988" y="4437097"/>
            <a:ext cx="3147060" cy="1080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57188" y="6011875"/>
            <a:ext cx="1546860" cy="573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0" y="6604084"/>
            <a:ext cx="1827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Figure from Christopher Bishop </a:t>
            </a:r>
          </a:p>
        </p:txBody>
      </p:sp>
    </p:spTree>
    <p:extLst>
      <p:ext uri="{BB962C8B-B14F-4D97-AF65-F5344CB8AC3E}">
        <p14:creationId xmlns:p14="http://schemas.microsoft.com/office/powerpoint/2010/main" val="2829705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Layer 2</a:t>
            </a:r>
          </a:p>
          <a:p>
            <a:pPr marL="0" indent="0"/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Layer 3 (final)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Outputs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Finally: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89933" y="3933056"/>
            <a:ext cx="4830139" cy="936104"/>
            <a:chOff x="389933" y="3933056"/>
            <a:chExt cx="4830139" cy="936104"/>
          </a:xfrm>
        </p:grpSpPr>
        <p:grpSp>
          <p:nvGrpSpPr>
            <p:cNvPr id="9" name="Group 8"/>
            <p:cNvGrpSpPr/>
            <p:nvPr/>
          </p:nvGrpSpPr>
          <p:grpSpPr>
            <a:xfrm>
              <a:off x="389933" y="3933056"/>
              <a:ext cx="4542107" cy="936104"/>
              <a:chOff x="-252536" y="4690890"/>
              <a:chExt cx="4542107" cy="936104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 rotWithShape="1">
              <a:blip r:embed="rId2" cstate="print"/>
              <a:srcRect b="75306"/>
              <a:stretch/>
            </p:blipFill>
            <p:spPr>
              <a:xfrm>
                <a:off x="-252536" y="4878738"/>
                <a:ext cx="2952600" cy="432048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3" cstate="print"/>
              <a:srcRect l="23829" b="-11985"/>
              <a:stretch>
                <a:fillRect/>
              </a:stretch>
            </p:blipFill>
            <p:spPr>
              <a:xfrm>
                <a:off x="2129331" y="4690890"/>
                <a:ext cx="2160240" cy="936104"/>
              </a:xfrm>
              <a:prstGeom prst="rect">
                <a:avLst/>
              </a:prstGeom>
            </p:spPr>
          </p:pic>
        </p:grp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 cstate="print"/>
            <a:srcRect l="60876" t="1131" r="19614" b="74175"/>
            <a:stretch/>
          </p:blipFill>
          <p:spPr>
            <a:xfrm>
              <a:off x="4644008" y="4365104"/>
              <a:ext cx="576064" cy="43204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 bwMode="auto">
            <a:xfrm>
              <a:off x="4636008" y="4365104"/>
              <a:ext cx="72008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definition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/>
          <a:srcRect t="6123" b="2040"/>
          <a:stretch/>
        </p:blipFill>
        <p:spPr>
          <a:xfrm>
            <a:off x="2979150" y="1052736"/>
            <a:ext cx="3185700" cy="10801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 cstate="print"/>
          <a:srcRect r="77384"/>
          <a:stretch/>
        </p:blipFill>
        <p:spPr>
          <a:xfrm>
            <a:off x="2979150" y="2604984"/>
            <a:ext cx="720490" cy="10400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81250" y="5157192"/>
            <a:ext cx="7381501" cy="1321920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7" cstate="print"/>
          <a:srcRect l="44377" t="11947" b="1299"/>
          <a:stretch/>
        </p:blipFill>
        <p:spPr bwMode="auto">
          <a:xfrm>
            <a:off x="6400800" y="44623"/>
            <a:ext cx="2671980" cy="1961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251520" y="4170566"/>
            <a:ext cx="801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(binary)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28" y="3810526"/>
            <a:ext cx="1078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(multiclass)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156176" y="4005064"/>
            <a:ext cx="2550987" cy="886391"/>
            <a:chOff x="6156176" y="4005064"/>
            <a:chExt cx="2550987" cy="886391"/>
          </a:xfrm>
        </p:grpSpPr>
        <p:pic>
          <p:nvPicPr>
            <p:cNvPr id="172033" name="Picture 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876256" y="4005064"/>
              <a:ext cx="1830907" cy="8863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2" cstate="print"/>
            <a:srcRect l="21949" r="48785" b="75306"/>
            <a:stretch/>
          </p:blipFill>
          <p:spPr>
            <a:xfrm>
              <a:off x="6156176" y="4149080"/>
              <a:ext cx="864096" cy="432048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/>
        </p:nvSpPr>
        <p:spPr>
          <a:xfrm>
            <a:off x="251520" y="5394702"/>
            <a:ext cx="801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(binary)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E08EF3E-7AE4-494A-B114-32D6C60330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/>
          <a:srcRect l="22938"/>
          <a:stretch/>
        </p:blipFill>
        <p:spPr>
          <a:xfrm>
            <a:off x="3699640" y="2642498"/>
            <a:ext cx="2454971" cy="104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3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1024" y="1680256"/>
            <a:ext cx="1225550" cy="164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Sigmoid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tanh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6666" y="1524107"/>
            <a:ext cx="82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ReLU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6637" y="2727939"/>
            <a:ext cx="17678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Leaky</a:t>
            </a:r>
            <a:r>
              <a:rPr kumimoji="0" sz="2400" b="1" i="0" u="none" strike="noStrike" kern="1200" cap="none" spc="-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ReLU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199" y="4515361"/>
            <a:ext cx="1092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Maxout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7862" y="4109827"/>
            <a:ext cx="83262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ELU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9200" y="2142448"/>
            <a:ext cx="1650071" cy="3826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9199" y="3326280"/>
            <a:ext cx="1077552" cy="3499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64841" y="1954650"/>
            <a:ext cx="1335474" cy="3499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64841" y="3128106"/>
            <a:ext cx="1650071" cy="324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21941" y="4475365"/>
            <a:ext cx="1897671" cy="7124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8323" y="4881667"/>
            <a:ext cx="2964293" cy="3061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16797" y="1648624"/>
            <a:ext cx="1391516" cy="10629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16807" y="2906134"/>
            <a:ext cx="1391506" cy="10601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16673" y="1418631"/>
            <a:ext cx="1330038" cy="109564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16673" y="2739003"/>
            <a:ext cx="1391506" cy="10850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16673" y="4093180"/>
            <a:ext cx="1391506" cy="108228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6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19,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62900"/>
            <a:ext cx="1905000" cy="307777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Lecture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6 -</a:t>
            </a:r>
            <a:r>
              <a:rPr kumimoji="0" sz="3000" b="0" i="0" u="none" strike="noStrike" kern="1200" cap="none" spc="-27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fld id="{81D60167-4931-47E6-BA6A-407CBD079E47}" type="slidenum"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pPr marL="12700" marR="0" lvl="0" indent="0" algn="r" defTabSz="9144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3124200" y="7962900"/>
            <a:ext cx="2895600" cy="294953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19,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685800" y="7962900"/>
            <a:ext cx="1905000" cy="807913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&amp; Justin Johnson &amp;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Serena</a:t>
            </a: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Yeung</a:t>
            </a: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33B0F157-6BD2-4DA8-9474-F6792D9B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</a:rPr>
              <a:t>Activation functions</a:t>
            </a:r>
            <a:endParaRPr lang="en-US" sz="3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9188B0-16FC-4794-80D1-6E18F4831304}"/>
              </a:ext>
            </a:extLst>
          </p:cNvPr>
          <p:cNvSpPr txBox="1"/>
          <p:nvPr/>
        </p:nvSpPr>
        <p:spPr>
          <a:xfrm>
            <a:off x="0" y="6604084"/>
            <a:ext cx="32464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1546" y="1089220"/>
            <a:ext cx="4500254" cy="3131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multi-layer neural network…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685800" y="4509120"/>
            <a:ext cx="7772400" cy="16630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Is a non-linear classifier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Can approximate any continuous function to arbitrary accuracy given sufficiently many hidden units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0"/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604084"/>
            <a:ext cx="9172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Lana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Lazebnik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898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Inspiration: Neuron cells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799" y="914400"/>
            <a:ext cx="8136067" cy="252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Neurons</a:t>
            </a:r>
          </a:p>
          <a:p>
            <a:pPr lvl="1"/>
            <a:r>
              <a:rPr lang="en-US" dirty="0"/>
              <a:t>accept information from multiple inputs </a:t>
            </a:r>
          </a:p>
          <a:p>
            <a:pPr lvl="1"/>
            <a:r>
              <a:rPr lang="en-US" dirty="0"/>
              <a:t>transmit information to other neurons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Multiply inputs by weights along edges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Apply some function to the set of inputs at each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output of function over threshold, neuron “fires” (activated)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604084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Text: HKUST, figures: Andrej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pic>
        <p:nvPicPr>
          <p:cNvPr id="167938" name="Picture 2" descr="http://cs231n.github.io/assets/nn1/neuro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995" y="4107909"/>
            <a:ext cx="3970973" cy="1697355"/>
          </a:xfrm>
          <a:prstGeom prst="rect">
            <a:avLst/>
          </a:prstGeom>
          <a:noFill/>
        </p:spPr>
      </p:pic>
      <p:pic>
        <p:nvPicPr>
          <p:cNvPr id="167940" name="Picture 4" descr="http://cs231n.github.io/assets/nn1/neuron_model.jpe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3730332"/>
            <a:ext cx="4393883" cy="25069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2780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Biological analog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91" y="1766785"/>
            <a:ext cx="3963755" cy="2560320"/>
          </a:xfrm>
        </p:spPr>
      </p:pic>
      <p:sp>
        <p:nvSpPr>
          <p:cNvPr id="2" name="Rounded Rectangle 1"/>
          <p:cNvSpPr/>
          <p:nvPr/>
        </p:nvSpPr>
        <p:spPr>
          <a:xfrm>
            <a:off x="457200" y="990600"/>
            <a:ext cx="4021138" cy="5135563"/>
          </a:xfrm>
          <a:prstGeom prst="roundRect">
            <a:avLst/>
          </a:prstGeom>
          <a:noFill/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48200" y="969963"/>
            <a:ext cx="4021138" cy="5126037"/>
          </a:xfrm>
          <a:prstGeom prst="roundRect">
            <a:avLst/>
          </a:prstGeom>
          <a:noFill/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369" name="Rectangle 2"/>
          <p:cNvSpPr>
            <a:spLocks noChangeArrowheads="1"/>
          </p:cNvSpPr>
          <p:nvPr/>
        </p:nvSpPr>
        <p:spPr bwMode="auto">
          <a:xfrm>
            <a:off x="1255712" y="4791075"/>
            <a:ext cx="22204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+mn-cs"/>
              </a:rPr>
              <a:t>A biological neuron </a:t>
            </a:r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5425477" y="4791075"/>
            <a:ext cx="21310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+mn-cs"/>
              </a:rPr>
              <a:t>An artificial neuron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616495"/>
            <a:ext cx="3738682" cy="26439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9050" y="5301343"/>
            <a:ext cx="1485900" cy="15566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604084"/>
            <a:ext cx="9108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Jia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-bin Huang</a:t>
            </a:r>
          </a:p>
        </p:txBody>
      </p:sp>
    </p:spTree>
    <p:extLst>
      <p:ext uri="{BB962C8B-B14F-4D97-AF65-F5344CB8AC3E}">
        <p14:creationId xmlns:p14="http://schemas.microsoft.com/office/powerpoint/2010/main" val="178493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10273"/>
            <a:ext cx="4257300" cy="1745764"/>
          </a:xfrm>
        </p:spPr>
      </p:pic>
      <p:sp>
        <p:nvSpPr>
          <p:cNvPr id="2" name="Rounded Rectangle 1"/>
          <p:cNvSpPr/>
          <p:nvPr/>
        </p:nvSpPr>
        <p:spPr>
          <a:xfrm>
            <a:off x="76200" y="990600"/>
            <a:ext cx="4402138" cy="5135563"/>
          </a:xfrm>
          <a:prstGeom prst="roundRect">
            <a:avLst/>
          </a:prstGeom>
          <a:noFill/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48200" y="969963"/>
            <a:ext cx="4419600" cy="5126037"/>
          </a:xfrm>
          <a:prstGeom prst="roundRect">
            <a:avLst/>
          </a:prstGeom>
          <a:noFill/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369" name="Rectangle 2"/>
          <p:cNvSpPr>
            <a:spLocks noChangeArrowheads="1"/>
          </p:cNvSpPr>
          <p:nvPr/>
        </p:nvSpPr>
        <p:spPr bwMode="auto">
          <a:xfrm>
            <a:off x="386174" y="4791045"/>
            <a:ext cx="32892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+mn-cs"/>
              </a:rPr>
              <a:t>Hubel and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+mn-cs"/>
              </a:rPr>
              <a:t>Weisel’s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+mn-cs"/>
              </a:rPr>
              <a:t> architecture</a:t>
            </a:r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5405632" y="4791045"/>
            <a:ext cx="25483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+mn-cs"/>
              </a:rPr>
              <a:t>Multi-layer neural network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9050" y="5301343"/>
            <a:ext cx="1485900" cy="15566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604084"/>
            <a:ext cx="16834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Jia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-bin Huang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analog</a:t>
            </a:r>
          </a:p>
        </p:txBody>
      </p:sp>
      <p:pic>
        <p:nvPicPr>
          <p:cNvPr id="11" name="Picture 2" descr="http://neuralnetworksanddeeplearning.com/images/tikz3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6200000">
            <a:off x="4956318" y="2040086"/>
            <a:ext cx="3746573" cy="1866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8109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257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Cascade neurons together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Output from one layer is the input to the next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Each layer has its own sets of weights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2502558" y="3041601"/>
            <a:ext cx="587424" cy="587424"/>
            <a:chOff x="5401994" y="3071949"/>
            <a:chExt cx="587424" cy="587424"/>
          </a:xfrm>
        </p:grpSpPr>
        <p:sp>
          <p:nvSpPr>
            <p:cNvPr id="4" name="Oval 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5" name="Curved Connector 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2502558" y="4067097"/>
            <a:ext cx="587424" cy="587424"/>
            <a:chOff x="5401994" y="3071949"/>
            <a:chExt cx="587424" cy="587424"/>
          </a:xfrm>
        </p:grpSpPr>
        <p:sp>
          <p:nvSpPr>
            <p:cNvPr id="8" name="Oval 7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9" name="Curved Connector 8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2502558" y="5100453"/>
            <a:ext cx="587424" cy="587424"/>
            <a:chOff x="5401994" y="3071949"/>
            <a:chExt cx="587424" cy="587424"/>
          </a:xfrm>
        </p:grpSpPr>
        <p:sp>
          <p:nvSpPr>
            <p:cNvPr id="11" name="Oval 10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2" name="Curved Connector 11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5003197" y="3041601"/>
            <a:ext cx="587424" cy="587424"/>
            <a:chOff x="5401994" y="3071949"/>
            <a:chExt cx="587424" cy="587424"/>
          </a:xfrm>
        </p:grpSpPr>
        <p:sp>
          <p:nvSpPr>
            <p:cNvPr id="14" name="Oval 1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5" name="Curved Connector 1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5003197" y="4067097"/>
            <a:ext cx="587424" cy="587424"/>
            <a:chOff x="5401994" y="3071949"/>
            <a:chExt cx="587424" cy="587424"/>
          </a:xfrm>
        </p:grpSpPr>
        <p:sp>
          <p:nvSpPr>
            <p:cNvPr id="17" name="Oval 16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8" name="Curved Connector 17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5003197" y="5100453"/>
            <a:ext cx="587424" cy="587424"/>
            <a:chOff x="5401994" y="3071949"/>
            <a:chExt cx="587424" cy="587424"/>
          </a:xfrm>
        </p:grpSpPr>
        <p:sp>
          <p:nvSpPr>
            <p:cNvPr id="20" name="Oval 19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1" name="Curved Connector 20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3" name="Oval 22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4" name="Curved Connector 23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2" name="Straight Arrow Connector 31"/>
          <p:cNvCxnSpPr>
            <a:stCxn id="4" idx="6"/>
            <a:endCxn id="14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4" idx="6"/>
            <a:endCxn id="17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4" idx="6"/>
            <a:endCxn id="20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8" idx="6"/>
            <a:endCxn id="14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6"/>
            <a:endCxn id="17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8" idx="6"/>
            <a:endCxn id="20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1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1" idx="6"/>
            <a:endCxn id="17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1" idx="6"/>
            <a:endCxn id="14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26" idx="3"/>
            <a:endCxn id="4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26" idx="3"/>
            <a:endCxn id="8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6" idx="3"/>
            <a:endCxn id="11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7" idx="3"/>
            <a:endCxn id="4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27" idx="3"/>
            <a:endCxn id="8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27" idx="3"/>
            <a:endCxn id="11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28" idx="3"/>
            <a:endCxn id="4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28" idx="3"/>
            <a:endCxn id="8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29" idx="3"/>
            <a:endCxn id="11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29" idx="3"/>
            <a:endCxn id="8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28" idx="3"/>
            <a:endCxn id="11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9" idx="3"/>
            <a:endCxn id="4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endCxn id="23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17" idx="6"/>
            <a:endCxn id="23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14" idx="6"/>
            <a:endCxn id="23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23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HKUST</a:t>
            </a:r>
          </a:p>
        </p:txBody>
      </p:sp>
    </p:spTree>
    <p:extLst>
      <p:ext uri="{BB962C8B-B14F-4D97-AF65-F5344CB8AC3E}">
        <p14:creationId xmlns:p14="http://schemas.microsoft.com/office/powerpoint/2010/main" val="1956104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55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Inputs multiplied by initial set of weights</a:t>
            </a:r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502558" y="3041601"/>
            <a:ext cx="587424" cy="587424"/>
            <a:chOff x="5401994" y="3071949"/>
            <a:chExt cx="587424" cy="587424"/>
          </a:xfrm>
        </p:grpSpPr>
        <p:sp>
          <p:nvSpPr>
            <p:cNvPr id="6" name="Oval 5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7" name="Curved Connector 6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2502558" y="4067097"/>
            <a:ext cx="587424" cy="587424"/>
            <a:chOff x="5401994" y="3071949"/>
            <a:chExt cx="587424" cy="587424"/>
          </a:xfrm>
        </p:grpSpPr>
        <p:sp>
          <p:nvSpPr>
            <p:cNvPr id="9" name="Oval 8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0" name="Curved Connector 9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2502558" y="5100453"/>
            <a:ext cx="587424" cy="587424"/>
            <a:chOff x="5401994" y="3071949"/>
            <a:chExt cx="587424" cy="587424"/>
          </a:xfrm>
        </p:grpSpPr>
        <p:sp>
          <p:nvSpPr>
            <p:cNvPr id="12" name="Oval 11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3" name="Curved Connector 12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5003197" y="3041601"/>
            <a:ext cx="587424" cy="587424"/>
            <a:chOff x="5401994" y="3071949"/>
            <a:chExt cx="587424" cy="587424"/>
          </a:xfrm>
        </p:grpSpPr>
        <p:sp>
          <p:nvSpPr>
            <p:cNvPr id="15" name="Oval 14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6" name="Curved Connector 15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5003197" y="4067097"/>
            <a:ext cx="587424" cy="587424"/>
            <a:chOff x="5401994" y="3071949"/>
            <a:chExt cx="587424" cy="587424"/>
          </a:xfrm>
        </p:grpSpPr>
        <p:sp>
          <p:nvSpPr>
            <p:cNvPr id="18" name="Oval 17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9" name="Curved Connector 18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5003197" y="5100453"/>
            <a:ext cx="587424" cy="587424"/>
            <a:chOff x="5401994" y="3071949"/>
            <a:chExt cx="587424" cy="587424"/>
          </a:xfrm>
        </p:grpSpPr>
        <p:sp>
          <p:nvSpPr>
            <p:cNvPr id="21" name="Oval 20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2" name="Curved Connector 21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6"/>
            <a:endCxn id="21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6"/>
            <a:endCxn id="18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HKUST</a:t>
            </a:r>
          </a:p>
        </p:txBody>
      </p:sp>
    </p:spTree>
    <p:extLst>
      <p:ext uri="{BB962C8B-B14F-4D97-AF65-F5344CB8AC3E}">
        <p14:creationId xmlns:p14="http://schemas.microsoft.com/office/powerpoint/2010/main" val="487575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003197" y="3041601"/>
            <a:ext cx="587424" cy="587424"/>
            <a:chOff x="5401994" y="3071949"/>
            <a:chExt cx="587424" cy="587424"/>
          </a:xfrm>
        </p:grpSpPr>
        <p:sp>
          <p:nvSpPr>
            <p:cNvPr id="15" name="Oval 14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6" name="Curved Connector 15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5003197" y="4067097"/>
            <a:ext cx="587424" cy="587424"/>
            <a:chOff x="5401994" y="3071949"/>
            <a:chExt cx="587424" cy="587424"/>
          </a:xfrm>
        </p:grpSpPr>
        <p:sp>
          <p:nvSpPr>
            <p:cNvPr id="18" name="Oval 17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9" name="Curved Connector 18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5003197" y="5100453"/>
            <a:ext cx="587424" cy="587424"/>
            <a:chOff x="5401994" y="3071949"/>
            <a:chExt cx="587424" cy="587424"/>
          </a:xfrm>
        </p:grpSpPr>
        <p:sp>
          <p:nvSpPr>
            <p:cNvPr id="21" name="Oval 20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2" name="Curved Connector 21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6"/>
            <a:endCxn id="21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6"/>
            <a:endCxn id="18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Intermediate “predictions” computed at first hidden layer</a:t>
            </a:r>
          </a:p>
          <a:p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HKUST</a:t>
            </a:r>
          </a:p>
        </p:txBody>
      </p:sp>
    </p:spTree>
    <p:extLst>
      <p:ext uri="{BB962C8B-B14F-4D97-AF65-F5344CB8AC3E}">
        <p14:creationId xmlns:p14="http://schemas.microsoft.com/office/powerpoint/2010/main" val="2486244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13"/>
          <p:cNvGrpSpPr/>
          <p:nvPr/>
        </p:nvGrpSpPr>
        <p:grpSpPr>
          <a:xfrm>
            <a:off x="5003197" y="3041601"/>
            <a:ext cx="587424" cy="587424"/>
            <a:chOff x="5401994" y="3071949"/>
            <a:chExt cx="587424" cy="587424"/>
          </a:xfrm>
        </p:grpSpPr>
        <p:sp>
          <p:nvSpPr>
            <p:cNvPr id="15" name="Oval 14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6" name="Curved Connector 15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6"/>
          <p:cNvGrpSpPr/>
          <p:nvPr/>
        </p:nvGrpSpPr>
        <p:grpSpPr>
          <a:xfrm>
            <a:off x="5003197" y="4067097"/>
            <a:ext cx="587424" cy="587424"/>
            <a:chOff x="5401994" y="3071949"/>
            <a:chExt cx="587424" cy="587424"/>
          </a:xfrm>
        </p:grpSpPr>
        <p:sp>
          <p:nvSpPr>
            <p:cNvPr id="18" name="Oval 17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19" name="Curved Connector 18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9"/>
          <p:cNvGrpSpPr/>
          <p:nvPr/>
        </p:nvGrpSpPr>
        <p:grpSpPr>
          <a:xfrm>
            <a:off x="5003197" y="5100453"/>
            <a:ext cx="587424" cy="587424"/>
            <a:chOff x="5401994" y="3071949"/>
            <a:chExt cx="587424" cy="587424"/>
          </a:xfrm>
        </p:grpSpPr>
        <p:sp>
          <p:nvSpPr>
            <p:cNvPr id="21" name="Oval 20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2" name="Curved Connector 21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6"/>
            <a:endCxn id="21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6"/>
            <a:endCxn id="18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Intermediate predictions multiplied by second layer of weights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Predictions are fed forward through the network to classify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HKUST</a:t>
            </a:r>
          </a:p>
        </p:txBody>
      </p:sp>
    </p:spTree>
    <p:extLst>
      <p:ext uri="{BB962C8B-B14F-4D97-AF65-F5344CB8AC3E}">
        <p14:creationId xmlns:p14="http://schemas.microsoft.com/office/powerpoint/2010/main" val="2897410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03197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6" name="Curved Connector 15"/>
          <p:cNvCxnSpPr/>
          <p:nvPr/>
        </p:nvCxnSpPr>
        <p:spPr>
          <a:xfrm flipV="1">
            <a:off x="5092097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03197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9" name="Curved Connector 18"/>
          <p:cNvCxnSpPr/>
          <p:nvPr/>
        </p:nvCxnSpPr>
        <p:spPr>
          <a:xfrm flipV="1">
            <a:off x="5092097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03197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22" name="Curved Connector 21"/>
          <p:cNvCxnSpPr/>
          <p:nvPr/>
        </p:nvCxnSpPr>
        <p:spPr>
          <a:xfrm flipV="1">
            <a:off x="5092097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6"/>
            <a:endCxn id="21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6"/>
            <a:endCxn id="18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Compute second set of intermediate predictions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HKUST</a:t>
            </a:r>
          </a:p>
        </p:txBody>
      </p:sp>
    </p:spTree>
    <p:extLst>
      <p:ext uri="{BB962C8B-B14F-4D97-AF65-F5344CB8AC3E}">
        <p14:creationId xmlns:p14="http://schemas.microsoft.com/office/powerpoint/2010/main" val="1474581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03197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6" name="Curved Connector 15"/>
          <p:cNvCxnSpPr/>
          <p:nvPr/>
        </p:nvCxnSpPr>
        <p:spPr>
          <a:xfrm flipV="1">
            <a:off x="5092097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03197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9" name="Curved Connector 18"/>
          <p:cNvCxnSpPr/>
          <p:nvPr/>
        </p:nvCxnSpPr>
        <p:spPr>
          <a:xfrm flipV="1">
            <a:off x="5092097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03197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22" name="Curved Connector 21"/>
          <p:cNvCxnSpPr/>
          <p:nvPr/>
        </p:nvCxnSpPr>
        <p:spPr>
          <a:xfrm flipV="1">
            <a:off x="5092097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0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Multiply by final set of weights</a:t>
            </a:r>
          </a:p>
          <a:p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HKUST</a:t>
            </a:r>
          </a:p>
        </p:txBody>
      </p:sp>
    </p:spTree>
    <p:extLst>
      <p:ext uri="{BB962C8B-B14F-4D97-AF65-F5344CB8AC3E}">
        <p14:creationId xmlns:p14="http://schemas.microsoft.com/office/powerpoint/2010/main" val="371778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03197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6" name="Curved Connector 15"/>
          <p:cNvCxnSpPr/>
          <p:nvPr/>
        </p:nvCxnSpPr>
        <p:spPr>
          <a:xfrm flipV="1">
            <a:off x="5092097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03197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19" name="Curved Connector 18"/>
          <p:cNvCxnSpPr/>
          <p:nvPr/>
        </p:nvCxnSpPr>
        <p:spPr>
          <a:xfrm flipV="1">
            <a:off x="5092097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03197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22" name="Curved Connector 21"/>
          <p:cNvCxnSpPr/>
          <p:nvPr/>
        </p:nvCxnSpPr>
        <p:spPr>
          <a:xfrm flipV="1">
            <a:off x="5092097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279051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25" name="Curved Connector 24"/>
          <p:cNvCxnSpPr/>
          <p:nvPr/>
        </p:nvCxnSpPr>
        <p:spPr>
          <a:xfrm flipV="1">
            <a:off x="7367951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9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Compute output (e.g. probability of a particular class being present in the sample)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HKUST</a:t>
            </a:r>
          </a:p>
        </p:txBody>
      </p:sp>
    </p:spTree>
    <p:extLst>
      <p:ext uri="{BB962C8B-B14F-4D97-AF65-F5344CB8AC3E}">
        <p14:creationId xmlns:p14="http://schemas.microsoft.com/office/powerpoint/2010/main" val="3930766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Lots of hidden 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Depth = power (usually)</a:t>
            </a:r>
          </a:p>
        </p:txBody>
      </p:sp>
      <p:pic>
        <p:nvPicPr>
          <p:cNvPr id="368642" name="Picture 2" descr="http://neuralnetworksanddeeplearning.com/images/tikz3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0211" y="2225467"/>
            <a:ext cx="7907914" cy="3939837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6604084"/>
            <a:ext cx="36567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Figure from http://neuralnetworksanddeeplearning.com/chap5.html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941717" y="3194236"/>
            <a:ext cx="5139280" cy="2385719"/>
            <a:chOff x="1941717" y="3194236"/>
            <a:chExt cx="5139280" cy="2385719"/>
          </a:xfrm>
        </p:grpSpPr>
        <p:sp>
          <p:nvSpPr>
            <p:cNvPr id="4" name="TextBox 3"/>
            <p:cNvSpPr txBox="1"/>
            <p:nvPr/>
          </p:nvSpPr>
          <p:spPr>
            <a:xfrm rot="16200000">
              <a:off x="979691" y="4156262"/>
              <a:ext cx="2385718" cy="4616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Weights to learn!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 rot="16200000">
              <a:off x="2552076" y="4156262"/>
              <a:ext cx="2385718" cy="4616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Weights to learn!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 rot="16200000">
              <a:off x="4035721" y="4156263"/>
              <a:ext cx="2385718" cy="4616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Weights to learn!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 rot="16200000">
              <a:off x="5657306" y="4156263"/>
              <a:ext cx="2385718" cy="4616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Weights to learn!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400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A38-ECC2-486F-9EE0-CCAEBDAF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0"/>
          </a:xfrm>
        </p:spPr>
        <p:txBody>
          <a:bodyPr/>
          <a:lstStyle/>
          <a:p>
            <a:r>
              <a:rPr lang="en-US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3818362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train deep networks?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 closed-form solution for the weights</a:t>
            </a:r>
            <a:r>
              <a:rPr lang="bg-BG" dirty="0"/>
              <a:t> (</a:t>
            </a:r>
            <a:r>
              <a:rPr lang="en-US" dirty="0"/>
              <a:t>can’t set up a system </a:t>
            </a:r>
            <a:r>
              <a:rPr lang="en-US" b="1" dirty="0"/>
              <a:t>A*w = b</a:t>
            </a:r>
            <a:r>
              <a:rPr lang="en-US" dirty="0"/>
              <a:t>, solve for </a:t>
            </a:r>
            <a:r>
              <a:rPr lang="en-US" b="1" dirty="0"/>
              <a:t>w</a:t>
            </a:r>
            <a:r>
              <a:rPr lang="en-US" dirty="0"/>
              <a:t>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will iteratively find such a set of weights that allow the outputs to match the desired outputs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want to minimize a loss function (a function of the weights in the network)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For now, let’s simplify and assume there’s a single layer of weights in the network, and no activation function (i.e., output is a linear combination of the inputs) </a:t>
            </a:r>
          </a:p>
          <a:p>
            <a:pPr marL="0" indent="0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5938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B226-48A9-4501-829B-DBDCD016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optimal </a:t>
            </a:r>
            <a:r>
              <a:rPr lang="en-US" b="1" dirty="0"/>
              <a:t>w</a:t>
            </a:r>
            <a:r>
              <a:rPr lang="en-US" dirty="0"/>
              <a:t>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6EFC-AFE5-43B6-BC78-6C6562CB3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14400"/>
            <a:ext cx="7968006" cy="5257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Suppose </a:t>
            </a:r>
            <a:r>
              <a:rPr lang="en-US" b="1" dirty="0"/>
              <a:t>w </a:t>
            </a:r>
            <a:r>
              <a:rPr lang="en-US" dirty="0"/>
              <a:t>is just a scalar, w, that can only take values 1, 2, 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Suppose L(w=1) = 2, L(w=2) = 5, L(w=3) = 0.5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Find the optimal w as </a:t>
            </a:r>
            <a:r>
              <a:rPr lang="en-US" dirty="0" err="1"/>
              <a:t>argmin_w</a:t>
            </a:r>
            <a:r>
              <a:rPr lang="en-US" dirty="0"/>
              <a:t> L(w)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the optimal w?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Now suppose L^(w) = L(w) + ||w||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L^(1) = 2+1 = 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L^(2) = 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L^(3) =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Now what is the optimal w?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53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goal</a:t>
            </a:r>
          </a:p>
        </p:txBody>
      </p:sp>
      <p:sp>
        <p:nvSpPr>
          <p:cNvPr id="5" name="object 4"/>
          <p:cNvSpPr/>
          <p:nvPr/>
        </p:nvSpPr>
        <p:spPr>
          <a:xfrm>
            <a:off x="102075" y="1503004"/>
            <a:ext cx="5909913" cy="4495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6085012" y="1492824"/>
            <a:ext cx="2883535" cy="139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 dataset: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CIFAR-10  10</a:t>
            </a:r>
            <a:r>
              <a:rPr kumimoji="0" sz="18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labels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02565" marR="308610" lvl="0" indent="-1905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50,000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training images  each image is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32x32x3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10,000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test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images.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604084"/>
            <a:ext cx="10631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635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scores</a:t>
            </a:r>
          </a:p>
        </p:txBody>
      </p:sp>
      <p:sp>
        <p:nvSpPr>
          <p:cNvPr id="3" name="object 5"/>
          <p:cNvSpPr/>
          <p:nvPr/>
        </p:nvSpPr>
        <p:spPr>
          <a:xfrm>
            <a:off x="820349" y="2580771"/>
            <a:ext cx="1009647" cy="11144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6"/>
          <p:cNvSpPr txBox="1"/>
          <p:nvPr/>
        </p:nvSpPr>
        <p:spPr>
          <a:xfrm>
            <a:off x="641498" y="3839254"/>
            <a:ext cx="3004820" cy="1128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[32x32x3]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array of numbers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0...1  (3072 numbers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total)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7"/>
          <p:cNvSpPr/>
          <p:nvPr/>
        </p:nvSpPr>
        <p:spPr>
          <a:xfrm>
            <a:off x="2424071" y="3127420"/>
            <a:ext cx="3371215" cy="0"/>
          </a:xfrm>
          <a:custGeom>
            <a:avLst/>
            <a:gdLst/>
            <a:ahLst/>
            <a:cxnLst/>
            <a:rect l="l" t="t" r="r" b="b"/>
            <a:pathLst>
              <a:path w="3371215">
                <a:moveTo>
                  <a:pt x="0" y="0"/>
                </a:moveTo>
                <a:lnTo>
                  <a:pt x="3370943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8"/>
          <p:cNvSpPr/>
          <p:nvPr/>
        </p:nvSpPr>
        <p:spPr>
          <a:xfrm>
            <a:off x="5795014" y="3111687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9"/>
          <p:cNvSpPr txBox="1"/>
          <p:nvPr/>
        </p:nvSpPr>
        <p:spPr>
          <a:xfrm>
            <a:off x="3589296" y="2575060"/>
            <a:ext cx="1062355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f(</a:t>
            </a: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</a:t>
            </a:r>
          </a:p>
        </p:txBody>
      </p:sp>
      <p:sp>
        <p:nvSpPr>
          <p:cNvPr id="8" name="object 10"/>
          <p:cNvSpPr txBox="1"/>
          <p:nvPr/>
        </p:nvSpPr>
        <p:spPr>
          <a:xfrm>
            <a:off x="3006995" y="2142407"/>
            <a:ext cx="8559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image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11"/>
          <p:cNvSpPr txBox="1"/>
          <p:nvPr/>
        </p:nvSpPr>
        <p:spPr>
          <a:xfrm>
            <a:off x="4162595" y="2142407"/>
            <a:ext cx="156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parameters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2"/>
          <p:cNvSpPr txBox="1"/>
          <p:nvPr/>
        </p:nvSpPr>
        <p:spPr>
          <a:xfrm>
            <a:off x="6402366" y="2768741"/>
            <a:ext cx="2091689" cy="11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10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numbers,  indicating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class  scores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604084"/>
            <a:ext cx="10631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9"/>
          <p:cNvSpPr/>
          <p:nvPr/>
        </p:nvSpPr>
        <p:spPr>
          <a:xfrm>
            <a:off x="3006995" y="1918222"/>
            <a:ext cx="2868095" cy="6071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00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 </a:t>
            </a:r>
          </a:p>
        </p:txBody>
      </p:sp>
      <p:sp>
        <p:nvSpPr>
          <p:cNvPr id="3" name="object 5"/>
          <p:cNvSpPr/>
          <p:nvPr/>
        </p:nvSpPr>
        <p:spPr>
          <a:xfrm>
            <a:off x="820349" y="2580771"/>
            <a:ext cx="1009647" cy="11144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6"/>
          <p:cNvSpPr txBox="1"/>
          <p:nvPr/>
        </p:nvSpPr>
        <p:spPr>
          <a:xfrm>
            <a:off x="641498" y="3839254"/>
            <a:ext cx="300482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[32x32x3]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array of numbers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0...1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7"/>
          <p:cNvSpPr/>
          <p:nvPr/>
        </p:nvSpPr>
        <p:spPr>
          <a:xfrm>
            <a:off x="2424071" y="3127420"/>
            <a:ext cx="3371215" cy="0"/>
          </a:xfrm>
          <a:custGeom>
            <a:avLst/>
            <a:gdLst/>
            <a:ahLst/>
            <a:cxnLst/>
            <a:rect l="l" t="t" r="r" b="b"/>
            <a:pathLst>
              <a:path w="3371215">
                <a:moveTo>
                  <a:pt x="0" y="0"/>
                </a:moveTo>
                <a:lnTo>
                  <a:pt x="3370943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8"/>
          <p:cNvSpPr/>
          <p:nvPr/>
        </p:nvSpPr>
        <p:spPr>
          <a:xfrm>
            <a:off x="5795014" y="3111687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9"/>
          <p:cNvSpPr txBox="1"/>
          <p:nvPr/>
        </p:nvSpPr>
        <p:spPr>
          <a:xfrm>
            <a:off x="6402366" y="2768741"/>
            <a:ext cx="2091689" cy="11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10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numbers,  indicating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class  scores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10"/>
          <p:cNvSpPr/>
          <p:nvPr/>
        </p:nvSpPr>
        <p:spPr>
          <a:xfrm>
            <a:off x="3040469" y="1918223"/>
            <a:ext cx="2393295" cy="5066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11"/>
          <p:cNvSpPr/>
          <p:nvPr/>
        </p:nvSpPr>
        <p:spPr>
          <a:xfrm>
            <a:off x="5210714" y="2048198"/>
            <a:ext cx="223520" cy="310515"/>
          </a:xfrm>
          <a:custGeom>
            <a:avLst/>
            <a:gdLst/>
            <a:ahLst/>
            <a:cxnLst/>
            <a:rect l="l" t="t" r="r" b="b"/>
            <a:pathLst>
              <a:path w="223520" h="310515">
                <a:moveTo>
                  <a:pt x="0" y="0"/>
                </a:moveTo>
                <a:lnTo>
                  <a:pt x="223199" y="0"/>
                </a:lnTo>
                <a:lnTo>
                  <a:pt x="223199" y="310199"/>
                </a:lnTo>
                <a:lnTo>
                  <a:pt x="0" y="3101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2"/>
          <p:cNvSpPr txBox="1"/>
          <p:nvPr/>
        </p:nvSpPr>
        <p:spPr>
          <a:xfrm>
            <a:off x="5688916" y="1818480"/>
            <a:ext cx="1042669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3072x1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3"/>
          <p:cNvSpPr/>
          <p:nvPr/>
        </p:nvSpPr>
        <p:spPr>
          <a:xfrm>
            <a:off x="4777690" y="1964780"/>
            <a:ext cx="411480" cy="393700"/>
          </a:xfrm>
          <a:custGeom>
            <a:avLst/>
            <a:gdLst/>
            <a:ahLst/>
            <a:cxnLst/>
            <a:rect l="l" t="t" r="r" b="b"/>
            <a:pathLst>
              <a:path w="411479" h="393700">
                <a:moveTo>
                  <a:pt x="0" y="0"/>
                </a:moveTo>
                <a:lnTo>
                  <a:pt x="411299" y="0"/>
                </a:lnTo>
                <a:lnTo>
                  <a:pt x="411299" y="393599"/>
                </a:lnTo>
                <a:lnTo>
                  <a:pt x="0" y="3935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4"/>
          <p:cNvSpPr txBox="1"/>
          <p:nvPr/>
        </p:nvSpPr>
        <p:spPr>
          <a:xfrm>
            <a:off x="3113494" y="2439120"/>
            <a:ext cx="7035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10x1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5"/>
          <p:cNvSpPr/>
          <p:nvPr/>
        </p:nvSpPr>
        <p:spPr>
          <a:xfrm>
            <a:off x="2988744" y="1918222"/>
            <a:ext cx="1362075" cy="506730"/>
          </a:xfrm>
          <a:custGeom>
            <a:avLst/>
            <a:gdLst/>
            <a:ahLst/>
            <a:cxnLst/>
            <a:rect l="l" t="t" r="r" b="b"/>
            <a:pathLst>
              <a:path w="1362075" h="506730">
                <a:moveTo>
                  <a:pt x="0" y="0"/>
                </a:moveTo>
                <a:lnTo>
                  <a:pt x="1361997" y="0"/>
                </a:lnTo>
                <a:lnTo>
                  <a:pt x="1361997" y="506698"/>
                </a:lnTo>
                <a:lnTo>
                  <a:pt x="0" y="506698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6"/>
          <p:cNvSpPr txBox="1"/>
          <p:nvPr/>
        </p:nvSpPr>
        <p:spPr>
          <a:xfrm>
            <a:off x="4545918" y="2428080"/>
            <a:ext cx="121221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10x3072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5" name="object 17"/>
          <p:cNvSpPr/>
          <p:nvPr/>
        </p:nvSpPr>
        <p:spPr>
          <a:xfrm>
            <a:off x="5124089" y="2914095"/>
            <a:ext cx="370840" cy="1727200"/>
          </a:xfrm>
          <a:custGeom>
            <a:avLst/>
            <a:gdLst/>
            <a:ahLst/>
            <a:cxnLst/>
            <a:rect l="l" t="t" r="r" b="b"/>
            <a:pathLst>
              <a:path w="370839" h="1727200">
                <a:moveTo>
                  <a:pt x="0" y="0"/>
                </a:moveTo>
                <a:lnTo>
                  <a:pt x="370499" y="172672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8"/>
          <p:cNvSpPr/>
          <p:nvPr/>
        </p:nvSpPr>
        <p:spPr>
          <a:xfrm>
            <a:off x="5479215" y="4637517"/>
            <a:ext cx="31115" cy="45720"/>
          </a:xfrm>
          <a:custGeom>
            <a:avLst/>
            <a:gdLst/>
            <a:ahLst/>
            <a:cxnLst/>
            <a:rect l="l" t="t" r="r" b="b"/>
            <a:pathLst>
              <a:path w="31114" h="45720">
                <a:moveTo>
                  <a:pt x="0" y="6599"/>
                </a:moveTo>
                <a:lnTo>
                  <a:pt x="24449" y="45549"/>
                </a:lnTo>
                <a:lnTo>
                  <a:pt x="30774" y="0"/>
                </a:lnTo>
                <a:lnTo>
                  <a:pt x="0" y="6599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9"/>
          <p:cNvSpPr txBox="1"/>
          <p:nvPr/>
        </p:nvSpPr>
        <p:spPr>
          <a:xfrm>
            <a:off x="4374364" y="4686825"/>
            <a:ext cx="3326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parameters, or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“weights”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20"/>
          <p:cNvSpPr txBox="1"/>
          <p:nvPr/>
        </p:nvSpPr>
        <p:spPr>
          <a:xfrm>
            <a:off x="7127035" y="1889173"/>
            <a:ext cx="751840" cy="400751"/>
          </a:xfrm>
          <a:prstGeom prst="rect">
            <a:avLst/>
          </a:prstGeom>
          <a:ln w="28574">
            <a:solidFill>
              <a:srgbClr val="9900FF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7112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(+b)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21"/>
          <p:cNvSpPr txBox="1"/>
          <p:nvPr/>
        </p:nvSpPr>
        <p:spPr>
          <a:xfrm>
            <a:off x="7951660" y="1991741"/>
            <a:ext cx="7035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10x1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604084"/>
            <a:ext cx="10631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159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 </a:t>
            </a:r>
          </a:p>
        </p:txBody>
      </p:sp>
      <p:sp>
        <p:nvSpPr>
          <p:cNvPr id="3" name="object 4"/>
          <p:cNvSpPr/>
          <p:nvPr/>
        </p:nvSpPr>
        <p:spPr>
          <a:xfrm>
            <a:off x="163799" y="2418103"/>
            <a:ext cx="8816382" cy="32655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5"/>
          <p:cNvSpPr txBox="1">
            <a:spLocks/>
          </p:cNvSpPr>
          <p:nvPr/>
        </p:nvSpPr>
        <p:spPr bwMode="auto">
          <a:xfrm>
            <a:off x="101899" y="1524037"/>
            <a:ext cx="8886190" cy="37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Example with an image with 4 pixels, and 3 classes</a:t>
            </a:r>
            <a:r>
              <a:rPr kumimoji="0" lang="en-US" sz="2400" b="0" i="0" u="none" strike="noStrike" kern="0" cap="none" spc="10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(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cat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/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dog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/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ship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604084"/>
            <a:ext cx="10631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0380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 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3809607" y="1079607"/>
            <a:ext cx="426656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Going forward: Loss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function/Optimization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4"/>
          <p:cNvSpPr txBox="1"/>
          <p:nvPr/>
        </p:nvSpPr>
        <p:spPr>
          <a:xfrm>
            <a:off x="5749488" y="2191055"/>
            <a:ext cx="3048000" cy="1113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0" marR="5080" lvl="0" indent="-419734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80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	Define a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function 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that quantifies our  unhappiness with the 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 across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training  data.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5"/>
          <p:cNvSpPr txBox="1"/>
          <p:nvPr/>
        </p:nvSpPr>
        <p:spPr>
          <a:xfrm>
            <a:off x="5749488" y="3848402"/>
            <a:ext cx="3009900" cy="139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0" marR="5080" lvl="0" indent="-419734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80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	Come up with 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way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 efficiently finding the  parameters that minimize  the loss function. 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(optimization)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6"/>
          <p:cNvSpPr/>
          <p:nvPr/>
        </p:nvSpPr>
        <p:spPr>
          <a:xfrm>
            <a:off x="5316064" y="1576524"/>
            <a:ext cx="0" cy="3662679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692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7"/>
          <p:cNvSpPr txBox="1"/>
          <p:nvPr/>
        </p:nvSpPr>
        <p:spPr>
          <a:xfrm>
            <a:off x="5732759" y="1623480"/>
            <a:ext cx="9899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TODO: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6604084"/>
            <a:ext cx="1890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7991EFCA-8B05-4391-9E53-3E7C87E30175}"/>
              </a:ext>
            </a:extLst>
          </p:cNvPr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5">
            <a:extLst>
              <a:ext uri="{FF2B5EF4-FFF2-40B4-BE49-F238E27FC236}">
                <a16:creationId xmlns:a16="http://schemas.microsoft.com/office/drawing/2014/main" id="{B7F14832-4962-4084-9E68-659C7A78FADD}"/>
              </a:ext>
            </a:extLst>
          </p:cNvPr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A9A407AA-5025-4F68-8E18-7AEEEEE157A6}"/>
              </a:ext>
            </a:extLst>
          </p:cNvPr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74C69FF3-E6CD-4188-AC26-590BD41E0B73}"/>
              </a:ext>
            </a:extLst>
          </p:cNvPr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58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cat  car  frog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3075BCAC-F141-4CA5-BAD7-FAF294385429}"/>
              </a:ext>
            </a:extLst>
          </p:cNvPr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-1.7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1234E9E3-F08F-4CA8-82CA-0809D72622B7}"/>
              </a:ext>
            </a:extLst>
          </p:cNvPr>
          <p:cNvSpPr txBox="1"/>
          <p:nvPr/>
        </p:nvSpPr>
        <p:spPr>
          <a:xfrm>
            <a:off x="3172539" y="3318856"/>
            <a:ext cx="554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1.3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4.9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2.0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8223A60D-CEE5-4DE5-A690-4A8DA20878C3}"/>
              </a:ext>
            </a:extLst>
          </p:cNvPr>
          <p:cNvSpPr txBox="1"/>
          <p:nvPr/>
        </p:nvSpPr>
        <p:spPr>
          <a:xfrm>
            <a:off x="4391736" y="3318856"/>
            <a:ext cx="7073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3534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 </a:t>
            </a:r>
          </a:p>
        </p:txBody>
      </p:sp>
      <p:sp>
        <p:nvSpPr>
          <p:cNvPr id="3" name="object 4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345848" y="1055935"/>
            <a:ext cx="4178300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Suppose: 3 training examples, 3 classes.  With some W the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are: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58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cat  car  frog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-1.7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1"/>
          <p:cNvSpPr txBox="1"/>
          <p:nvPr/>
        </p:nvSpPr>
        <p:spPr>
          <a:xfrm>
            <a:off x="3172539" y="3318856"/>
            <a:ext cx="554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1.3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4.9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2.0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4391736" y="3318856"/>
            <a:ext cx="7073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604084"/>
            <a:ext cx="1890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387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345848" y="1055935"/>
            <a:ext cx="4178300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Suppose: 3 training examples, 3 classes.  With some W the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are: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58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cat  car  frog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-1.7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1"/>
          <p:cNvSpPr txBox="1"/>
          <p:nvPr/>
        </p:nvSpPr>
        <p:spPr>
          <a:xfrm>
            <a:off x="3172539" y="3318856"/>
            <a:ext cx="554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1.3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4.9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2.0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4391736" y="3318856"/>
            <a:ext cx="7073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5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Hinge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0480" marR="0" lvl="0" indent="0" algn="l" defTabSz="914400" rtl="0" eaLnBrk="1" fontAlgn="auto" latinLnBrk="0" hangingPunct="1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Given an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5" name="object 16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where  where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7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image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(integer)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label,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8"/>
          <p:cNvSpPr txBox="1"/>
          <p:nvPr/>
        </p:nvSpPr>
        <p:spPr>
          <a:xfrm>
            <a:off x="5994438" y="2424371"/>
            <a:ext cx="2485390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using the shorthand for the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r>
              <a:rPr kumimoji="0" sz="1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vector: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9"/>
          <p:cNvSpPr txBox="1"/>
          <p:nvPr/>
        </p:nvSpPr>
        <p:spPr>
          <a:xfrm>
            <a:off x="5994439" y="3252408"/>
            <a:ext cx="215836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lang="en-US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has the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form: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4"/>
          <p:cNvSpPr/>
          <p:nvPr/>
        </p:nvSpPr>
        <p:spPr>
          <a:xfrm>
            <a:off x="5748014" y="3603820"/>
            <a:ext cx="3316043" cy="355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5738488" y="3594294"/>
            <a:ext cx="3335654" cy="374650"/>
          </a:xfrm>
          <a:custGeom>
            <a:avLst/>
            <a:gdLst/>
            <a:ahLst/>
            <a:cxnLst/>
            <a:rect l="l" t="t" r="r" b="b"/>
            <a:pathLst>
              <a:path w="3335654" h="374650">
                <a:moveTo>
                  <a:pt x="0" y="0"/>
                </a:moveTo>
                <a:lnTo>
                  <a:pt x="3335093" y="0"/>
                </a:lnTo>
                <a:lnTo>
                  <a:pt x="3335093" y="374549"/>
                </a:lnTo>
                <a:lnTo>
                  <a:pt x="0" y="3745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0" y="6604084"/>
            <a:ext cx="1890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29094" y="4185623"/>
            <a:ext cx="327134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Want: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y</a:t>
            </a:r>
            <a:r>
              <a:rPr kumimoji="0" lang="en-US" sz="2000" b="0" i="0" u="none" strike="noStrike" kern="1200" cap="none" spc="0" normalizeH="0" baseline="-4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&gt;=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j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+ 1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i.e.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j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y</a:t>
            </a:r>
            <a:r>
              <a:rPr kumimoji="0" lang="en-US" sz="2000" b="0" i="0" u="none" strike="noStrike" kern="1200" cap="none" spc="0" normalizeH="0" baseline="-4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+ 1 &lt;=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If true, loss is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If false, loss is magnitude of violation</a:t>
            </a:r>
          </a:p>
        </p:txBody>
      </p:sp>
      <p:grpSp>
        <p:nvGrpSpPr>
          <p:cNvPr id="27" name="object 12">
            <a:extLst>
              <a:ext uri="{FF2B5EF4-FFF2-40B4-BE49-F238E27FC236}">
                <a16:creationId xmlns:a16="http://schemas.microsoft.com/office/drawing/2014/main" id="{104CCF66-709A-447D-8E3D-C424A283A3E5}"/>
              </a:ext>
            </a:extLst>
          </p:cNvPr>
          <p:cNvGrpSpPr/>
          <p:nvPr/>
        </p:nvGrpSpPr>
        <p:grpSpPr>
          <a:xfrm>
            <a:off x="2330532" y="5048263"/>
            <a:ext cx="1999264" cy="1582292"/>
            <a:chOff x="5752015" y="932173"/>
            <a:chExt cx="1999264" cy="1582292"/>
          </a:xfrm>
        </p:grpSpPr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E88D1B14-2F3C-4C37-B8F6-5990497F1F5B}"/>
                </a:ext>
              </a:extLst>
            </p:cNvPr>
            <p:cNvSpPr/>
            <p:nvPr/>
          </p:nvSpPr>
          <p:spPr>
            <a:xfrm>
              <a:off x="6547011" y="1143122"/>
              <a:ext cx="240049" cy="28364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15">
              <a:extLst>
                <a:ext uri="{FF2B5EF4-FFF2-40B4-BE49-F238E27FC236}">
                  <a16:creationId xmlns:a16="http://schemas.microsoft.com/office/drawing/2014/main" id="{A4AAEA19-E3BD-4A84-ABBC-D73F21181583}"/>
                </a:ext>
              </a:extLst>
            </p:cNvPr>
            <p:cNvSpPr/>
            <p:nvPr/>
          </p:nvSpPr>
          <p:spPr>
            <a:xfrm>
              <a:off x="6583386" y="932173"/>
              <a:ext cx="240049" cy="30679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17">
              <a:extLst>
                <a:ext uri="{FF2B5EF4-FFF2-40B4-BE49-F238E27FC236}">
                  <a16:creationId xmlns:a16="http://schemas.microsoft.com/office/drawing/2014/main" id="{82CB1D64-8C42-4B30-9CFC-3AFDCA75794F}"/>
                </a:ext>
              </a:extLst>
            </p:cNvPr>
            <p:cNvSpPr/>
            <p:nvPr/>
          </p:nvSpPr>
          <p:spPr>
            <a:xfrm>
              <a:off x="5752015" y="981575"/>
              <a:ext cx="1999264" cy="1532890"/>
            </a:xfrm>
            <a:custGeom>
              <a:avLst/>
              <a:gdLst/>
              <a:ahLst/>
              <a:cxnLst/>
              <a:rect l="l" t="t" r="r" b="b"/>
              <a:pathLst>
                <a:path w="3441065" h="2128520">
                  <a:moveTo>
                    <a:pt x="3440993" y="2128488"/>
                  </a:moveTo>
                  <a:lnTo>
                    <a:pt x="0" y="2128488"/>
                  </a:lnTo>
                  <a:lnTo>
                    <a:pt x="0" y="0"/>
                  </a:lnTo>
                  <a:lnTo>
                    <a:pt x="3440993" y="0"/>
                  </a:lnTo>
                  <a:lnTo>
                    <a:pt x="3440993" y="2128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18">
              <a:extLst>
                <a:ext uri="{FF2B5EF4-FFF2-40B4-BE49-F238E27FC236}">
                  <a16:creationId xmlns:a16="http://schemas.microsoft.com/office/drawing/2014/main" id="{0BCB2BC1-48F5-41F7-BAE6-6CA7A1C88EAA}"/>
                </a:ext>
              </a:extLst>
            </p:cNvPr>
            <p:cNvSpPr/>
            <p:nvPr/>
          </p:nvSpPr>
          <p:spPr>
            <a:xfrm>
              <a:off x="5941138" y="1995840"/>
              <a:ext cx="1175385" cy="0"/>
            </a:xfrm>
            <a:custGeom>
              <a:avLst/>
              <a:gdLst/>
              <a:ahLst/>
              <a:cxnLst/>
              <a:rect l="l" t="t" r="r" b="b"/>
              <a:pathLst>
                <a:path w="1175384">
                  <a:moveTo>
                    <a:pt x="0" y="0"/>
                  </a:moveTo>
                  <a:lnTo>
                    <a:pt x="1174897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19">
              <a:extLst>
                <a:ext uri="{FF2B5EF4-FFF2-40B4-BE49-F238E27FC236}">
                  <a16:creationId xmlns:a16="http://schemas.microsoft.com/office/drawing/2014/main" id="{778B0170-C257-44C8-BA16-E39988D4D036}"/>
                </a:ext>
              </a:extLst>
            </p:cNvPr>
            <p:cNvSpPr/>
            <p:nvPr/>
          </p:nvSpPr>
          <p:spPr>
            <a:xfrm>
              <a:off x="6550411" y="1173700"/>
              <a:ext cx="227965" cy="894080"/>
            </a:xfrm>
            <a:custGeom>
              <a:avLst/>
              <a:gdLst/>
              <a:ahLst/>
              <a:cxnLst/>
              <a:rect l="l" t="t" r="r" b="b"/>
              <a:pathLst>
                <a:path w="227965" h="894080">
                  <a:moveTo>
                    <a:pt x="227724" y="893150"/>
                  </a:moveTo>
                  <a:lnTo>
                    <a:pt x="227724" y="0"/>
                  </a:lnTo>
                </a:path>
                <a:path w="227965" h="894080">
                  <a:moveTo>
                    <a:pt x="0" y="893513"/>
                  </a:moveTo>
                  <a:lnTo>
                    <a:pt x="0" y="750768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20">
              <a:extLst>
                <a:ext uri="{FF2B5EF4-FFF2-40B4-BE49-F238E27FC236}">
                  <a16:creationId xmlns:a16="http://schemas.microsoft.com/office/drawing/2014/main" id="{0B35F2E3-9614-43A2-8443-B65AC85420A5}"/>
                </a:ext>
              </a:extLst>
            </p:cNvPr>
            <p:cNvSpPr/>
            <p:nvPr/>
          </p:nvSpPr>
          <p:spPr>
            <a:xfrm>
              <a:off x="6451337" y="2103780"/>
              <a:ext cx="249149" cy="27181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21">
              <a:extLst>
                <a:ext uri="{FF2B5EF4-FFF2-40B4-BE49-F238E27FC236}">
                  <a16:creationId xmlns:a16="http://schemas.microsoft.com/office/drawing/2014/main" id="{BF8B55AF-2DFC-420E-B2BC-CDA54FE4376F}"/>
                </a:ext>
              </a:extLst>
            </p:cNvPr>
            <p:cNvSpPr/>
            <p:nvPr/>
          </p:nvSpPr>
          <p:spPr>
            <a:xfrm>
              <a:off x="5791413" y="1724021"/>
              <a:ext cx="330049" cy="2718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22">
              <a:extLst>
                <a:ext uri="{FF2B5EF4-FFF2-40B4-BE49-F238E27FC236}">
                  <a16:creationId xmlns:a16="http://schemas.microsoft.com/office/drawing/2014/main" id="{07725B8A-BF3F-4912-B4CA-B4D7BBDA37D1}"/>
                </a:ext>
              </a:extLst>
            </p:cNvPr>
            <p:cNvSpPr/>
            <p:nvPr/>
          </p:nvSpPr>
          <p:spPr>
            <a:xfrm>
              <a:off x="6351112" y="1230917"/>
              <a:ext cx="1301115" cy="767715"/>
            </a:xfrm>
            <a:custGeom>
              <a:avLst/>
              <a:gdLst/>
              <a:ahLst/>
              <a:cxnLst/>
              <a:rect l="l" t="t" r="r" b="b"/>
              <a:pathLst>
                <a:path w="1301115" h="767714">
                  <a:moveTo>
                    <a:pt x="764923" y="767615"/>
                  </a:moveTo>
                  <a:lnTo>
                    <a:pt x="1300497" y="767615"/>
                  </a:lnTo>
                </a:path>
                <a:path w="1301115" h="767714">
                  <a:moveTo>
                    <a:pt x="0" y="0"/>
                  </a:moveTo>
                  <a:lnTo>
                    <a:pt x="764898" y="764905"/>
                  </a:lnTo>
                </a:path>
              </a:pathLst>
            </a:custGeom>
            <a:ln w="761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23">
              <a:extLst>
                <a:ext uri="{FF2B5EF4-FFF2-40B4-BE49-F238E27FC236}">
                  <a16:creationId xmlns:a16="http://schemas.microsoft.com/office/drawing/2014/main" id="{3ECAF2DA-6F80-4450-BD69-CCC6E02C33C5}"/>
                </a:ext>
              </a:extLst>
            </p:cNvPr>
            <p:cNvSpPr/>
            <p:nvPr/>
          </p:nvSpPr>
          <p:spPr>
            <a:xfrm>
              <a:off x="6575036" y="2032770"/>
              <a:ext cx="504190" cy="160020"/>
            </a:xfrm>
            <a:custGeom>
              <a:avLst/>
              <a:gdLst/>
              <a:ahLst/>
              <a:cxnLst/>
              <a:rect l="l" t="t" r="r" b="b"/>
              <a:pathLst>
                <a:path w="504190" h="160019">
                  <a:moveTo>
                    <a:pt x="504073" y="0"/>
                  </a:moveTo>
                  <a:lnTo>
                    <a:pt x="502284" y="15674"/>
                  </a:lnTo>
                  <a:lnTo>
                    <a:pt x="497048" y="30603"/>
                  </a:lnTo>
                  <a:lnTo>
                    <a:pt x="462982" y="66534"/>
                  </a:lnTo>
                  <a:lnTo>
                    <a:pt x="411774" y="79972"/>
                  </a:lnTo>
                  <a:lnTo>
                    <a:pt x="344324" y="79972"/>
                  </a:lnTo>
                  <a:lnTo>
                    <a:pt x="308401" y="86256"/>
                  </a:lnTo>
                  <a:lnTo>
                    <a:pt x="279071" y="103394"/>
                  </a:lnTo>
                  <a:lnTo>
                    <a:pt x="259299" y="128813"/>
                  </a:lnTo>
                  <a:lnTo>
                    <a:pt x="252049" y="159942"/>
                  </a:lnTo>
                  <a:lnTo>
                    <a:pt x="244795" y="128813"/>
                  </a:lnTo>
                  <a:lnTo>
                    <a:pt x="225015" y="103394"/>
                  </a:lnTo>
                  <a:lnTo>
                    <a:pt x="195676" y="86256"/>
                  </a:lnTo>
                  <a:lnTo>
                    <a:pt x="159749" y="79972"/>
                  </a:lnTo>
                  <a:lnTo>
                    <a:pt x="92299" y="79972"/>
                  </a:lnTo>
                  <a:lnTo>
                    <a:pt x="56372" y="73687"/>
                  </a:lnTo>
                  <a:lnTo>
                    <a:pt x="27034" y="56548"/>
                  </a:lnTo>
                  <a:lnTo>
                    <a:pt x="7253" y="31128"/>
                  </a:lnTo>
                  <a:lnTo>
                    <a:pt x="0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24">
              <a:extLst>
                <a:ext uri="{FF2B5EF4-FFF2-40B4-BE49-F238E27FC236}">
                  <a16:creationId xmlns:a16="http://schemas.microsoft.com/office/drawing/2014/main" id="{FB1C5098-47D9-40DA-815B-CD2D12AE01B3}"/>
                </a:ext>
              </a:extLst>
            </p:cNvPr>
            <p:cNvSpPr/>
            <p:nvPr/>
          </p:nvSpPr>
          <p:spPr>
            <a:xfrm>
              <a:off x="6727636" y="2229650"/>
              <a:ext cx="198874" cy="27181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7AE61AB2-60DC-4831-B4F9-B21293E90E62}"/>
              </a:ext>
            </a:extLst>
          </p:cNvPr>
          <p:cNvSpPr/>
          <p:nvPr/>
        </p:nvSpPr>
        <p:spPr bwMode="auto">
          <a:xfrm>
            <a:off x="1459590" y="3233393"/>
            <a:ext cx="1140220" cy="2150093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86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11"/>
          <p:cNvGraphicFramePr>
            <a:graphicFrameLocks noGrp="1"/>
          </p:cNvGraphicFramePr>
          <p:nvPr/>
        </p:nvGraphicFramePr>
        <p:xfrm>
          <a:off x="98375" y="3248295"/>
          <a:ext cx="5393988" cy="2130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7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0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3196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spc="-5" dirty="0">
                          <a:latin typeface="Garamond" panose="02020404030301010803" pitchFamily="18" charset="0"/>
                          <a:cs typeface="Arial"/>
                        </a:rPr>
                        <a:t>cat</a:t>
                      </a:r>
                      <a:endParaRPr sz="24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112395" marR="712470">
                        <a:lnSpc>
                          <a:spcPct val="157900"/>
                        </a:lnSpc>
                        <a:spcBef>
                          <a:spcPts val="15"/>
                        </a:spcBef>
                      </a:pPr>
                      <a:r>
                        <a:rPr sz="2400" spc="-5" dirty="0">
                          <a:latin typeface="Garamond" panose="02020404030301010803" pitchFamily="18" charset="0"/>
                          <a:cs typeface="Arial"/>
                        </a:rPr>
                        <a:t>car  </a:t>
                      </a:r>
                      <a:r>
                        <a:rPr sz="2400" dirty="0">
                          <a:latin typeface="Garamond" panose="02020404030301010803" pitchFamily="18" charset="0"/>
                          <a:cs typeface="Arial"/>
                        </a:rPr>
                        <a:t>frog</a:t>
                      </a:r>
                      <a:endParaRPr sz="24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3.2</a:t>
                      </a:r>
                      <a:endParaRPr sz="3000" dirty="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R="7493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5.1</a:t>
                      </a:r>
                      <a:endParaRPr sz="3000" dirty="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R="10160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-1.7</a:t>
                      </a:r>
                      <a:endParaRPr sz="3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1925320" algn="l"/>
                        </a:tabLst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1.3	2.2</a:t>
                      </a:r>
                      <a:endParaRPr sz="3000" dirty="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553720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1925320" algn="l"/>
                        </a:tabLst>
                      </a:pP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4.9	</a:t>
                      </a: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2.5</a:t>
                      </a:r>
                      <a:endParaRPr sz="3000" dirty="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553720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1772920" algn="l"/>
                        </a:tabLst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2.0	</a:t>
                      </a: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-3.1</a:t>
                      </a:r>
                      <a:endParaRPr sz="3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5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cs typeface="Arial"/>
                        </a:rPr>
                        <a:t>Losses:</a:t>
                      </a:r>
                      <a:endParaRPr sz="24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ts val="3260"/>
                        </a:lnSpc>
                      </a:pPr>
                      <a:r>
                        <a:rPr sz="3000" spc="-5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cs typeface="Arial"/>
                        </a:rPr>
                        <a:t>2.9</a:t>
                      </a:r>
                      <a:endParaRPr sz="3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 txBox="1">
            <a:spLocks/>
          </p:cNvSpPr>
          <p:nvPr/>
        </p:nvSpPr>
        <p:spPr bwMode="auto">
          <a:xfrm>
            <a:off x="345848" y="1055935"/>
            <a:ext cx="4178300" cy="56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 marR="5080" lvl="0" indent="0" algn="l" defTabSz="914400" rtl="0" eaLnBrk="0" fontAlgn="base" latinLnBrk="0" hangingPunct="0">
              <a:lnSpc>
                <a:spcPct val="100699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Suppose: 3 training examples, 3 classes.  With some W the</a:t>
            </a:r>
            <a:r>
              <a:rPr kumimoji="0" lang="en-US" sz="1800" b="0" i="0" u="none" strike="noStrike" kern="0" cap="none" spc="-5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scores</a:t>
            </a:r>
          </a:p>
        </p:txBody>
      </p:sp>
      <p:sp>
        <p:nvSpPr>
          <p:cNvPr id="4" name="object 5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are: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Hinge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0480" marR="0" lvl="0" indent="0" algn="l" defTabSz="914400" rtl="0" eaLnBrk="1" fontAlgn="auto" latinLnBrk="0" hangingPunct="1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Given an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where  where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image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(integer)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label,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5994438" y="2424370"/>
            <a:ext cx="2485390" cy="1082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using the shorthand for the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r>
              <a:rPr kumimoji="0" sz="1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vector: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loss has the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form: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5885310" y="4033098"/>
            <a:ext cx="2868930" cy="139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max(0, 5.1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3.2 +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02565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+max(0, -1.7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3.2 +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max(0, 2.9) + max(0, -3.9)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2.9 +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2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8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5748014" y="3603820"/>
            <a:ext cx="3316043" cy="355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5738488" y="3594294"/>
            <a:ext cx="3335654" cy="374650"/>
          </a:xfrm>
          <a:custGeom>
            <a:avLst/>
            <a:gdLst/>
            <a:ahLst/>
            <a:cxnLst/>
            <a:rect l="l" t="t" r="r" b="b"/>
            <a:pathLst>
              <a:path w="3335654" h="374650">
                <a:moveTo>
                  <a:pt x="0" y="0"/>
                </a:moveTo>
                <a:lnTo>
                  <a:pt x="3335093" y="0"/>
                </a:lnTo>
                <a:lnTo>
                  <a:pt x="3335093" y="374549"/>
                </a:lnTo>
                <a:lnTo>
                  <a:pt x="0" y="3745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0" y="6604084"/>
            <a:ext cx="1890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3F2124-E39F-4C3D-84E4-D717C214089D}"/>
              </a:ext>
            </a:extLst>
          </p:cNvPr>
          <p:cNvSpPr/>
          <p:nvPr/>
        </p:nvSpPr>
        <p:spPr bwMode="auto">
          <a:xfrm>
            <a:off x="2835905" y="3233393"/>
            <a:ext cx="1140220" cy="2150093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1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 txBox="1">
            <a:spLocks/>
          </p:cNvSpPr>
          <p:nvPr/>
        </p:nvSpPr>
        <p:spPr bwMode="auto">
          <a:xfrm>
            <a:off x="345848" y="1055935"/>
            <a:ext cx="4178300" cy="56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 marR="5080" lvl="0" indent="0" algn="l" defTabSz="914400" rtl="0" eaLnBrk="0" fontAlgn="base" latinLnBrk="0" hangingPunct="0">
              <a:lnSpc>
                <a:spcPct val="100699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Suppose: 3 training examples, 3 classes.  With some W the</a:t>
            </a:r>
            <a:r>
              <a:rPr kumimoji="0" lang="en-US" sz="1800" b="0" i="0" u="none" strike="noStrike" kern="0" cap="none" spc="-5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scores</a:t>
            </a:r>
          </a:p>
        </p:txBody>
      </p:sp>
      <p:sp>
        <p:nvSpPr>
          <p:cNvPr id="4" name="object 5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are: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Hinge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0480" marR="0" lvl="0" indent="0" algn="l" defTabSz="914400" rtl="0" eaLnBrk="1" fontAlgn="auto" latinLnBrk="0" hangingPunct="1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Given an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where  where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image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(integer)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label,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5994438" y="2424370"/>
            <a:ext cx="2485390" cy="1082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using the shorthand for the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r>
              <a:rPr kumimoji="0" sz="1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vector: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loss has the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form: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5885310" y="4033098"/>
            <a:ext cx="2945130" cy="139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max(0, 1.3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4.9 +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02565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+max(0, 2.0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4.9 +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max(0, -2.6) + max(0,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-1.9)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0 +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aphicFrame>
        <p:nvGraphicFramePr>
          <p:cNvPr id="10" name="object 11"/>
          <p:cNvGraphicFramePr>
            <a:graphicFrameLocks noGrp="1"/>
          </p:cNvGraphicFramePr>
          <p:nvPr/>
        </p:nvGraphicFramePr>
        <p:xfrm>
          <a:off x="98375" y="3248295"/>
          <a:ext cx="5393987" cy="2130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3196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2167890" algn="r"/>
                        </a:tabLst>
                      </a:pPr>
                      <a:r>
                        <a:rPr sz="3600" spc="-7" baseline="8101" dirty="0">
                          <a:latin typeface="Garamond" panose="02020404030301010803" pitchFamily="18" charset="0"/>
                          <a:cs typeface="Arial"/>
                        </a:rPr>
                        <a:t>cat</a:t>
                      </a:r>
                      <a:r>
                        <a:rPr sz="3000" spc="-5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3.2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2167890" algn="r"/>
                        </a:tabLst>
                      </a:pPr>
                      <a:r>
                        <a:rPr sz="2400" spc="-5" dirty="0">
                          <a:latin typeface="Garamond" panose="02020404030301010803" pitchFamily="18" charset="0"/>
                          <a:cs typeface="Arial"/>
                        </a:rPr>
                        <a:t>car</a:t>
                      </a:r>
                      <a:r>
                        <a:rPr sz="3000" spc="-5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5.1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590"/>
                        </a:spcBef>
                        <a:tabLst>
                          <a:tab pos="1562735" algn="l"/>
                        </a:tabLst>
                      </a:pPr>
                      <a:r>
                        <a:rPr sz="3600" spc="-7" baseline="-8101" dirty="0">
                          <a:latin typeface="Garamond" panose="02020404030301010803" pitchFamily="18" charset="0"/>
                          <a:cs typeface="Arial"/>
                        </a:rPr>
                        <a:t>frog	</a:t>
                      </a: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-1.7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1.3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3384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4.9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3384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2.0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2.2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553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2.5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4013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-3.1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99">
                <a:tc>
                  <a:txBody>
                    <a:bodyPr/>
                    <a:lstStyle/>
                    <a:p>
                      <a:pPr marL="85090">
                        <a:lnSpc>
                          <a:spcPts val="3340"/>
                        </a:lnSpc>
                        <a:tabLst>
                          <a:tab pos="1692910" algn="l"/>
                        </a:tabLst>
                      </a:pPr>
                      <a:r>
                        <a:rPr sz="2400" spc="-5" dirty="0">
                          <a:latin typeface="Garamond" panose="02020404030301010803" pitchFamily="18" charset="0"/>
                          <a:cs typeface="Arial"/>
                        </a:rPr>
                        <a:t>Losses:	</a:t>
                      </a:r>
                      <a:r>
                        <a:rPr sz="4500" spc="-7" baseline="1851" dirty="0">
                          <a:latin typeface="Garamond" panose="02020404030301010803" pitchFamily="18" charset="0"/>
                          <a:cs typeface="Arial"/>
                        </a:rPr>
                        <a:t>2.9</a:t>
                      </a:r>
                      <a:endParaRPr sz="4500" baseline="1851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3260"/>
                        </a:lnSpc>
                      </a:pPr>
                      <a:r>
                        <a:rPr sz="300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cs typeface="Arial"/>
                        </a:rPr>
                        <a:t>0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2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8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5748014" y="3603820"/>
            <a:ext cx="3316043" cy="355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5738488" y="3594294"/>
            <a:ext cx="3335654" cy="374650"/>
          </a:xfrm>
          <a:custGeom>
            <a:avLst/>
            <a:gdLst/>
            <a:ahLst/>
            <a:cxnLst/>
            <a:rect l="l" t="t" r="r" b="b"/>
            <a:pathLst>
              <a:path w="3335654" h="374650">
                <a:moveTo>
                  <a:pt x="0" y="0"/>
                </a:moveTo>
                <a:lnTo>
                  <a:pt x="3335093" y="0"/>
                </a:lnTo>
                <a:lnTo>
                  <a:pt x="3335093" y="374549"/>
                </a:lnTo>
                <a:lnTo>
                  <a:pt x="0" y="3745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0" y="6604084"/>
            <a:ext cx="1890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626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 txBox="1">
            <a:spLocks/>
          </p:cNvSpPr>
          <p:nvPr/>
        </p:nvSpPr>
        <p:spPr bwMode="auto">
          <a:xfrm>
            <a:off x="345848" y="1055935"/>
            <a:ext cx="4178300" cy="56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 marR="5080" lvl="0" indent="0" algn="l" defTabSz="914400" rtl="0" eaLnBrk="0" fontAlgn="base" latinLnBrk="0" hangingPunct="0">
              <a:lnSpc>
                <a:spcPct val="100699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Suppose: 3 training examples, 3 classes.  With some W the</a:t>
            </a:r>
            <a:r>
              <a:rPr kumimoji="0" lang="en-US" sz="1800" b="0" i="0" u="none" strike="noStrike" kern="0" cap="none" spc="-5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scores</a:t>
            </a:r>
          </a:p>
        </p:txBody>
      </p:sp>
      <p:sp>
        <p:nvSpPr>
          <p:cNvPr id="4" name="object 5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are: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Hinge</a:t>
            </a:r>
            <a:r>
              <a:rPr kumimoji="0" sz="18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0480" marR="0" lvl="0" indent="0" algn="l" defTabSz="914400" rtl="0" eaLnBrk="1" fontAlgn="auto" latinLnBrk="0" hangingPunct="1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Given an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where  where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image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(integer)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label,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5994438" y="2424370"/>
            <a:ext cx="2485390" cy="1082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using the shorthand for the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r>
              <a:rPr kumimoji="0" sz="1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vector: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loss has the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form: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5885310" y="4033098"/>
            <a:ext cx="2792730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max(0, 2.2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(-3.1) +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6830" marR="0" lvl="0" indent="0" algn="ctr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+max(0, 2.5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(-3.1) +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max(0, 5.3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+ 1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endParaRPr kumimoji="0" lang="en-US" sz="1800" b="0" i="0" u="none" strike="noStrike" kern="1200" cap="none" spc="-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 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 max(0,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5.6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+ 1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6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.3 +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6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aphicFrame>
        <p:nvGraphicFramePr>
          <p:cNvPr id="10" name="object 11"/>
          <p:cNvGraphicFramePr>
            <a:graphicFrameLocks noGrp="1"/>
          </p:cNvGraphicFramePr>
          <p:nvPr/>
        </p:nvGraphicFramePr>
        <p:xfrm>
          <a:off x="98375" y="3248295"/>
          <a:ext cx="5393987" cy="2130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9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73196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spc="-5" dirty="0">
                          <a:latin typeface="Garamond" panose="02020404030301010803" pitchFamily="18" charset="0"/>
                          <a:cs typeface="Arial"/>
                        </a:rPr>
                        <a:t>cat</a:t>
                      </a:r>
                      <a:endParaRPr sz="2400" dirty="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112395" marR="704215">
                        <a:lnSpc>
                          <a:spcPct val="157900"/>
                        </a:lnSpc>
                        <a:spcBef>
                          <a:spcPts val="15"/>
                        </a:spcBef>
                      </a:pPr>
                      <a:r>
                        <a:rPr sz="2400" spc="-5" dirty="0">
                          <a:latin typeface="Garamond" panose="02020404030301010803" pitchFamily="18" charset="0"/>
                          <a:cs typeface="Arial"/>
                        </a:rPr>
                        <a:t>car  </a:t>
                      </a:r>
                      <a:r>
                        <a:rPr sz="2400" dirty="0">
                          <a:latin typeface="Garamond" panose="02020404030301010803" pitchFamily="18" charset="0"/>
                          <a:cs typeface="Arial"/>
                        </a:rPr>
                        <a:t>frog</a:t>
                      </a:r>
                    </a:p>
                  </a:txBody>
                  <a:tcPr marL="0" marR="0" marT="0" marB="0"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859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3.2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R="18859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5.1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R="21399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-1.7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1.3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431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4.9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431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2.0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2.2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4146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2.5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-3.1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5" dirty="0">
                          <a:latin typeface="Garamond" panose="02020404030301010803" pitchFamily="18" charset="0"/>
                          <a:cs typeface="Arial"/>
                        </a:rPr>
                        <a:t>Losses:</a:t>
                      </a:r>
                      <a:endParaRPr sz="24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ts val="3260"/>
                        </a:lnSpc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2.9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3260"/>
                        </a:lnSpc>
                      </a:pPr>
                      <a:r>
                        <a:rPr sz="3000" dirty="0">
                          <a:latin typeface="Garamond" panose="02020404030301010803" pitchFamily="18" charset="0"/>
                          <a:cs typeface="Arial"/>
                        </a:rPr>
                        <a:t>0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ts val="3260"/>
                        </a:lnSpc>
                      </a:pPr>
                      <a:r>
                        <a:rPr sz="3000" spc="-5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cs typeface="Arial"/>
                        </a:rPr>
                        <a:t>1</a:t>
                      </a:r>
                      <a:r>
                        <a:rPr lang="en-US" sz="3000" spc="-5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cs typeface="Arial"/>
                        </a:rPr>
                        <a:t>2</a:t>
                      </a:r>
                      <a:r>
                        <a:rPr sz="3000" spc="-5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cs typeface="Arial"/>
                        </a:rPr>
                        <a:t>.9</a:t>
                      </a:r>
                      <a:endParaRPr sz="3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2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8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5748014" y="3603820"/>
            <a:ext cx="3316043" cy="355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5738488" y="3594294"/>
            <a:ext cx="3335654" cy="374650"/>
          </a:xfrm>
          <a:custGeom>
            <a:avLst/>
            <a:gdLst/>
            <a:ahLst/>
            <a:cxnLst/>
            <a:rect l="l" t="t" r="r" b="b"/>
            <a:pathLst>
              <a:path w="3335654" h="374650">
                <a:moveTo>
                  <a:pt x="0" y="0"/>
                </a:moveTo>
                <a:lnTo>
                  <a:pt x="3335093" y="0"/>
                </a:lnTo>
                <a:lnTo>
                  <a:pt x="3335093" y="374549"/>
                </a:lnTo>
                <a:lnTo>
                  <a:pt x="0" y="3745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-1" y="6604084"/>
            <a:ext cx="20029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01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/>
          <p:nvPr/>
        </p:nvSpPr>
        <p:spPr>
          <a:xfrm>
            <a:off x="98375" y="4931016"/>
            <a:ext cx="5394325" cy="0"/>
          </a:xfrm>
          <a:custGeom>
            <a:avLst/>
            <a:gdLst/>
            <a:ahLst/>
            <a:cxnLst/>
            <a:rect l="l" t="t" r="r" b="b"/>
            <a:pathLst>
              <a:path w="5394325">
                <a:moveTo>
                  <a:pt x="0" y="0"/>
                </a:moveTo>
                <a:lnTo>
                  <a:pt x="5393989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58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cat  car  frog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-1.7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3172539" y="3318856"/>
            <a:ext cx="554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1.3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4.9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2.0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1"/>
          <p:cNvSpPr txBox="1"/>
          <p:nvPr/>
        </p:nvSpPr>
        <p:spPr>
          <a:xfrm>
            <a:off x="4391736" y="3318856"/>
            <a:ext cx="7073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2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4"/>
          <p:cNvSpPr txBox="1"/>
          <p:nvPr/>
        </p:nvSpPr>
        <p:spPr>
          <a:xfrm>
            <a:off x="345848" y="1055935"/>
            <a:ext cx="4178300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Suppose: 3 training examples, 3 classes.  With some W the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5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are: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5" name="object 16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Hinge</a:t>
            </a:r>
            <a:r>
              <a:rPr kumimoji="0" sz="18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0480" marR="0" lvl="0" indent="0" algn="l" defTabSz="914400" rtl="0" eaLnBrk="1" fontAlgn="auto" latinLnBrk="0" hangingPunct="1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Given an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7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where  where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8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image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(integer)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label,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9"/>
          <p:cNvSpPr txBox="1"/>
          <p:nvPr/>
        </p:nvSpPr>
        <p:spPr>
          <a:xfrm>
            <a:off x="5994438" y="2424371"/>
            <a:ext cx="2485390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using the shorthand for the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r>
              <a:rPr kumimoji="0" sz="1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vector: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20"/>
          <p:cNvSpPr txBox="1"/>
          <p:nvPr/>
        </p:nvSpPr>
        <p:spPr>
          <a:xfrm>
            <a:off x="5994439" y="3042858"/>
            <a:ext cx="215836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loss has the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form: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1"/>
          <p:cNvSpPr txBox="1"/>
          <p:nvPr/>
        </p:nvSpPr>
        <p:spPr>
          <a:xfrm>
            <a:off x="5994439" y="3681668"/>
            <a:ext cx="296862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the full training loss is the mean  over all examples in the training</a:t>
            </a:r>
            <a:r>
              <a:rPr kumimoji="0" sz="14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data: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4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6"/>
          <p:cNvSpPr/>
          <p:nvPr/>
        </p:nvSpPr>
        <p:spPr>
          <a:xfrm>
            <a:off x="5970413" y="3299072"/>
            <a:ext cx="2861794" cy="3067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7"/>
          <p:cNvSpPr txBox="1"/>
          <p:nvPr/>
        </p:nvSpPr>
        <p:spPr>
          <a:xfrm>
            <a:off x="5823666" y="4722512"/>
            <a:ext cx="263969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 = (2.9 + 0 +</a:t>
            </a:r>
            <a:r>
              <a:rPr kumimoji="0" sz="22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</a:t>
            </a:r>
            <a:r>
              <a:rPr kumimoji="0" lang="en-US" sz="22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.9)/3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8"/>
          <p:cNvSpPr/>
          <p:nvPr/>
        </p:nvSpPr>
        <p:spPr>
          <a:xfrm>
            <a:off x="6695411" y="4225169"/>
            <a:ext cx="1580096" cy="39359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9"/>
          <p:cNvSpPr txBox="1"/>
          <p:nvPr/>
        </p:nvSpPr>
        <p:spPr>
          <a:xfrm>
            <a:off x="1778691" y="4951877"/>
            <a:ext cx="55499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31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30"/>
          <p:cNvSpPr txBox="1"/>
          <p:nvPr/>
        </p:nvSpPr>
        <p:spPr>
          <a:xfrm>
            <a:off x="3302688" y="4951877"/>
            <a:ext cx="23749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31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1"/>
          <p:cNvSpPr txBox="1"/>
          <p:nvPr/>
        </p:nvSpPr>
        <p:spPr>
          <a:xfrm>
            <a:off x="4382317" y="4951868"/>
            <a:ext cx="76644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31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</a:t>
            </a:r>
            <a:r>
              <a:rPr kumimoji="0" lang="en-US" sz="30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.9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2"/>
          <p:cNvSpPr txBox="1"/>
          <p:nvPr/>
        </p:nvSpPr>
        <p:spPr>
          <a:xfrm>
            <a:off x="171399" y="5024311"/>
            <a:ext cx="10756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5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Losses: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3"/>
          <p:cNvSpPr txBox="1"/>
          <p:nvPr/>
        </p:nvSpPr>
        <p:spPr>
          <a:xfrm>
            <a:off x="5399117" y="5096185"/>
            <a:ext cx="2876389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9290" marR="0" lvl="0" indent="0" algn="l" defTabSz="914400" rtl="0" eaLnBrk="1" fontAlgn="auto" latinLnBrk="0" hangingPunct="1">
              <a:lnSpc>
                <a:spcPts val="23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r>
              <a:rPr kumimoji="0" sz="2200" b="0" i="0" u="none" strike="noStrike" kern="1200" cap="none" spc="-8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lang="en-US" sz="2200" b="0" i="0" u="none" strike="noStrike" kern="1200" cap="none" spc="-8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15.8 / 3 = </a:t>
            </a:r>
            <a:r>
              <a:rPr kumimoji="0" lang="en-US" sz="22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5.3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3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12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-1" y="6604084"/>
            <a:ext cx="25452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193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/>
          <p:nvPr/>
        </p:nvSpPr>
        <p:spPr>
          <a:xfrm>
            <a:off x="425486" y="2217922"/>
            <a:ext cx="7201172" cy="5090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425475" y="1636336"/>
            <a:ext cx="1952933" cy="4134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604084"/>
            <a:ext cx="20313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Slide from Fei-Fei, Johnson, Yeung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6C78E94C-2065-4E8C-9EAB-D2E608983775}"/>
              </a:ext>
            </a:extLst>
          </p:cNvPr>
          <p:cNvSpPr txBox="1"/>
          <p:nvPr/>
        </p:nvSpPr>
        <p:spPr>
          <a:xfrm>
            <a:off x="374974" y="3363146"/>
            <a:ext cx="8189595" cy="23365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E.g. Suppose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that we found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W such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that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 =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  Is this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unique?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No! 2W is also has 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 =</a:t>
            </a:r>
            <a:r>
              <a:rPr kumimoji="0" sz="30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0!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How do we choose between 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 </a:t>
            </a: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</a:t>
            </a:r>
            <a:r>
              <a:rPr kumimoji="0" sz="30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2W?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150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07B7-14DD-47F0-BCA5-15424E48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Regularization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4D742545-FA7C-46C2-9F00-1001C0CD6841}"/>
              </a:ext>
            </a:extLst>
          </p:cNvPr>
          <p:cNvGrpSpPr/>
          <p:nvPr/>
        </p:nvGrpSpPr>
        <p:grpSpPr>
          <a:xfrm>
            <a:off x="468463" y="1557109"/>
            <a:ext cx="5270500" cy="1327785"/>
            <a:chOff x="468463" y="829521"/>
            <a:chExt cx="5270500" cy="132778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BB3524E-37FC-4534-9A3D-B6CC6A10E052}"/>
                </a:ext>
              </a:extLst>
            </p:cNvPr>
            <p:cNvSpPr/>
            <p:nvPr/>
          </p:nvSpPr>
          <p:spPr>
            <a:xfrm>
              <a:off x="468463" y="829521"/>
              <a:ext cx="5270260" cy="9649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5A6871B-437F-43D1-BCB8-5F02A1DFA5C4}"/>
                </a:ext>
              </a:extLst>
            </p:cNvPr>
            <p:cNvSpPr/>
            <p:nvPr/>
          </p:nvSpPr>
          <p:spPr>
            <a:xfrm>
              <a:off x="1581696" y="1713821"/>
              <a:ext cx="4147185" cy="434340"/>
            </a:xfrm>
            <a:custGeom>
              <a:avLst/>
              <a:gdLst/>
              <a:ahLst/>
              <a:cxnLst/>
              <a:rect l="l" t="t" r="r" b="b"/>
              <a:pathLst>
                <a:path w="4147185" h="434339">
                  <a:moveTo>
                    <a:pt x="2870094" y="0"/>
                  </a:moveTo>
                  <a:lnTo>
                    <a:pt x="2865569" y="48804"/>
                  </a:lnTo>
                  <a:lnTo>
                    <a:pt x="2852681" y="93606"/>
                  </a:lnTo>
                  <a:lnTo>
                    <a:pt x="2832457" y="133127"/>
                  </a:lnTo>
                  <a:lnTo>
                    <a:pt x="2805926" y="166089"/>
                  </a:lnTo>
                  <a:lnTo>
                    <a:pt x="2774115" y="191215"/>
                  </a:lnTo>
                  <a:lnTo>
                    <a:pt x="2738054" y="207228"/>
                  </a:lnTo>
                  <a:lnTo>
                    <a:pt x="2698769" y="212849"/>
                  </a:lnTo>
                  <a:lnTo>
                    <a:pt x="1205847" y="212849"/>
                  </a:lnTo>
                  <a:lnTo>
                    <a:pt x="1166562" y="218471"/>
                  </a:lnTo>
                  <a:lnTo>
                    <a:pt x="1130501" y="234483"/>
                  </a:lnTo>
                  <a:lnTo>
                    <a:pt x="1098690" y="259609"/>
                  </a:lnTo>
                  <a:lnTo>
                    <a:pt x="1072159" y="292572"/>
                  </a:lnTo>
                  <a:lnTo>
                    <a:pt x="1051935" y="332092"/>
                  </a:lnTo>
                  <a:lnTo>
                    <a:pt x="1039047" y="376894"/>
                  </a:lnTo>
                  <a:lnTo>
                    <a:pt x="1034522" y="425699"/>
                  </a:lnTo>
                  <a:lnTo>
                    <a:pt x="1029998" y="376894"/>
                  </a:lnTo>
                  <a:lnTo>
                    <a:pt x="1017110" y="332092"/>
                  </a:lnTo>
                  <a:lnTo>
                    <a:pt x="996886" y="292572"/>
                  </a:lnTo>
                  <a:lnTo>
                    <a:pt x="970356" y="259609"/>
                  </a:lnTo>
                  <a:lnTo>
                    <a:pt x="938546" y="234483"/>
                  </a:lnTo>
                  <a:lnTo>
                    <a:pt x="902486" y="218471"/>
                  </a:lnTo>
                  <a:lnTo>
                    <a:pt x="863203" y="212849"/>
                  </a:lnTo>
                  <a:lnTo>
                    <a:pt x="171322" y="212849"/>
                  </a:lnTo>
                  <a:lnTo>
                    <a:pt x="132039" y="207228"/>
                  </a:lnTo>
                  <a:lnTo>
                    <a:pt x="95978" y="191215"/>
                  </a:lnTo>
                  <a:lnTo>
                    <a:pt x="64168" y="166089"/>
                  </a:lnTo>
                  <a:lnTo>
                    <a:pt x="37637" y="133127"/>
                  </a:lnTo>
                  <a:lnTo>
                    <a:pt x="17413" y="93606"/>
                  </a:lnTo>
                  <a:lnTo>
                    <a:pt x="4524" y="48804"/>
                  </a:lnTo>
                  <a:lnTo>
                    <a:pt x="0" y="0"/>
                  </a:lnTo>
                </a:path>
                <a:path w="4147185" h="434339">
                  <a:moveTo>
                    <a:pt x="4146766" y="8249"/>
                  </a:moveTo>
                  <a:lnTo>
                    <a:pt x="4142242" y="57054"/>
                  </a:lnTo>
                  <a:lnTo>
                    <a:pt x="4129353" y="101856"/>
                  </a:lnTo>
                  <a:lnTo>
                    <a:pt x="4109130" y="141377"/>
                  </a:lnTo>
                  <a:lnTo>
                    <a:pt x="4082598" y="174339"/>
                  </a:lnTo>
                  <a:lnTo>
                    <a:pt x="4050788" y="199465"/>
                  </a:lnTo>
                  <a:lnTo>
                    <a:pt x="4014726" y="215478"/>
                  </a:lnTo>
                  <a:lnTo>
                    <a:pt x="3975441" y="221099"/>
                  </a:lnTo>
                  <a:lnTo>
                    <a:pt x="3865817" y="221099"/>
                  </a:lnTo>
                  <a:lnTo>
                    <a:pt x="3826532" y="226721"/>
                  </a:lnTo>
                  <a:lnTo>
                    <a:pt x="3790470" y="242733"/>
                  </a:lnTo>
                  <a:lnTo>
                    <a:pt x="3758660" y="267859"/>
                  </a:lnTo>
                  <a:lnTo>
                    <a:pt x="3732129" y="300822"/>
                  </a:lnTo>
                  <a:lnTo>
                    <a:pt x="3711905" y="340342"/>
                  </a:lnTo>
                  <a:lnTo>
                    <a:pt x="3699017" y="385144"/>
                  </a:lnTo>
                  <a:lnTo>
                    <a:pt x="3694492" y="433949"/>
                  </a:lnTo>
                  <a:lnTo>
                    <a:pt x="3689968" y="385144"/>
                  </a:lnTo>
                  <a:lnTo>
                    <a:pt x="3677079" y="340342"/>
                  </a:lnTo>
                  <a:lnTo>
                    <a:pt x="3656855" y="300822"/>
                  </a:lnTo>
                  <a:lnTo>
                    <a:pt x="3630324" y="267859"/>
                  </a:lnTo>
                  <a:lnTo>
                    <a:pt x="3598514" y="242733"/>
                  </a:lnTo>
                  <a:lnTo>
                    <a:pt x="3562452" y="226721"/>
                  </a:lnTo>
                  <a:lnTo>
                    <a:pt x="3523167" y="221099"/>
                  </a:lnTo>
                  <a:lnTo>
                    <a:pt x="3414493" y="221099"/>
                  </a:lnTo>
                  <a:lnTo>
                    <a:pt x="3375208" y="215478"/>
                  </a:lnTo>
                  <a:lnTo>
                    <a:pt x="3339146" y="199465"/>
                  </a:lnTo>
                  <a:lnTo>
                    <a:pt x="3307336" y="174339"/>
                  </a:lnTo>
                  <a:lnTo>
                    <a:pt x="3280805" y="141377"/>
                  </a:lnTo>
                  <a:lnTo>
                    <a:pt x="3260581" y="101856"/>
                  </a:lnTo>
                  <a:lnTo>
                    <a:pt x="3247693" y="57054"/>
                  </a:lnTo>
                  <a:lnTo>
                    <a:pt x="3243168" y="82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9033BA3A-AA14-4C2C-B573-62F9503F4288}"/>
              </a:ext>
            </a:extLst>
          </p:cNvPr>
          <p:cNvSpPr txBox="1"/>
          <p:nvPr/>
        </p:nvSpPr>
        <p:spPr>
          <a:xfrm>
            <a:off x="1055126" y="2930988"/>
            <a:ext cx="295910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Data loss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Model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predictions 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should match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training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data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C28C6A08-9223-4892-98BF-886F12096E32}"/>
              </a:ext>
            </a:extLst>
          </p:cNvPr>
          <p:cNvSpPr txBox="1"/>
          <p:nvPr/>
        </p:nvSpPr>
        <p:spPr>
          <a:xfrm>
            <a:off x="4454316" y="2983643"/>
            <a:ext cx="3579495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Regularization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 Prevent the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model 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from doing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too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well on training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data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25806C0-C2C3-4B8F-818C-3AAFC32C9099}"/>
              </a:ext>
            </a:extLst>
          </p:cNvPr>
          <p:cNvSpPr txBox="1"/>
          <p:nvPr/>
        </p:nvSpPr>
        <p:spPr>
          <a:xfrm>
            <a:off x="5587217" y="1015793"/>
            <a:ext cx="2483485" cy="56528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regularization</a:t>
            </a: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strength  (hyperparameter)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7897D08B-BD14-4A11-9D76-12909C9EAE5A}"/>
              </a:ext>
            </a:extLst>
          </p:cNvPr>
          <p:cNvSpPr/>
          <p:nvPr/>
        </p:nvSpPr>
        <p:spPr>
          <a:xfrm>
            <a:off x="5326895" y="980637"/>
            <a:ext cx="238230" cy="336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C3C014F2-F0AF-4E3A-B146-54CA088FA026}"/>
              </a:ext>
            </a:extLst>
          </p:cNvPr>
          <p:cNvSpPr txBox="1"/>
          <p:nvPr/>
        </p:nvSpPr>
        <p:spPr>
          <a:xfrm>
            <a:off x="122799" y="3885135"/>
            <a:ext cx="212407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0825" lvl="0" indent="0" algn="l" defTabSz="914400" rtl="0" eaLnBrk="1" fontAlgn="auto" latinLnBrk="0" hangingPunct="1">
              <a:lnSpc>
                <a:spcPct val="1145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Simple</a:t>
            </a:r>
            <a:r>
              <a:rPr kumimoji="0" sz="1800" b="1" i="0" u="none" strike="noStrike" kern="1200" cap="none" spc="-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examples  </a:t>
            </a:r>
            <a:r>
              <a:rPr kumimoji="0" sz="1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L2 </a:t>
            </a:r>
            <a:r>
              <a:rPr kumimoji="0" sz="1800" b="0" i="0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regularization: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L1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regularization: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Elastic net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(L1 +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L2):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3965EB80-5090-4886-B4D4-8DD43108F019}"/>
              </a:ext>
            </a:extLst>
          </p:cNvPr>
          <p:cNvGrpSpPr/>
          <p:nvPr/>
        </p:nvGrpSpPr>
        <p:grpSpPr>
          <a:xfrm>
            <a:off x="1981721" y="4230631"/>
            <a:ext cx="2967990" cy="977900"/>
            <a:chOff x="1981721" y="3503043"/>
            <a:chExt cx="2967990" cy="977900"/>
          </a:xfrm>
        </p:grpSpPr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4990160E-E0E0-44D4-9D23-F668CC181332}"/>
                </a:ext>
              </a:extLst>
            </p:cNvPr>
            <p:cNvSpPr/>
            <p:nvPr/>
          </p:nvSpPr>
          <p:spPr>
            <a:xfrm>
              <a:off x="1981721" y="3503043"/>
              <a:ext cx="2121870" cy="6703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067D9DE1-4111-4F57-80FE-5724568C8D53}"/>
                </a:ext>
              </a:extLst>
            </p:cNvPr>
            <p:cNvSpPr/>
            <p:nvPr/>
          </p:nvSpPr>
          <p:spPr>
            <a:xfrm>
              <a:off x="2299095" y="4173391"/>
              <a:ext cx="2650094" cy="3072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F1D07EA6-1347-4F00-B5FF-B06857D61DFD}"/>
              </a:ext>
            </a:extLst>
          </p:cNvPr>
          <p:cNvSpPr txBox="1"/>
          <p:nvPr/>
        </p:nvSpPr>
        <p:spPr>
          <a:xfrm>
            <a:off x="5080240" y="3885135"/>
            <a:ext cx="3992879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More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complex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Dropout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Batch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normalization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Stochastic depth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/ pooling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etc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9297DB3D-D408-473E-A12A-9411F375B8BB}"/>
              </a:ext>
            </a:extLst>
          </p:cNvPr>
          <p:cNvSpPr txBox="1"/>
          <p:nvPr/>
        </p:nvSpPr>
        <p:spPr>
          <a:xfrm>
            <a:off x="1568570" y="5454836"/>
            <a:ext cx="523113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Why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regularize?</a:t>
            </a:r>
          </a:p>
          <a:p>
            <a:pPr marL="4699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469265" algn="l"/>
                <a:tab pos="46990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Express preferences over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weights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4699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469265" algn="l"/>
                <a:tab pos="46990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Make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model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simple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it works on test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data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3B23F-A06A-43D2-8CA7-404AA5420A01}"/>
              </a:ext>
            </a:extLst>
          </p:cNvPr>
          <p:cNvSpPr txBox="1"/>
          <p:nvPr/>
        </p:nvSpPr>
        <p:spPr>
          <a:xfrm>
            <a:off x="0" y="6604084"/>
            <a:ext cx="22268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Fei-Fei, Johnson, Yeung</a:t>
            </a:r>
          </a:p>
        </p:txBody>
      </p:sp>
    </p:spTree>
    <p:extLst>
      <p:ext uri="{BB962C8B-B14F-4D97-AF65-F5344CB8AC3E}">
        <p14:creationId xmlns:p14="http://schemas.microsoft.com/office/powerpoint/2010/main" val="175115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/>
      <p:bldP spid="15" grpId="0"/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BF0D-C971-47F7-9822-339AA691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DEA7A-B92B-4551-B2B9-8265858A3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Expressing preferences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9718EA9-A267-423A-8121-25A6C73D2C13}"/>
              </a:ext>
            </a:extLst>
          </p:cNvPr>
          <p:cNvSpPr/>
          <p:nvPr/>
        </p:nvSpPr>
        <p:spPr>
          <a:xfrm>
            <a:off x="5247564" y="2066949"/>
            <a:ext cx="3301975" cy="5726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DF936A6-BE7E-4E38-87D5-EE2268D459BB}"/>
              </a:ext>
            </a:extLst>
          </p:cNvPr>
          <p:cNvSpPr/>
          <p:nvPr/>
        </p:nvSpPr>
        <p:spPr>
          <a:xfrm>
            <a:off x="631373" y="1891587"/>
            <a:ext cx="2430795" cy="4980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98D1920-9FD3-4937-904C-90B006EA035C}"/>
              </a:ext>
            </a:extLst>
          </p:cNvPr>
          <p:cNvSpPr/>
          <p:nvPr/>
        </p:nvSpPr>
        <p:spPr>
          <a:xfrm>
            <a:off x="411074" y="2542933"/>
            <a:ext cx="2564069" cy="425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EFE9CCA-32EC-45DF-9E87-2559998AAD6A}"/>
              </a:ext>
            </a:extLst>
          </p:cNvPr>
          <p:cNvSpPr/>
          <p:nvPr/>
        </p:nvSpPr>
        <p:spPr>
          <a:xfrm>
            <a:off x="491848" y="3197960"/>
            <a:ext cx="4518290" cy="563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FC9EFC7-BF14-41C7-B761-44A73B26D772}"/>
              </a:ext>
            </a:extLst>
          </p:cNvPr>
          <p:cNvSpPr/>
          <p:nvPr/>
        </p:nvSpPr>
        <p:spPr>
          <a:xfrm>
            <a:off x="1418022" y="3236685"/>
            <a:ext cx="3630929" cy="572770"/>
          </a:xfrm>
          <a:custGeom>
            <a:avLst/>
            <a:gdLst/>
            <a:ahLst/>
            <a:cxnLst/>
            <a:rect l="l" t="t" r="r" b="b"/>
            <a:pathLst>
              <a:path w="3630929" h="572769">
                <a:moveTo>
                  <a:pt x="0" y="0"/>
                </a:moveTo>
                <a:lnTo>
                  <a:pt x="3630592" y="0"/>
                </a:lnTo>
                <a:lnTo>
                  <a:pt x="3630592" y="572698"/>
                </a:lnTo>
                <a:lnTo>
                  <a:pt x="0" y="572698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7A3DCF81-4C23-434D-A016-29330A979806}"/>
              </a:ext>
            </a:extLst>
          </p:cNvPr>
          <p:cNvSpPr/>
          <p:nvPr/>
        </p:nvSpPr>
        <p:spPr>
          <a:xfrm>
            <a:off x="1418022" y="4259708"/>
            <a:ext cx="3174193" cy="64559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3716A1FB-0E26-440D-AAF0-3318AD244D6A}"/>
              </a:ext>
            </a:extLst>
          </p:cNvPr>
          <p:cNvSpPr txBox="1"/>
          <p:nvPr/>
        </p:nvSpPr>
        <p:spPr>
          <a:xfrm>
            <a:off x="5282113" y="1705431"/>
            <a:ext cx="180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L2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Regularization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AFDCE93F-4120-47DD-9061-44F3A12F81BB}"/>
              </a:ext>
            </a:extLst>
          </p:cNvPr>
          <p:cNvSpPr txBox="1"/>
          <p:nvPr/>
        </p:nvSpPr>
        <p:spPr>
          <a:xfrm>
            <a:off x="5601199" y="3253093"/>
            <a:ext cx="248920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L2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regularization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likes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“spread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out” the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weights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70AAF2-C1D1-4156-9E5B-B825F692B857}"/>
              </a:ext>
            </a:extLst>
          </p:cNvPr>
          <p:cNvSpPr txBox="1"/>
          <p:nvPr/>
        </p:nvSpPr>
        <p:spPr>
          <a:xfrm>
            <a:off x="0" y="6604084"/>
            <a:ext cx="20313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Slide from Fei-Fei, Johnson, Yeung</a:t>
            </a:r>
          </a:p>
        </p:txBody>
      </p:sp>
    </p:spTree>
    <p:extLst>
      <p:ext uri="{BB962C8B-B14F-4D97-AF65-F5344CB8AC3E}">
        <p14:creationId xmlns:p14="http://schemas.microsoft.com/office/powerpoint/2010/main" val="55641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6CD9-CBB4-4E3D-BDC2-C296E36D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52854-4447-4BAB-883E-7BCD1AC5B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Preferring simple models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F871B9F-AB19-4B83-B29D-BD853466F1DF}"/>
              </a:ext>
            </a:extLst>
          </p:cNvPr>
          <p:cNvSpPr/>
          <p:nvPr/>
        </p:nvSpPr>
        <p:spPr>
          <a:xfrm>
            <a:off x="2246672" y="2403491"/>
            <a:ext cx="4512310" cy="1900555"/>
          </a:xfrm>
          <a:custGeom>
            <a:avLst/>
            <a:gdLst/>
            <a:ahLst/>
            <a:cxnLst/>
            <a:rect l="l" t="t" r="r" b="b"/>
            <a:pathLst>
              <a:path w="4512309" h="1900554">
                <a:moveTo>
                  <a:pt x="0" y="1900493"/>
                </a:moveTo>
                <a:lnTo>
                  <a:pt x="4511688" y="0"/>
                </a:lnTo>
              </a:path>
            </a:pathLst>
          </a:custGeom>
          <a:ln w="7619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9E2FB3AC-4F0D-4944-AA24-4F62C0577919}"/>
              </a:ext>
            </a:extLst>
          </p:cNvPr>
          <p:cNvSpPr/>
          <p:nvPr/>
        </p:nvSpPr>
        <p:spPr>
          <a:xfrm>
            <a:off x="2606594" y="2179442"/>
            <a:ext cx="4232275" cy="2680970"/>
          </a:xfrm>
          <a:custGeom>
            <a:avLst/>
            <a:gdLst/>
            <a:ahLst/>
            <a:cxnLst/>
            <a:rect l="l" t="t" r="r" b="b"/>
            <a:pathLst>
              <a:path w="4232275" h="2680970">
                <a:moveTo>
                  <a:pt x="0" y="2680816"/>
                </a:moveTo>
                <a:lnTo>
                  <a:pt x="1989" y="2654889"/>
                </a:lnTo>
                <a:lnTo>
                  <a:pt x="3589" y="2626713"/>
                </a:lnTo>
                <a:lnTo>
                  <a:pt x="5101" y="2595421"/>
                </a:lnTo>
                <a:lnTo>
                  <a:pt x="6828" y="2560144"/>
                </a:lnTo>
                <a:lnTo>
                  <a:pt x="9069" y="2520017"/>
                </a:lnTo>
                <a:lnTo>
                  <a:pt x="12128" y="2474171"/>
                </a:lnTo>
                <a:lnTo>
                  <a:pt x="16305" y="2421740"/>
                </a:lnTo>
                <a:lnTo>
                  <a:pt x="21901" y="2361856"/>
                </a:lnTo>
                <a:lnTo>
                  <a:pt x="29219" y="2293652"/>
                </a:lnTo>
                <a:lnTo>
                  <a:pt x="38560" y="2216262"/>
                </a:lnTo>
                <a:lnTo>
                  <a:pt x="50224" y="2128817"/>
                </a:lnTo>
                <a:lnTo>
                  <a:pt x="54739" y="2093949"/>
                </a:lnTo>
                <a:lnTo>
                  <a:pt x="59130" y="2055370"/>
                </a:lnTo>
                <a:lnTo>
                  <a:pt x="63432" y="2013374"/>
                </a:lnTo>
                <a:lnTo>
                  <a:pt x="67678" y="1968254"/>
                </a:lnTo>
                <a:lnTo>
                  <a:pt x="71903" y="1920303"/>
                </a:lnTo>
                <a:lnTo>
                  <a:pt x="76139" y="1869814"/>
                </a:lnTo>
                <a:lnTo>
                  <a:pt x="80421" y="1817080"/>
                </a:lnTo>
                <a:lnTo>
                  <a:pt x="84781" y="1762395"/>
                </a:lnTo>
                <a:lnTo>
                  <a:pt x="89255" y="1706050"/>
                </a:lnTo>
                <a:lnTo>
                  <a:pt x="93875" y="1648341"/>
                </a:lnTo>
                <a:lnTo>
                  <a:pt x="98675" y="1589558"/>
                </a:lnTo>
                <a:lnTo>
                  <a:pt x="103689" y="1529997"/>
                </a:lnTo>
                <a:lnTo>
                  <a:pt x="108950" y="1469949"/>
                </a:lnTo>
                <a:lnTo>
                  <a:pt x="114493" y="1409708"/>
                </a:lnTo>
                <a:lnTo>
                  <a:pt x="120351" y="1349567"/>
                </a:lnTo>
                <a:lnTo>
                  <a:pt x="126558" y="1289819"/>
                </a:lnTo>
                <a:lnTo>
                  <a:pt x="133146" y="1230757"/>
                </a:lnTo>
                <a:lnTo>
                  <a:pt x="140151" y="1172674"/>
                </a:lnTo>
                <a:lnTo>
                  <a:pt x="147606" y="1115864"/>
                </a:lnTo>
                <a:lnTo>
                  <a:pt x="155543" y="1060619"/>
                </a:lnTo>
                <a:lnTo>
                  <a:pt x="163998" y="1007233"/>
                </a:lnTo>
                <a:lnTo>
                  <a:pt x="173004" y="955998"/>
                </a:lnTo>
                <a:lnTo>
                  <a:pt x="182594" y="907209"/>
                </a:lnTo>
                <a:lnTo>
                  <a:pt x="192803" y="861157"/>
                </a:lnTo>
                <a:lnTo>
                  <a:pt x="203663" y="818136"/>
                </a:lnTo>
                <a:lnTo>
                  <a:pt x="215208" y="778439"/>
                </a:lnTo>
                <a:lnTo>
                  <a:pt x="227473" y="742359"/>
                </a:lnTo>
                <a:lnTo>
                  <a:pt x="254296" y="682224"/>
                </a:lnTo>
                <a:lnTo>
                  <a:pt x="284399" y="640075"/>
                </a:lnTo>
                <a:lnTo>
                  <a:pt x="332850" y="610027"/>
                </a:lnTo>
                <a:lnTo>
                  <a:pt x="359604" y="605848"/>
                </a:lnTo>
                <a:lnTo>
                  <a:pt x="387898" y="608156"/>
                </a:lnTo>
                <a:lnTo>
                  <a:pt x="448676" y="630015"/>
                </a:lnTo>
                <a:lnTo>
                  <a:pt x="514318" y="671152"/>
                </a:lnTo>
                <a:lnTo>
                  <a:pt x="548691" y="697560"/>
                </a:lnTo>
                <a:lnTo>
                  <a:pt x="583955" y="727119"/>
                </a:lnTo>
                <a:lnTo>
                  <a:pt x="620001" y="759274"/>
                </a:lnTo>
                <a:lnTo>
                  <a:pt x="656722" y="793468"/>
                </a:lnTo>
                <a:lnTo>
                  <a:pt x="694007" y="829144"/>
                </a:lnTo>
                <a:lnTo>
                  <a:pt x="731750" y="865748"/>
                </a:lnTo>
                <a:lnTo>
                  <a:pt x="769842" y="902722"/>
                </a:lnTo>
                <a:lnTo>
                  <a:pt x="808174" y="939511"/>
                </a:lnTo>
                <a:lnTo>
                  <a:pt x="846639" y="975558"/>
                </a:lnTo>
                <a:lnTo>
                  <a:pt x="885126" y="1010307"/>
                </a:lnTo>
                <a:lnTo>
                  <a:pt x="923530" y="1043202"/>
                </a:lnTo>
                <a:lnTo>
                  <a:pt x="961740" y="1073688"/>
                </a:lnTo>
                <a:lnTo>
                  <a:pt x="999649" y="1101207"/>
                </a:lnTo>
                <a:lnTo>
                  <a:pt x="1037147" y="1125204"/>
                </a:lnTo>
                <a:lnTo>
                  <a:pt x="1079069" y="1150414"/>
                </a:lnTo>
                <a:lnTo>
                  <a:pt x="1122713" y="1177330"/>
                </a:lnTo>
                <a:lnTo>
                  <a:pt x="1167832" y="1205651"/>
                </a:lnTo>
                <a:lnTo>
                  <a:pt x="1214183" y="1235075"/>
                </a:lnTo>
                <a:lnTo>
                  <a:pt x="1261522" y="1265302"/>
                </a:lnTo>
                <a:lnTo>
                  <a:pt x="1309603" y="1296031"/>
                </a:lnTo>
                <a:lnTo>
                  <a:pt x="1358182" y="1326960"/>
                </a:lnTo>
                <a:lnTo>
                  <a:pt x="1407014" y="1357788"/>
                </a:lnTo>
                <a:lnTo>
                  <a:pt x="1455854" y="1388214"/>
                </a:lnTo>
                <a:lnTo>
                  <a:pt x="1504459" y="1417938"/>
                </a:lnTo>
                <a:lnTo>
                  <a:pt x="1552583" y="1446658"/>
                </a:lnTo>
                <a:lnTo>
                  <a:pt x="1599981" y="1474073"/>
                </a:lnTo>
                <a:lnTo>
                  <a:pt x="1646409" y="1499882"/>
                </a:lnTo>
                <a:lnTo>
                  <a:pt x="1691623" y="1523785"/>
                </a:lnTo>
                <a:lnTo>
                  <a:pt x="1735377" y="1545479"/>
                </a:lnTo>
                <a:lnTo>
                  <a:pt x="1777428" y="1564664"/>
                </a:lnTo>
                <a:lnTo>
                  <a:pt x="1817529" y="1581039"/>
                </a:lnTo>
                <a:lnTo>
                  <a:pt x="1855437" y="1594303"/>
                </a:lnTo>
                <a:lnTo>
                  <a:pt x="1923696" y="1610293"/>
                </a:lnTo>
                <a:lnTo>
                  <a:pt x="1972892" y="1613516"/>
                </a:lnTo>
                <a:lnTo>
                  <a:pt x="2016396" y="1609596"/>
                </a:lnTo>
                <a:lnTo>
                  <a:pt x="2054904" y="1599055"/>
                </a:lnTo>
                <a:lnTo>
                  <a:pt x="2119722" y="1560203"/>
                </a:lnTo>
                <a:lnTo>
                  <a:pt x="2147426" y="1532937"/>
                </a:lnTo>
                <a:lnTo>
                  <a:pt x="2172923" y="1501140"/>
                </a:lnTo>
                <a:lnTo>
                  <a:pt x="2196910" y="1465336"/>
                </a:lnTo>
                <a:lnTo>
                  <a:pt x="2220083" y="1426046"/>
                </a:lnTo>
                <a:lnTo>
                  <a:pt x="2243141" y="1383794"/>
                </a:lnTo>
                <a:lnTo>
                  <a:pt x="2266779" y="1339103"/>
                </a:lnTo>
                <a:lnTo>
                  <a:pt x="2291695" y="1292493"/>
                </a:lnTo>
                <a:lnTo>
                  <a:pt x="2309368" y="1256780"/>
                </a:lnTo>
                <a:lnTo>
                  <a:pt x="2326064" y="1216899"/>
                </a:lnTo>
                <a:lnTo>
                  <a:pt x="2341906" y="1173373"/>
                </a:lnTo>
                <a:lnTo>
                  <a:pt x="2357015" y="1126720"/>
                </a:lnTo>
                <a:lnTo>
                  <a:pt x="2371515" y="1077463"/>
                </a:lnTo>
                <a:lnTo>
                  <a:pt x="2385528" y="1026123"/>
                </a:lnTo>
                <a:lnTo>
                  <a:pt x="2399177" y="973220"/>
                </a:lnTo>
                <a:lnTo>
                  <a:pt x="2412584" y="919275"/>
                </a:lnTo>
                <a:lnTo>
                  <a:pt x="2425872" y="864809"/>
                </a:lnTo>
                <a:lnTo>
                  <a:pt x="2439163" y="810344"/>
                </a:lnTo>
                <a:lnTo>
                  <a:pt x="2452580" y="756399"/>
                </a:lnTo>
                <a:lnTo>
                  <a:pt x="2466246" y="703496"/>
                </a:lnTo>
                <a:lnTo>
                  <a:pt x="2480283" y="652156"/>
                </a:lnTo>
                <a:lnTo>
                  <a:pt x="2494814" y="602900"/>
                </a:lnTo>
                <a:lnTo>
                  <a:pt x="2509961" y="556248"/>
                </a:lnTo>
                <a:lnTo>
                  <a:pt x="2525847" y="512722"/>
                </a:lnTo>
                <a:lnTo>
                  <a:pt x="2542594" y="472843"/>
                </a:lnTo>
                <a:lnTo>
                  <a:pt x="2563598" y="425717"/>
                </a:lnTo>
                <a:lnTo>
                  <a:pt x="2584827" y="376964"/>
                </a:lnTo>
                <a:lnTo>
                  <a:pt x="2606336" y="327516"/>
                </a:lnTo>
                <a:lnTo>
                  <a:pt x="2628181" y="278305"/>
                </a:lnTo>
                <a:lnTo>
                  <a:pt x="2650415" y="230265"/>
                </a:lnTo>
                <a:lnTo>
                  <a:pt x="2673095" y="184328"/>
                </a:lnTo>
                <a:lnTo>
                  <a:pt x="2696275" y="141427"/>
                </a:lnTo>
                <a:lnTo>
                  <a:pt x="2720010" y="102494"/>
                </a:lnTo>
                <a:lnTo>
                  <a:pt x="2744355" y="68462"/>
                </a:lnTo>
                <a:lnTo>
                  <a:pt x="2795092" y="18833"/>
                </a:lnTo>
                <a:lnTo>
                  <a:pt x="2848927" y="0"/>
                </a:lnTo>
                <a:lnTo>
                  <a:pt x="2877144" y="4463"/>
                </a:lnTo>
                <a:lnTo>
                  <a:pt x="2921018" y="26856"/>
                </a:lnTo>
                <a:lnTo>
                  <a:pt x="2964205" y="64254"/>
                </a:lnTo>
                <a:lnTo>
                  <a:pt x="3007875" y="116589"/>
                </a:lnTo>
                <a:lnTo>
                  <a:pt x="3030256" y="148337"/>
                </a:lnTo>
                <a:lnTo>
                  <a:pt x="3053197" y="183793"/>
                </a:lnTo>
                <a:lnTo>
                  <a:pt x="3076843" y="222949"/>
                </a:lnTo>
                <a:lnTo>
                  <a:pt x="3101341" y="265797"/>
                </a:lnTo>
                <a:lnTo>
                  <a:pt x="3126838" y="312327"/>
                </a:lnTo>
                <a:lnTo>
                  <a:pt x="3153478" y="362532"/>
                </a:lnTo>
                <a:lnTo>
                  <a:pt x="3181410" y="416403"/>
                </a:lnTo>
                <a:lnTo>
                  <a:pt x="3210778" y="473930"/>
                </a:lnTo>
                <a:lnTo>
                  <a:pt x="3241729" y="535107"/>
                </a:lnTo>
                <a:lnTo>
                  <a:pt x="3274409" y="599923"/>
                </a:lnTo>
                <a:lnTo>
                  <a:pt x="3308965" y="668371"/>
                </a:lnTo>
                <a:lnTo>
                  <a:pt x="3345543" y="740442"/>
                </a:lnTo>
                <a:lnTo>
                  <a:pt x="3379683" y="808473"/>
                </a:lnTo>
                <a:lnTo>
                  <a:pt x="3398086" y="845830"/>
                </a:lnTo>
                <a:lnTo>
                  <a:pt x="3417308" y="885245"/>
                </a:lnTo>
                <a:lnTo>
                  <a:pt x="3437295" y="926594"/>
                </a:lnTo>
                <a:lnTo>
                  <a:pt x="3457994" y="969750"/>
                </a:lnTo>
                <a:lnTo>
                  <a:pt x="3479353" y="1014587"/>
                </a:lnTo>
                <a:lnTo>
                  <a:pt x="3501320" y="1060980"/>
                </a:lnTo>
                <a:lnTo>
                  <a:pt x="3523840" y="1108801"/>
                </a:lnTo>
                <a:lnTo>
                  <a:pt x="3546862" y="1157926"/>
                </a:lnTo>
                <a:lnTo>
                  <a:pt x="3570332" y="1208228"/>
                </a:lnTo>
                <a:lnTo>
                  <a:pt x="3594198" y="1259582"/>
                </a:lnTo>
                <a:lnTo>
                  <a:pt x="3618407" y="1311861"/>
                </a:lnTo>
                <a:lnTo>
                  <a:pt x="3642905" y="1364939"/>
                </a:lnTo>
                <a:lnTo>
                  <a:pt x="3667641" y="1418690"/>
                </a:lnTo>
                <a:lnTo>
                  <a:pt x="3692561" y="1472989"/>
                </a:lnTo>
                <a:lnTo>
                  <a:pt x="3717612" y="1527709"/>
                </a:lnTo>
                <a:lnTo>
                  <a:pt x="3742742" y="1582724"/>
                </a:lnTo>
                <a:lnTo>
                  <a:pt x="3767898" y="1637908"/>
                </a:lnTo>
                <a:lnTo>
                  <a:pt x="3793027" y="1693136"/>
                </a:lnTo>
                <a:lnTo>
                  <a:pt x="3818076" y="1748282"/>
                </a:lnTo>
                <a:lnTo>
                  <a:pt x="3842992" y="1803219"/>
                </a:lnTo>
                <a:lnTo>
                  <a:pt x="3867723" y="1857821"/>
                </a:lnTo>
                <a:lnTo>
                  <a:pt x="3892216" y="1911962"/>
                </a:lnTo>
                <a:lnTo>
                  <a:pt x="3916417" y="1965517"/>
                </a:lnTo>
                <a:lnTo>
                  <a:pt x="3940274" y="2018359"/>
                </a:lnTo>
                <a:lnTo>
                  <a:pt x="3963735" y="2070363"/>
                </a:lnTo>
                <a:lnTo>
                  <a:pt x="3986745" y="2121402"/>
                </a:lnTo>
                <a:lnTo>
                  <a:pt x="4009253" y="2171351"/>
                </a:lnTo>
                <a:lnTo>
                  <a:pt x="4031206" y="2220083"/>
                </a:lnTo>
                <a:lnTo>
                  <a:pt x="4052551" y="2267472"/>
                </a:lnTo>
                <a:lnTo>
                  <a:pt x="4073234" y="2313393"/>
                </a:lnTo>
                <a:lnTo>
                  <a:pt x="4093204" y="2357720"/>
                </a:lnTo>
                <a:lnTo>
                  <a:pt x="4112407" y="2400326"/>
                </a:lnTo>
                <a:lnTo>
                  <a:pt x="4130791" y="2441085"/>
                </a:lnTo>
                <a:lnTo>
                  <a:pt x="4148302" y="2479872"/>
                </a:lnTo>
                <a:lnTo>
                  <a:pt x="4164888" y="2516560"/>
                </a:lnTo>
                <a:lnTo>
                  <a:pt x="4195073" y="2583138"/>
                </a:lnTo>
                <a:lnTo>
                  <a:pt x="4220923" y="2639809"/>
                </a:lnTo>
                <a:lnTo>
                  <a:pt x="4232091" y="2664116"/>
                </a:lnTo>
              </a:path>
            </a:pathLst>
          </a:custGeom>
          <a:ln w="76199">
            <a:solidFill>
              <a:srgbClr val="3B77D8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0ACCB63-03BE-4656-8F58-573E53974E5A}"/>
              </a:ext>
            </a:extLst>
          </p:cNvPr>
          <p:cNvSpPr/>
          <p:nvPr/>
        </p:nvSpPr>
        <p:spPr>
          <a:xfrm>
            <a:off x="2037908" y="2033352"/>
            <a:ext cx="5068570" cy="2820035"/>
          </a:xfrm>
          <a:custGeom>
            <a:avLst/>
            <a:gdLst/>
            <a:ahLst/>
            <a:cxnLst/>
            <a:rect l="l" t="t" r="r" b="b"/>
            <a:pathLst>
              <a:path w="5068570" h="2820035">
                <a:moveTo>
                  <a:pt x="0" y="2633757"/>
                </a:moveTo>
                <a:lnTo>
                  <a:pt x="5068177" y="2633757"/>
                </a:lnTo>
              </a:path>
              <a:path w="5068570" h="2820035">
                <a:moveTo>
                  <a:pt x="2534082" y="0"/>
                </a:moveTo>
                <a:lnTo>
                  <a:pt x="2534082" y="2820006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1EBA656B-FC6C-4764-9D2D-D15EBC622AC3}"/>
              </a:ext>
            </a:extLst>
          </p:cNvPr>
          <p:cNvSpPr/>
          <p:nvPr/>
        </p:nvSpPr>
        <p:spPr>
          <a:xfrm>
            <a:off x="2472737" y="4125435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192307" y="384599"/>
                </a:moveTo>
                <a:lnTo>
                  <a:pt x="148215" y="379520"/>
                </a:lnTo>
                <a:lnTo>
                  <a:pt x="107739" y="365052"/>
                </a:lnTo>
                <a:lnTo>
                  <a:pt x="72032" y="342351"/>
                </a:lnTo>
                <a:lnTo>
                  <a:pt x="42250" y="312571"/>
                </a:lnTo>
                <a:lnTo>
                  <a:pt x="19547" y="276866"/>
                </a:lnTo>
                <a:lnTo>
                  <a:pt x="5079" y="236390"/>
                </a:lnTo>
                <a:lnTo>
                  <a:pt x="0" y="192299"/>
                </a:lnTo>
                <a:lnTo>
                  <a:pt x="5079" y="148208"/>
                </a:lnTo>
                <a:lnTo>
                  <a:pt x="19547" y="107733"/>
                </a:lnTo>
                <a:lnTo>
                  <a:pt x="42250" y="72027"/>
                </a:lnTo>
                <a:lnTo>
                  <a:pt x="72032" y="42247"/>
                </a:lnTo>
                <a:lnTo>
                  <a:pt x="107739" y="19546"/>
                </a:lnTo>
                <a:lnTo>
                  <a:pt x="148215" y="5078"/>
                </a:lnTo>
                <a:lnTo>
                  <a:pt x="192307" y="0"/>
                </a:lnTo>
                <a:lnTo>
                  <a:pt x="229995" y="3727"/>
                </a:lnTo>
                <a:lnTo>
                  <a:pt x="298988" y="32305"/>
                </a:lnTo>
                <a:lnTo>
                  <a:pt x="352291" y="85607"/>
                </a:lnTo>
                <a:lnTo>
                  <a:pt x="380875" y="154607"/>
                </a:lnTo>
                <a:lnTo>
                  <a:pt x="384606" y="192299"/>
                </a:lnTo>
                <a:lnTo>
                  <a:pt x="379527" y="236390"/>
                </a:lnTo>
                <a:lnTo>
                  <a:pt x="365060" y="276866"/>
                </a:lnTo>
                <a:lnTo>
                  <a:pt x="342359" y="312571"/>
                </a:lnTo>
                <a:lnTo>
                  <a:pt x="312578" y="342351"/>
                </a:lnTo>
                <a:lnTo>
                  <a:pt x="276873" y="365052"/>
                </a:lnTo>
                <a:lnTo>
                  <a:pt x="236398" y="379520"/>
                </a:lnTo>
                <a:lnTo>
                  <a:pt x="192307" y="384599"/>
                </a:lnTo>
                <a:close/>
              </a:path>
            </a:pathLst>
          </a:custGeom>
          <a:solidFill>
            <a:srgbClr val="9EC4E8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2892473-CEF7-473C-A41E-D2982BB15F70}"/>
              </a:ext>
            </a:extLst>
          </p:cNvPr>
          <p:cNvSpPr/>
          <p:nvPr/>
        </p:nvSpPr>
        <p:spPr>
          <a:xfrm>
            <a:off x="2472737" y="4125435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0" y="192299"/>
                </a:moveTo>
                <a:lnTo>
                  <a:pt x="5079" y="148208"/>
                </a:lnTo>
                <a:lnTo>
                  <a:pt x="19547" y="107733"/>
                </a:lnTo>
                <a:lnTo>
                  <a:pt x="42250" y="72027"/>
                </a:lnTo>
                <a:lnTo>
                  <a:pt x="72032" y="42247"/>
                </a:lnTo>
                <a:lnTo>
                  <a:pt x="107739" y="19546"/>
                </a:lnTo>
                <a:lnTo>
                  <a:pt x="148215" y="5078"/>
                </a:lnTo>
                <a:lnTo>
                  <a:pt x="192307" y="0"/>
                </a:lnTo>
                <a:lnTo>
                  <a:pt x="265891" y="14634"/>
                </a:lnTo>
                <a:lnTo>
                  <a:pt x="328281" y="56324"/>
                </a:lnTo>
                <a:lnTo>
                  <a:pt x="369963" y="118706"/>
                </a:lnTo>
                <a:lnTo>
                  <a:pt x="384606" y="192299"/>
                </a:lnTo>
                <a:lnTo>
                  <a:pt x="379527" y="236390"/>
                </a:lnTo>
                <a:lnTo>
                  <a:pt x="365060" y="276866"/>
                </a:lnTo>
                <a:lnTo>
                  <a:pt x="342359" y="312571"/>
                </a:lnTo>
                <a:lnTo>
                  <a:pt x="312578" y="342351"/>
                </a:lnTo>
                <a:lnTo>
                  <a:pt x="276873" y="365052"/>
                </a:lnTo>
                <a:lnTo>
                  <a:pt x="236398" y="379520"/>
                </a:lnTo>
                <a:lnTo>
                  <a:pt x="192307" y="384599"/>
                </a:lnTo>
                <a:lnTo>
                  <a:pt x="148215" y="379520"/>
                </a:lnTo>
                <a:lnTo>
                  <a:pt x="107739" y="365052"/>
                </a:lnTo>
                <a:lnTo>
                  <a:pt x="72032" y="342351"/>
                </a:lnTo>
                <a:lnTo>
                  <a:pt x="42250" y="312571"/>
                </a:lnTo>
                <a:lnTo>
                  <a:pt x="19547" y="276866"/>
                </a:lnTo>
                <a:lnTo>
                  <a:pt x="5079" y="236390"/>
                </a:lnTo>
                <a:lnTo>
                  <a:pt x="0" y="192299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4109815-E6CB-4ACF-A7AE-E684F3A46246}"/>
              </a:ext>
            </a:extLst>
          </p:cNvPr>
          <p:cNvSpPr/>
          <p:nvPr/>
        </p:nvSpPr>
        <p:spPr>
          <a:xfrm>
            <a:off x="3444643" y="3103935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192299" y="384601"/>
                </a:moveTo>
                <a:lnTo>
                  <a:pt x="148208" y="379522"/>
                </a:lnTo>
                <a:lnTo>
                  <a:pt x="107733" y="365055"/>
                </a:lnTo>
                <a:lnTo>
                  <a:pt x="72027" y="342354"/>
                </a:lnTo>
                <a:lnTo>
                  <a:pt x="42247" y="312573"/>
                </a:lnTo>
                <a:lnTo>
                  <a:pt x="19546" y="276867"/>
                </a:lnTo>
                <a:lnTo>
                  <a:pt x="5078" y="236391"/>
                </a:lnTo>
                <a:lnTo>
                  <a:pt x="0" y="192299"/>
                </a:lnTo>
                <a:lnTo>
                  <a:pt x="5078" y="148206"/>
                </a:lnTo>
                <a:lnTo>
                  <a:pt x="19546" y="107730"/>
                </a:lnTo>
                <a:lnTo>
                  <a:pt x="42247" y="72025"/>
                </a:lnTo>
                <a:lnTo>
                  <a:pt x="72027" y="42245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29988" y="3729"/>
                </a:lnTo>
                <a:lnTo>
                  <a:pt x="298981" y="32308"/>
                </a:lnTo>
                <a:lnTo>
                  <a:pt x="352294" y="85611"/>
                </a:lnTo>
                <a:lnTo>
                  <a:pt x="380871" y="154608"/>
                </a:lnTo>
                <a:lnTo>
                  <a:pt x="384599" y="192299"/>
                </a:lnTo>
                <a:lnTo>
                  <a:pt x="379520" y="236391"/>
                </a:lnTo>
                <a:lnTo>
                  <a:pt x="365052" y="276867"/>
                </a:lnTo>
                <a:lnTo>
                  <a:pt x="342351" y="312573"/>
                </a:lnTo>
                <a:lnTo>
                  <a:pt x="312571" y="342354"/>
                </a:lnTo>
                <a:lnTo>
                  <a:pt x="276866" y="365055"/>
                </a:lnTo>
                <a:lnTo>
                  <a:pt x="236390" y="379522"/>
                </a:lnTo>
                <a:lnTo>
                  <a:pt x="192299" y="384601"/>
                </a:lnTo>
                <a:close/>
              </a:path>
            </a:pathLst>
          </a:custGeom>
          <a:solidFill>
            <a:srgbClr val="9EC4E8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87F9171B-95D5-479A-B170-FE203D17F505}"/>
              </a:ext>
            </a:extLst>
          </p:cNvPr>
          <p:cNvSpPr/>
          <p:nvPr/>
        </p:nvSpPr>
        <p:spPr>
          <a:xfrm>
            <a:off x="3444643" y="3103935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0" y="192299"/>
                </a:moveTo>
                <a:lnTo>
                  <a:pt x="5078" y="148206"/>
                </a:lnTo>
                <a:lnTo>
                  <a:pt x="19546" y="107730"/>
                </a:lnTo>
                <a:lnTo>
                  <a:pt x="42247" y="72025"/>
                </a:lnTo>
                <a:lnTo>
                  <a:pt x="72027" y="42245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65883" y="14637"/>
                </a:lnTo>
                <a:lnTo>
                  <a:pt x="328274" y="56322"/>
                </a:lnTo>
                <a:lnTo>
                  <a:pt x="369964" y="118709"/>
                </a:lnTo>
                <a:lnTo>
                  <a:pt x="384599" y="192299"/>
                </a:lnTo>
                <a:lnTo>
                  <a:pt x="379520" y="236391"/>
                </a:lnTo>
                <a:lnTo>
                  <a:pt x="365052" y="276867"/>
                </a:lnTo>
                <a:lnTo>
                  <a:pt x="342351" y="312573"/>
                </a:lnTo>
                <a:lnTo>
                  <a:pt x="312571" y="342354"/>
                </a:lnTo>
                <a:lnTo>
                  <a:pt x="276866" y="365055"/>
                </a:lnTo>
                <a:lnTo>
                  <a:pt x="236390" y="379522"/>
                </a:lnTo>
                <a:lnTo>
                  <a:pt x="192299" y="384601"/>
                </a:lnTo>
                <a:lnTo>
                  <a:pt x="148208" y="379522"/>
                </a:lnTo>
                <a:lnTo>
                  <a:pt x="107733" y="365055"/>
                </a:lnTo>
                <a:lnTo>
                  <a:pt x="72027" y="342354"/>
                </a:lnTo>
                <a:lnTo>
                  <a:pt x="42247" y="312573"/>
                </a:lnTo>
                <a:lnTo>
                  <a:pt x="19546" y="276867"/>
                </a:lnTo>
                <a:lnTo>
                  <a:pt x="5078" y="236391"/>
                </a:lnTo>
                <a:lnTo>
                  <a:pt x="0" y="192299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CEBD99C1-9FD6-4B9C-87B2-24D23E7C21C4}"/>
              </a:ext>
            </a:extLst>
          </p:cNvPr>
          <p:cNvSpPr/>
          <p:nvPr/>
        </p:nvSpPr>
        <p:spPr>
          <a:xfrm>
            <a:off x="5714188" y="2719358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192299" y="384599"/>
                </a:moveTo>
                <a:lnTo>
                  <a:pt x="148208" y="379520"/>
                </a:lnTo>
                <a:lnTo>
                  <a:pt x="107733" y="365053"/>
                </a:lnTo>
                <a:lnTo>
                  <a:pt x="72027" y="342353"/>
                </a:lnTo>
                <a:lnTo>
                  <a:pt x="42247" y="312573"/>
                </a:lnTo>
                <a:lnTo>
                  <a:pt x="19546" y="276868"/>
                </a:lnTo>
                <a:lnTo>
                  <a:pt x="5078" y="236392"/>
                </a:lnTo>
                <a:lnTo>
                  <a:pt x="0" y="192299"/>
                </a:lnTo>
                <a:lnTo>
                  <a:pt x="5078" y="148207"/>
                </a:lnTo>
                <a:lnTo>
                  <a:pt x="19546" y="107731"/>
                </a:lnTo>
                <a:lnTo>
                  <a:pt x="42247" y="72026"/>
                </a:lnTo>
                <a:lnTo>
                  <a:pt x="72027" y="42246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29988" y="3729"/>
                </a:lnTo>
                <a:lnTo>
                  <a:pt x="298981" y="32309"/>
                </a:lnTo>
                <a:lnTo>
                  <a:pt x="352283" y="85612"/>
                </a:lnTo>
                <a:lnTo>
                  <a:pt x="380867" y="154609"/>
                </a:lnTo>
                <a:lnTo>
                  <a:pt x="384599" y="192299"/>
                </a:lnTo>
                <a:lnTo>
                  <a:pt x="379520" y="236392"/>
                </a:lnTo>
                <a:lnTo>
                  <a:pt x="365052" y="276868"/>
                </a:lnTo>
                <a:lnTo>
                  <a:pt x="342351" y="312573"/>
                </a:lnTo>
                <a:lnTo>
                  <a:pt x="312571" y="342353"/>
                </a:lnTo>
                <a:lnTo>
                  <a:pt x="276866" y="365053"/>
                </a:lnTo>
                <a:lnTo>
                  <a:pt x="236390" y="379520"/>
                </a:lnTo>
                <a:lnTo>
                  <a:pt x="192299" y="384599"/>
                </a:lnTo>
                <a:close/>
              </a:path>
            </a:pathLst>
          </a:custGeom>
          <a:solidFill>
            <a:srgbClr val="9EC4E8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2D8AE95A-FC65-4CCC-86E6-9E3422D89551}"/>
              </a:ext>
            </a:extLst>
          </p:cNvPr>
          <p:cNvSpPr/>
          <p:nvPr/>
        </p:nvSpPr>
        <p:spPr>
          <a:xfrm>
            <a:off x="5714188" y="2719358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0" y="192299"/>
                </a:moveTo>
                <a:lnTo>
                  <a:pt x="5078" y="148207"/>
                </a:lnTo>
                <a:lnTo>
                  <a:pt x="19546" y="107731"/>
                </a:lnTo>
                <a:lnTo>
                  <a:pt x="42247" y="72026"/>
                </a:lnTo>
                <a:lnTo>
                  <a:pt x="72027" y="42246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65883" y="14638"/>
                </a:lnTo>
                <a:lnTo>
                  <a:pt x="328274" y="56324"/>
                </a:lnTo>
                <a:lnTo>
                  <a:pt x="369955" y="118710"/>
                </a:lnTo>
                <a:lnTo>
                  <a:pt x="384599" y="192299"/>
                </a:lnTo>
                <a:lnTo>
                  <a:pt x="379520" y="236392"/>
                </a:lnTo>
                <a:lnTo>
                  <a:pt x="365052" y="276868"/>
                </a:lnTo>
                <a:lnTo>
                  <a:pt x="342351" y="312573"/>
                </a:lnTo>
                <a:lnTo>
                  <a:pt x="312571" y="342353"/>
                </a:lnTo>
                <a:lnTo>
                  <a:pt x="276866" y="365053"/>
                </a:lnTo>
                <a:lnTo>
                  <a:pt x="236390" y="379520"/>
                </a:lnTo>
                <a:lnTo>
                  <a:pt x="192299" y="384599"/>
                </a:lnTo>
                <a:lnTo>
                  <a:pt x="148208" y="379520"/>
                </a:lnTo>
                <a:lnTo>
                  <a:pt x="107733" y="365053"/>
                </a:lnTo>
                <a:lnTo>
                  <a:pt x="72027" y="342353"/>
                </a:lnTo>
                <a:lnTo>
                  <a:pt x="42247" y="312573"/>
                </a:lnTo>
                <a:lnTo>
                  <a:pt x="19546" y="276868"/>
                </a:lnTo>
                <a:lnTo>
                  <a:pt x="5078" y="236392"/>
                </a:lnTo>
                <a:lnTo>
                  <a:pt x="0" y="192299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12F09008-F2E3-4F7A-B99A-2BB6E680C578}"/>
              </a:ext>
            </a:extLst>
          </p:cNvPr>
          <p:cNvSpPr/>
          <p:nvPr/>
        </p:nvSpPr>
        <p:spPr>
          <a:xfrm>
            <a:off x="4683165" y="3250989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192299" y="384596"/>
                </a:moveTo>
                <a:lnTo>
                  <a:pt x="148208" y="379517"/>
                </a:lnTo>
                <a:lnTo>
                  <a:pt x="107733" y="365050"/>
                </a:lnTo>
                <a:lnTo>
                  <a:pt x="72027" y="342349"/>
                </a:lnTo>
                <a:lnTo>
                  <a:pt x="42247" y="312568"/>
                </a:lnTo>
                <a:lnTo>
                  <a:pt x="19546" y="276863"/>
                </a:lnTo>
                <a:lnTo>
                  <a:pt x="5078" y="236388"/>
                </a:lnTo>
                <a:lnTo>
                  <a:pt x="0" y="192297"/>
                </a:lnTo>
                <a:lnTo>
                  <a:pt x="5078" y="148205"/>
                </a:lnTo>
                <a:lnTo>
                  <a:pt x="19546" y="107729"/>
                </a:lnTo>
                <a:lnTo>
                  <a:pt x="42247" y="72025"/>
                </a:lnTo>
                <a:lnTo>
                  <a:pt x="72027" y="42245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29988" y="3729"/>
                </a:lnTo>
                <a:lnTo>
                  <a:pt x="298981" y="32308"/>
                </a:lnTo>
                <a:lnTo>
                  <a:pt x="352283" y="85611"/>
                </a:lnTo>
                <a:lnTo>
                  <a:pt x="380867" y="154607"/>
                </a:lnTo>
                <a:lnTo>
                  <a:pt x="384599" y="192297"/>
                </a:lnTo>
                <a:lnTo>
                  <a:pt x="379520" y="236388"/>
                </a:lnTo>
                <a:lnTo>
                  <a:pt x="365052" y="276863"/>
                </a:lnTo>
                <a:lnTo>
                  <a:pt x="342351" y="312568"/>
                </a:lnTo>
                <a:lnTo>
                  <a:pt x="312571" y="342349"/>
                </a:lnTo>
                <a:lnTo>
                  <a:pt x="276866" y="365050"/>
                </a:lnTo>
                <a:lnTo>
                  <a:pt x="236390" y="379517"/>
                </a:lnTo>
                <a:lnTo>
                  <a:pt x="192299" y="384596"/>
                </a:lnTo>
                <a:close/>
              </a:path>
            </a:pathLst>
          </a:custGeom>
          <a:solidFill>
            <a:srgbClr val="9EC4E8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834489EE-420F-44CB-A16F-A9EB8EA5A037}"/>
              </a:ext>
            </a:extLst>
          </p:cNvPr>
          <p:cNvSpPr/>
          <p:nvPr/>
        </p:nvSpPr>
        <p:spPr>
          <a:xfrm>
            <a:off x="4683165" y="3250989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0" y="192297"/>
                </a:moveTo>
                <a:lnTo>
                  <a:pt x="5078" y="148205"/>
                </a:lnTo>
                <a:lnTo>
                  <a:pt x="19546" y="107729"/>
                </a:lnTo>
                <a:lnTo>
                  <a:pt x="42247" y="72025"/>
                </a:lnTo>
                <a:lnTo>
                  <a:pt x="72027" y="42245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65883" y="14637"/>
                </a:lnTo>
                <a:lnTo>
                  <a:pt x="328274" y="56322"/>
                </a:lnTo>
                <a:lnTo>
                  <a:pt x="369955" y="118709"/>
                </a:lnTo>
                <a:lnTo>
                  <a:pt x="384599" y="192297"/>
                </a:lnTo>
                <a:lnTo>
                  <a:pt x="379520" y="236388"/>
                </a:lnTo>
                <a:lnTo>
                  <a:pt x="365052" y="276863"/>
                </a:lnTo>
                <a:lnTo>
                  <a:pt x="342351" y="312568"/>
                </a:lnTo>
                <a:lnTo>
                  <a:pt x="312571" y="342349"/>
                </a:lnTo>
                <a:lnTo>
                  <a:pt x="276866" y="365050"/>
                </a:lnTo>
                <a:lnTo>
                  <a:pt x="236390" y="379517"/>
                </a:lnTo>
                <a:lnTo>
                  <a:pt x="192299" y="384596"/>
                </a:lnTo>
                <a:lnTo>
                  <a:pt x="148208" y="379517"/>
                </a:lnTo>
                <a:lnTo>
                  <a:pt x="107733" y="365050"/>
                </a:lnTo>
                <a:lnTo>
                  <a:pt x="72027" y="342349"/>
                </a:lnTo>
                <a:lnTo>
                  <a:pt x="42247" y="312568"/>
                </a:lnTo>
                <a:lnTo>
                  <a:pt x="19546" y="276863"/>
                </a:lnTo>
                <a:lnTo>
                  <a:pt x="5078" y="236388"/>
                </a:lnTo>
                <a:lnTo>
                  <a:pt x="0" y="192297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E4BFC7B1-EB4D-43EA-BE95-7D67D15B012B}"/>
              </a:ext>
            </a:extLst>
          </p:cNvPr>
          <p:cNvSpPr/>
          <p:nvPr/>
        </p:nvSpPr>
        <p:spPr>
          <a:xfrm>
            <a:off x="4950815" y="2486671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192299" y="384599"/>
                </a:moveTo>
                <a:lnTo>
                  <a:pt x="148200" y="379520"/>
                </a:lnTo>
                <a:lnTo>
                  <a:pt x="107722" y="365053"/>
                </a:lnTo>
                <a:lnTo>
                  <a:pt x="72017" y="342352"/>
                </a:lnTo>
                <a:lnTo>
                  <a:pt x="42239" y="312572"/>
                </a:lnTo>
                <a:lnTo>
                  <a:pt x="19541" y="276867"/>
                </a:lnTo>
                <a:lnTo>
                  <a:pt x="5077" y="236391"/>
                </a:lnTo>
                <a:lnTo>
                  <a:pt x="0" y="192299"/>
                </a:lnTo>
                <a:lnTo>
                  <a:pt x="5077" y="148206"/>
                </a:lnTo>
                <a:lnTo>
                  <a:pt x="19541" y="107730"/>
                </a:lnTo>
                <a:lnTo>
                  <a:pt x="42239" y="72025"/>
                </a:lnTo>
                <a:lnTo>
                  <a:pt x="72017" y="42245"/>
                </a:lnTo>
                <a:lnTo>
                  <a:pt x="107722" y="19545"/>
                </a:lnTo>
                <a:lnTo>
                  <a:pt x="148200" y="5078"/>
                </a:lnTo>
                <a:lnTo>
                  <a:pt x="192299" y="0"/>
                </a:lnTo>
                <a:lnTo>
                  <a:pt x="229988" y="3729"/>
                </a:lnTo>
                <a:lnTo>
                  <a:pt x="298981" y="32308"/>
                </a:lnTo>
                <a:lnTo>
                  <a:pt x="352283" y="85610"/>
                </a:lnTo>
                <a:lnTo>
                  <a:pt x="380867" y="154607"/>
                </a:lnTo>
                <a:lnTo>
                  <a:pt x="384599" y="192299"/>
                </a:lnTo>
                <a:lnTo>
                  <a:pt x="379520" y="236391"/>
                </a:lnTo>
                <a:lnTo>
                  <a:pt x="365052" y="276867"/>
                </a:lnTo>
                <a:lnTo>
                  <a:pt x="342351" y="312572"/>
                </a:lnTo>
                <a:lnTo>
                  <a:pt x="312571" y="342352"/>
                </a:lnTo>
                <a:lnTo>
                  <a:pt x="276866" y="365053"/>
                </a:lnTo>
                <a:lnTo>
                  <a:pt x="236390" y="379520"/>
                </a:lnTo>
                <a:lnTo>
                  <a:pt x="192299" y="384599"/>
                </a:lnTo>
                <a:close/>
              </a:path>
            </a:pathLst>
          </a:custGeom>
          <a:solidFill>
            <a:srgbClr val="A3C1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4E099569-2A44-4C6E-ADE3-A8594FF677EA}"/>
              </a:ext>
            </a:extLst>
          </p:cNvPr>
          <p:cNvSpPr/>
          <p:nvPr/>
        </p:nvSpPr>
        <p:spPr>
          <a:xfrm>
            <a:off x="4950815" y="2486671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0" y="192299"/>
                </a:moveTo>
                <a:lnTo>
                  <a:pt x="5077" y="148206"/>
                </a:lnTo>
                <a:lnTo>
                  <a:pt x="19541" y="107730"/>
                </a:lnTo>
                <a:lnTo>
                  <a:pt x="42239" y="72025"/>
                </a:lnTo>
                <a:lnTo>
                  <a:pt x="72017" y="42245"/>
                </a:lnTo>
                <a:lnTo>
                  <a:pt x="107722" y="19545"/>
                </a:lnTo>
                <a:lnTo>
                  <a:pt x="148200" y="5078"/>
                </a:lnTo>
                <a:lnTo>
                  <a:pt x="192299" y="0"/>
                </a:lnTo>
                <a:lnTo>
                  <a:pt x="265883" y="14637"/>
                </a:lnTo>
                <a:lnTo>
                  <a:pt x="328274" y="56322"/>
                </a:lnTo>
                <a:lnTo>
                  <a:pt x="369955" y="118708"/>
                </a:lnTo>
                <a:lnTo>
                  <a:pt x="384599" y="192299"/>
                </a:lnTo>
                <a:lnTo>
                  <a:pt x="379520" y="236391"/>
                </a:lnTo>
                <a:lnTo>
                  <a:pt x="365052" y="276867"/>
                </a:lnTo>
                <a:lnTo>
                  <a:pt x="342351" y="312572"/>
                </a:lnTo>
                <a:lnTo>
                  <a:pt x="312571" y="342352"/>
                </a:lnTo>
                <a:lnTo>
                  <a:pt x="276866" y="365053"/>
                </a:lnTo>
                <a:lnTo>
                  <a:pt x="236390" y="379520"/>
                </a:lnTo>
                <a:lnTo>
                  <a:pt x="192299" y="384599"/>
                </a:lnTo>
                <a:lnTo>
                  <a:pt x="148200" y="379520"/>
                </a:lnTo>
                <a:lnTo>
                  <a:pt x="107722" y="365053"/>
                </a:lnTo>
                <a:lnTo>
                  <a:pt x="72017" y="342352"/>
                </a:lnTo>
                <a:lnTo>
                  <a:pt x="42239" y="312572"/>
                </a:lnTo>
                <a:lnTo>
                  <a:pt x="19541" y="276867"/>
                </a:lnTo>
                <a:lnTo>
                  <a:pt x="5077" y="236391"/>
                </a:lnTo>
                <a:lnTo>
                  <a:pt x="0" y="192299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90FCEE8F-8B0E-4C94-91C0-4D0AFB84E430}"/>
              </a:ext>
            </a:extLst>
          </p:cNvPr>
          <p:cNvSpPr txBox="1"/>
          <p:nvPr/>
        </p:nvSpPr>
        <p:spPr>
          <a:xfrm>
            <a:off x="4212962" y="200046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80C51E89-B39E-46EE-81DE-1B6B893F883B}"/>
              </a:ext>
            </a:extLst>
          </p:cNvPr>
          <p:cNvSpPr txBox="1"/>
          <p:nvPr/>
        </p:nvSpPr>
        <p:spPr>
          <a:xfrm>
            <a:off x="5339037" y="1666273"/>
            <a:ext cx="290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</a:t>
            </a:r>
            <a:r>
              <a:rPr kumimoji="0" sz="2400" b="1" i="0" u="none" strike="noStrike" kern="1200" cap="none" spc="0" normalizeH="0" baseline="-3125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</a:t>
            </a:r>
            <a:endParaRPr kumimoji="0" sz="2400" b="0" i="0" u="none" strike="noStrike" kern="1200" cap="none" spc="0" normalizeH="0" baseline="-3125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D3DC7AFF-E644-4D19-9B69-4877E00AF493}"/>
              </a:ext>
            </a:extLst>
          </p:cNvPr>
          <p:cNvSpPr txBox="1"/>
          <p:nvPr/>
        </p:nvSpPr>
        <p:spPr>
          <a:xfrm>
            <a:off x="6585714" y="1810397"/>
            <a:ext cx="290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</a:t>
            </a:r>
            <a:r>
              <a:rPr kumimoji="0" sz="2400" b="1" i="0" u="none" strike="noStrike" kern="1200" cap="none" spc="0" normalizeH="0" baseline="-3125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endParaRPr kumimoji="0" sz="2400" b="0" i="0" u="none" strike="noStrike" kern="1200" cap="none" spc="0" normalizeH="0" baseline="-3125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F7FD9D78-A8E3-4D80-AB1B-683CA3A58FA7}"/>
              </a:ext>
            </a:extLst>
          </p:cNvPr>
          <p:cNvSpPr/>
          <p:nvPr/>
        </p:nvSpPr>
        <p:spPr>
          <a:xfrm>
            <a:off x="3147418" y="3740836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192299" y="384599"/>
                </a:moveTo>
                <a:lnTo>
                  <a:pt x="148208" y="379520"/>
                </a:lnTo>
                <a:lnTo>
                  <a:pt x="107733" y="365052"/>
                </a:lnTo>
                <a:lnTo>
                  <a:pt x="72027" y="342351"/>
                </a:lnTo>
                <a:lnTo>
                  <a:pt x="42247" y="312571"/>
                </a:lnTo>
                <a:lnTo>
                  <a:pt x="19546" y="276866"/>
                </a:lnTo>
                <a:lnTo>
                  <a:pt x="5078" y="236390"/>
                </a:lnTo>
                <a:lnTo>
                  <a:pt x="0" y="192299"/>
                </a:lnTo>
                <a:lnTo>
                  <a:pt x="5078" y="148208"/>
                </a:lnTo>
                <a:lnTo>
                  <a:pt x="19546" y="107733"/>
                </a:lnTo>
                <a:lnTo>
                  <a:pt x="42247" y="72027"/>
                </a:lnTo>
                <a:lnTo>
                  <a:pt x="72027" y="42247"/>
                </a:lnTo>
                <a:lnTo>
                  <a:pt x="107733" y="19546"/>
                </a:lnTo>
                <a:lnTo>
                  <a:pt x="148208" y="5078"/>
                </a:lnTo>
                <a:lnTo>
                  <a:pt x="192299" y="0"/>
                </a:lnTo>
                <a:lnTo>
                  <a:pt x="229988" y="3727"/>
                </a:lnTo>
                <a:lnTo>
                  <a:pt x="298981" y="32305"/>
                </a:lnTo>
                <a:lnTo>
                  <a:pt x="352283" y="85607"/>
                </a:lnTo>
                <a:lnTo>
                  <a:pt x="380867" y="154607"/>
                </a:lnTo>
                <a:lnTo>
                  <a:pt x="384599" y="192299"/>
                </a:lnTo>
                <a:lnTo>
                  <a:pt x="379520" y="236390"/>
                </a:lnTo>
                <a:lnTo>
                  <a:pt x="365052" y="276866"/>
                </a:lnTo>
                <a:lnTo>
                  <a:pt x="342351" y="312571"/>
                </a:lnTo>
                <a:lnTo>
                  <a:pt x="312571" y="342351"/>
                </a:lnTo>
                <a:lnTo>
                  <a:pt x="276866" y="365052"/>
                </a:lnTo>
                <a:lnTo>
                  <a:pt x="236390" y="379520"/>
                </a:lnTo>
                <a:lnTo>
                  <a:pt x="192299" y="3845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6025A42C-AE9F-4FC1-A686-EBC6A69A04F3}"/>
              </a:ext>
            </a:extLst>
          </p:cNvPr>
          <p:cNvSpPr/>
          <p:nvPr/>
        </p:nvSpPr>
        <p:spPr>
          <a:xfrm>
            <a:off x="3147418" y="3740836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0" y="192299"/>
                </a:moveTo>
                <a:lnTo>
                  <a:pt x="5078" y="148208"/>
                </a:lnTo>
                <a:lnTo>
                  <a:pt x="19546" y="107733"/>
                </a:lnTo>
                <a:lnTo>
                  <a:pt x="42247" y="72027"/>
                </a:lnTo>
                <a:lnTo>
                  <a:pt x="72027" y="42247"/>
                </a:lnTo>
                <a:lnTo>
                  <a:pt x="107733" y="19546"/>
                </a:lnTo>
                <a:lnTo>
                  <a:pt x="148208" y="5078"/>
                </a:lnTo>
                <a:lnTo>
                  <a:pt x="192299" y="0"/>
                </a:lnTo>
                <a:lnTo>
                  <a:pt x="265883" y="14634"/>
                </a:lnTo>
                <a:lnTo>
                  <a:pt x="328274" y="56324"/>
                </a:lnTo>
                <a:lnTo>
                  <a:pt x="369955" y="118706"/>
                </a:lnTo>
                <a:lnTo>
                  <a:pt x="384599" y="192299"/>
                </a:lnTo>
                <a:lnTo>
                  <a:pt x="379520" y="236390"/>
                </a:lnTo>
                <a:lnTo>
                  <a:pt x="365052" y="276866"/>
                </a:lnTo>
                <a:lnTo>
                  <a:pt x="342351" y="312571"/>
                </a:lnTo>
                <a:lnTo>
                  <a:pt x="312571" y="342351"/>
                </a:lnTo>
                <a:lnTo>
                  <a:pt x="276866" y="365052"/>
                </a:lnTo>
                <a:lnTo>
                  <a:pt x="236390" y="379520"/>
                </a:lnTo>
                <a:lnTo>
                  <a:pt x="192299" y="384599"/>
                </a:lnTo>
                <a:lnTo>
                  <a:pt x="148208" y="379520"/>
                </a:lnTo>
                <a:lnTo>
                  <a:pt x="107733" y="365052"/>
                </a:lnTo>
                <a:lnTo>
                  <a:pt x="72027" y="342351"/>
                </a:lnTo>
                <a:lnTo>
                  <a:pt x="42247" y="312571"/>
                </a:lnTo>
                <a:lnTo>
                  <a:pt x="19546" y="276866"/>
                </a:lnTo>
                <a:lnTo>
                  <a:pt x="5078" y="236390"/>
                </a:lnTo>
                <a:lnTo>
                  <a:pt x="0" y="192299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82D7E0B5-84A6-44EB-AD73-40720ED117B0}"/>
              </a:ext>
            </a:extLst>
          </p:cNvPr>
          <p:cNvSpPr/>
          <p:nvPr/>
        </p:nvSpPr>
        <p:spPr>
          <a:xfrm>
            <a:off x="4227841" y="2844313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192299" y="384599"/>
                </a:moveTo>
                <a:lnTo>
                  <a:pt x="148208" y="379520"/>
                </a:lnTo>
                <a:lnTo>
                  <a:pt x="107733" y="365053"/>
                </a:lnTo>
                <a:lnTo>
                  <a:pt x="72027" y="342353"/>
                </a:lnTo>
                <a:lnTo>
                  <a:pt x="42247" y="312573"/>
                </a:lnTo>
                <a:lnTo>
                  <a:pt x="19546" y="276868"/>
                </a:lnTo>
                <a:lnTo>
                  <a:pt x="5078" y="236392"/>
                </a:lnTo>
                <a:lnTo>
                  <a:pt x="0" y="192299"/>
                </a:lnTo>
                <a:lnTo>
                  <a:pt x="5078" y="148206"/>
                </a:lnTo>
                <a:lnTo>
                  <a:pt x="19546" y="107730"/>
                </a:lnTo>
                <a:lnTo>
                  <a:pt x="42247" y="72025"/>
                </a:lnTo>
                <a:lnTo>
                  <a:pt x="72027" y="42245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29988" y="3729"/>
                </a:lnTo>
                <a:lnTo>
                  <a:pt x="298981" y="32308"/>
                </a:lnTo>
                <a:lnTo>
                  <a:pt x="352283" y="85611"/>
                </a:lnTo>
                <a:lnTo>
                  <a:pt x="380867" y="154609"/>
                </a:lnTo>
                <a:lnTo>
                  <a:pt x="384599" y="192299"/>
                </a:lnTo>
                <a:lnTo>
                  <a:pt x="379520" y="236392"/>
                </a:lnTo>
                <a:lnTo>
                  <a:pt x="365052" y="276868"/>
                </a:lnTo>
                <a:lnTo>
                  <a:pt x="342351" y="312573"/>
                </a:lnTo>
                <a:lnTo>
                  <a:pt x="312571" y="342353"/>
                </a:lnTo>
                <a:lnTo>
                  <a:pt x="276866" y="365053"/>
                </a:lnTo>
                <a:lnTo>
                  <a:pt x="236390" y="379520"/>
                </a:lnTo>
                <a:lnTo>
                  <a:pt x="192299" y="3845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1B74A665-E817-40EB-AD07-6D5D69859C9F}"/>
              </a:ext>
            </a:extLst>
          </p:cNvPr>
          <p:cNvSpPr/>
          <p:nvPr/>
        </p:nvSpPr>
        <p:spPr>
          <a:xfrm>
            <a:off x="4227841" y="2844313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0" y="192299"/>
                </a:moveTo>
                <a:lnTo>
                  <a:pt x="5078" y="148206"/>
                </a:lnTo>
                <a:lnTo>
                  <a:pt x="19546" y="107730"/>
                </a:lnTo>
                <a:lnTo>
                  <a:pt x="42247" y="72025"/>
                </a:lnTo>
                <a:lnTo>
                  <a:pt x="72027" y="42245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65883" y="14637"/>
                </a:lnTo>
                <a:lnTo>
                  <a:pt x="328274" y="56322"/>
                </a:lnTo>
                <a:lnTo>
                  <a:pt x="369955" y="118710"/>
                </a:lnTo>
                <a:lnTo>
                  <a:pt x="384599" y="192299"/>
                </a:lnTo>
                <a:lnTo>
                  <a:pt x="379520" y="236392"/>
                </a:lnTo>
                <a:lnTo>
                  <a:pt x="365052" y="276868"/>
                </a:lnTo>
                <a:lnTo>
                  <a:pt x="342351" y="312573"/>
                </a:lnTo>
                <a:lnTo>
                  <a:pt x="312571" y="342353"/>
                </a:lnTo>
                <a:lnTo>
                  <a:pt x="276866" y="365053"/>
                </a:lnTo>
                <a:lnTo>
                  <a:pt x="236390" y="379520"/>
                </a:lnTo>
                <a:lnTo>
                  <a:pt x="192299" y="384599"/>
                </a:lnTo>
                <a:lnTo>
                  <a:pt x="148208" y="379520"/>
                </a:lnTo>
                <a:lnTo>
                  <a:pt x="107733" y="365053"/>
                </a:lnTo>
                <a:lnTo>
                  <a:pt x="72027" y="342353"/>
                </a:lnTo>
                <a:lnTo>
                  <a:pt x="42247" y="312573"/>
                </a:lnTo>
                <a:lnTo>
                  <a:pt x="19546" y="276868"/>
                </a:lnTo>
                <a:lnTo>
                  <a:pt x="5078" y="236392"/>
                </a:lnTo>
                <a:lnTo>
                  <a:pt x="0" y="192299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FAC56AE5-2CEF-4149-9BF3-23F4480B51B4}"/>
              </a:ext>
            </a:extLst>
          </p:cNvPr>
          <p:cNvSpPr/>
          <p:nvPr/>
        </p:nvSpPr>
        <p:spPr>
          <a:xfrm>
            <a:off x="6098788" y="2238414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192299" y="384599"/>
                </a:moveTo>
                <a:lnTo>
                  <a:pt x="148208" y="379520"/>
                </a:lnTo>
                <a:lnTo>
                  <a:pt x="107733" y="365053"/>
                </a:lnTo>
                <a:lnTo>
                  <a:pt x="72027" y="342353"/>
                </a:lnTo>
                <a:lnTo>
                  <a:pt x="42247" y="312573"/>
                </a:lnTo>
                <a:lnTo>
                  <a:pt x="19546" y="276868"/>
                </a:lnTo>
                <a:lnTo>
                  <a:pt x="5078" y="236392"/>
                </a:lnTo>
                <a:lnTo>
                  <a:pt x="0" y="192299"/>
                </a:lnTo>
                <a:lnTo>
                  <a:pt x="5078" y="148206"/>
                </a:lnTo>
                <a:lnTo>
                  <a:pt x="19546" y="107730"/>
                </a:lnTo>
                <a:lnTo>
                  <a:pt x="42247" y="72025"/>
                </a:lnTo>
                <a:lnTo>
                  <a:pt x="72027" y="42245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29988" y="3729"/>
                </a:lnTo>
                <a:lnTo>
                  <a:pt x="298981" y="32308"/>
                </a:lnTo>
                <a:lnTo>
                  <a:pt x="352283" y="85611"/>
                </a:lnTo>
                <a:lnTo>
                  <a:pt x="380867" y="154609"/>
                </a:lnTo>
                <a:lnTo>
                  <a:pt x="384599" y="192299"/>
                </a:lnTo>
                <a:lnTo>
                  <a:pt x="379520" y="236392"/>
                </a:lnTo>
                <a:lnTo>
                  <a:pt x="365052" y="276868"/>
                </a:lnTo>
                <a:lnTo>
                  <a:pt x="342351" y="312573"/>
                </a:lnTo>
                <a:lnTo>
                  <a:pt x="312571" y="342353"/>
                </a:lnTo>
                <a:lnTo>
                  <a:pt x="276866" y="365053"/>
                </a:lnTo>
                <a:lnTo>
                  <a:pt x="236390" y="379520"/>
                </a:lnTo>
                <a:lnTo>
                  <a:pt x="192299" y="3845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109E978A-F035-4CBF-8C5D-27F4239C1925}"/>
              </a:ext>
            </a:extLst>
          </p:cNvPr>
          <p:cNvSpPr/>
          <p:nvPr/>
        </p:nvSpPr>
        <p:spPr>
          <a:xfrm>
            <a:off x="6098787" y="2238414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0" y="192299"/>
                </a:moveTo>
                <a:lnTo>
                  <a:pt x="5078" y="148206"/>
                </a:lnTo>
                <a:lnTo>
                  <a:pt x="19546" y="107730"/>
                </a:lnTo>
                <a:lnTo>
                  <a:pt x="42247" y="72025"/>
                </a:lnTo>
                <a:lnTo>
                  <a:pt x="72027" y="42245"/>
                </a:lnTo>
                <a:lnTo>
                  <a:pt x="107733" y="19545"/>
                </a:lnTo>
                <a:lnTo>
                  <a:pt x="148208" y="5078"/>
                </a:lnTo>
                <a:lnTo>
                  <a:pt x="192299" y="0"/>
                </a:lnTo>
                <a:lnTo>
                  <a:pt x="265883" y="14637"/>
                </a:lnTo>
                <a:lnTo>
                  <a:pt x="328274" y="56322"/>
                </a:lnTo>
                <a:lnTo>
                  <a:pt x="369955" y="118710"/>
                </a:lnTo>
                <a:lnTo>
                  <a:pt x="384599" y="192299"/>
                </a:lnTo>
                <a:lnTo>
                  <a:pt x="379520" y="236392"/>
                </a:lnTo>
                <a:lnTo>
                  <a:pt x="365052" y="276868"/>
                </a:lnTo>
                <a:lnTo>
                  <a:pt x="342351" y="312573"/>
                </a:lnTo>
                <a:lnTo>
                  <a:pt x="312571" y="342353"/>
                </a:lnTo>
                <a:lnTo>
                  <a:pt x="276866" y="365053"/>
                </a:lnTo>
                <a:lnTo>
                  <a:pt x="236390" y="379520"/>
                </a:lnTo>
                <a:lnTo>
                  <a:pt x="192299" y="384599"/>
                </a:lnTo>
                <a:lnTo>
                  <a:pt x="148208" y="379520"/>
                </a:lnTo>
                <a:lnTo>
                  <a:pt x="107733" y="365053"/>
                </a:lnTo>
                <a:lnTo>
                  <a:pt x="72027" y="342353"/>
                </a:lnTo>
                <a:lnTo>
                  <a:pt x="42247" y="312573"/>
                </a:lnTo>
                <a:lnTo>
                  <a:pt x="19546" y="276868"/>
                </a:lnTo>
                <a:lnTo>
                  <a:pt x="5078" y="236392"/>
                </a:lnTo>
                <a:lnTo>
                  <a:pt x="0" y="192299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F17CA0AE-D920-40C5-811C-EA9A628E8D8E}"/>
              </a:ext>
            </a:extLst>
          </p:cNvPr>
          <p:cNvSpPr txBox="1"/>
          <p:nvPr/>
        </p:nvSpPr>
        <p:spPr>
          <a:xfrm>
            <a:off x="1523793" y="4371960"/>
            <a:ext cx="5258435" cy="1504899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</a:p>
          <a:p>
            <a:pPr marL="690245" marR="0" lvl="0" indent="0" algn="l" defTabSz="914400" rtl="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690245" marR="0" lvl="0" indent="0" algn="l" defTabSz="914400" rtl="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Regularization pushes against fitting the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data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690245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too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well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don’t fit noise in the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data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71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9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726123" y="4818962"/>
            <a:ext cx="5941695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 to maximize the log likelihood, or (for a loss function)  to minimize the negative log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likelihood of the correct</a:t>
            </a:r>
            <a:r>
              <a:rPr kumimoji="0" sz="1800" b="0" i="0" u="none" strike="noStrike" kern="1200" cap="none" spc="13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class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58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cat  car  frog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-1.7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28542" y="5443301"/>
            <a:ext cx="3801042" cy="442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23768" y="5438525"/>
            <a:ext cx="3810635" cy="452120"/>
          </a:xfrm>
          <a:custGeom>
            <a:avLst/>
            <a:gdLst/>
            <a:ahLst/>
            <a:cxnLst/>
            <a:rect l="l" t="t" r="r" b="b"/>
            <a:pathLst>
              <a:path w="3810634" h="452120">
                <a:moveTo>
                  <a:pt x="0" y="0"/>
                </a:moveTo>
                <a:lnTo>
                  <a:pt x="3810592" y="0"/>
                </a:lnTo>
                <a:lnTo>
                  <a:pt x="3810592" y="451699"/>
                </a:lnTo>
                <a:lnTo>
                  <a:pt x="0" y="451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19879" y="2485316"/>
            <a:ext cx="1784893" cy="3554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94459" y="2457163"/>
            <a:ext cx="1794510" cy="365125"/>
          </a:xfrm>
          <a:custGeom>
            <a:avLst/>
            <a:gdLst/>
            <a:ahLst/>
            <a:cxnLst/>
            <a:rect l="l" t="t" r="r" b="b"/>
            <a:pathLst>
              <a:path w="1794509" h="365125">
                <a:moveTo>
                  <a:pt x="0" y="0"/>
                </a:moveTo>
                <a:lnTo>
                  <a:pt x="1794396" y="0"/>
                </a:lnTo>
                <a:lnTo>
                  <a:pt x="1794396" y="365024"/>
                </a:lnTo>
                <a:lnTo>
                  <a:pt x="0" y="3650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26123" y="1959528"/>
            <a:ext cx="5970905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 = unnormalized log probabilities of the</a:t>
            </a:r>
            <a:r>
              <a:rPr kumimoji="0" sz="1800" b="1" i="0" u="none" strike="noStrike" kern="1200" cap="none" spc="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classes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07061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			</a:t>
            </a:r>
          </a:p>
          <a:p>
            <a:pPr marL="107061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07061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07061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07061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90826" y="3233665"/>
            <a:ext cx="5420911" cy="9244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90826" y="3212407"/>
            <a:ext cx="5439064" cy="943278"/>
          </a:xfrm>
          <a:custGeom>
            <a:avLst/>
            <a:gdLst/>
            <a:ahLst/>
            <a:cxnLst/>
            <a:rect l="l" t="t" r="r" b="b"/>
            <a:pathLst>
              <a:path w="2896235" h="502285">
                <a:moveTo>
                  <a:pt x="0" y="0"/>
                </a:moveTo>
                <a:lnTo>
                  <a:pt x="2896094" y="0"/>
                </a:lnTo>
                <a:lnTo>
                  <a:pt x="2896094" y="501761"/>
                </a:lnTo>
                <a:lnTo>
                  <a:pt x="0" y="50176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loss: Cross-entropy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604084"/>
            <a:ext cx="1890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FBEE33-1031-4411-A31F-5CF6B48B740B}"/>
              </a:ext>
            </a:extLst>
          </p:cNvPr>
          <p:cNvSpPr/>
          <p:nvPr/>
        </p:nvSpPr>
        <p:spPr bwMode="auto">
          <a:xfrm>
            <a:off x="5194169" y="5443301"/>
            <a:ext cx="2307134" cy="452120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6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58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cat  car  frog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799" y="5058824"/>
            <a:ext cx="30486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unnormalized log</a:t>
            </a:r>
            <a:r>
              <a:rPr kumimoji="0" sz="1800" b="0" i="0" u="none" strike="noStrike" kern="1200" cap="none" spc="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probabilities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7338" y="3318856"/>
            <a:ext cx="995044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24.5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889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164.0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75565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0.18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72648" y="3263120"/>
          <a:ext cx="1689295" cy="1670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5198">
                <a:tc rowSpan="2"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000" b="1" spc="-5" dirty="0">
                          <a:latin typeface="Garamond" panose="02020404030301010803" pitchFamily="18" charset="0"/>
                          <a:cs typeface="Arial"/>
                        </a:rPr>
                        <a:t>3.2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R="1524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5.1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  <a:p>
                      <a:pPr marR="4064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Garamond" panose="02020404030301010803" pitchFamily="18" charset="0"/>
                          <a:cs typeface="Arial"/>
                        </a:rPr>
                        <a:t>-1.7</a:t>
                      </a:r>
                      <a:endParaRPr sz="30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168275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800" spc="-5" dirty="0">
                          <a:latin typeface="Garamond" panose="02020404030301010803" pitchFamily="18" charset="0"/>
                          <a:cs typeface="Arial"/>
                        </a:rPr>
                        <a:t>exp</a:t>
                      </a:r>
                      <a:endParaRPr sz="18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B w="19049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1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T w="19049">
                      <a:solidFill>
                        <a:srgbClr val="66666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37966" y="1824086"/>
            <a:ext cx="2614019" cy="6575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71469" y="407636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49"/>
                </a:moveTo>
                <a:lnTo>
                  <a:pt x="86449" y="31474"/>
                </a:lnTo>
                <a:lnTo>
                  <a:pt x="0" y="0"/>
                </a:lnTo>
                <a:lnTo>
                  <a:pt x="0" y="629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63368" y="3272646"/>
            <a:ext cx="1062990" cy="1670685"/>
          </a:xfrm>
          <a:custGeom>
            <a:avLst/>
            <a:gdLst/>
            <a:ahLst/>
            <a:cxnLst/>
            <a:rect l="l" t="t" r="r" b="b"/>
            <a:pathLst>
              <a:path w="1062989" h="1670685">
                <a:moveTo>
                  <a:pt x="0" y="0"/>
                </a:moveTo>
                <a:lnTo>
                  <a:pt x="1062897" y="0"/>
                </a:lnTo>
                <a:lnTo>
                  <a:pt x="1062897" y="1670396"/>
                </a:lnTo>
                <a:lnTo>
                  <a:pt x="0" y="167039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26266" y="4107843"/>
            <a:ext cx="967105" cy="0"/>
          </a:xfrm>
          <a:custGeom>
            <a:avLst/>
            <a:gdLst/>
            <a:ahLst/>
            <a:cxnLst/>
            <a:rect l="l" t="t" r="r" b="b"/>
            <a:pathLst>
              <a:path w="967104">
                <a:moveTo>
                  <a:pt x="0" y="0"/>
                </a:moveTo>
                <a:lnTo>
                  <a:pt x="966598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92864" y="407636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49"/>
                </a:moveTo>
                <a:lnTo>
                  <a:pt x="86449" y="31474"/>
                </a:lnTo>
                <a:lnTo>
                  <a:pt x="0" y="0"/>
                </a:lnTo>
                <a:lnTo>
                  <a:pt x="0" y="629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4791" y="3704400"/>
            <a:ext cx="10166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normalize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4695" y="5577172"/>
            <a:ext cx="26803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unnormalized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probabilities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25563" y="3272646"/>
            <a:ext cx="1062990" cy="1575431"/>
          </a:xfrm>
          <a:prstGeom prst="rect">
            <a:avLst/>
          </a:prstGeom>
          <a:ln w="19049">
            <a:solidFill>
              <a:srgbClr val="38751C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69545" marR="0" lvl="0" indent="0" algn="l" defTabSz="914400" rtl="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0.13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69545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0.87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69545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0.00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37436" y="5058824"/>
            <a:ext cx="12452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probabilities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42561" y="3578494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5">
                <a:moveTo>
                  <a:pt x="0" y="0"/>
                </a:moveTo>
                <a:lnTo>
                  <a:pt x="1702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12811" y="3562769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5" h="31750">
                <a:moveTo>
                  <a:pt x="0" y="31449"/>
                </a:moveTo>
                <a:lnTo>
                  <a:pt x="43224" y="15724"/>
                </a:lnTo>
                <a:lnTo>
                  <a:pt x="0" y="0"/>
                </a:lnTo>
                <a:lnTo>
                  <a:pt x="0" y="314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20382" y="3356055"/>
            <a:ext cx="1739900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L_i =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-log(0.13)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43434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0.89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loss: Cross-entropy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1" y="6604084"/>
            <a:ext cx="2545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Fei-Fei, Johnson, Yeung</a:t>
            </a:r>
          </a:p>
        </p:txBody>
      </p:sp>
      <p:sp>
        <p:nvSpPr>
          <p:cNvPr id="22" name="object 24">
            <a:extLst>
              <a:ext uri="{FF2B5EF4-FFF2-40B4-BE49-F238E27FC236}">
                <a16:creationId xmlns:a16="http://schemas.microsoft.com/office/drawing/2014/main" id="{E2622C0E-B770-4D9D-B8E4-B80A74E98A3C}"/>
              </a:ext>
            </a:extLst>
          </p:cNvPr>
          <p:cNvSpPr txBox="1"/>
          <p:nvPr/>
        </p:nvSpPr>
        <p:spPr>
          <a:xfrm>
            <a:off x="3361690" y="2728167"/>
            <a:ext cx="121031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lvl="0" indent="39370" algn="l" defTabSz="914400" rtl="0" eaLnBrk="1" fontAlgn="auto" latinLnBrk="0" hangingPunct="1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Probabilities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must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 &gt;=</a:t>
            </a:r>
            <a:r>
              <a:rPr kumimoji="0" sz="16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5">
            <a:extLst>
              <a:ext uri="{FF2B5EF4-FFF2-40B4-BE49-F238E27FC236}">
                <a16:creationId xmlns:a16="http://schemas.microsoft.com/office/drawing/2014/main" id="{4DE860F6-B784-411C-B9A9-AE81861FA901}"/>
              </a:ext>
            </a:extLst>
          </p:cNvPr>
          <p:cNvSpPr txBox="1"/>
          <p:nvPr/>
        </p:nvSpPr>
        <p:spPr>
          <a:xfrm>
            <a:off x="5703937" y="2692406"/>
            <a:ext cx="130048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lvl="0" indent="84455" algn="l" defTabSz="914400" rtl="0" eaLnBrk="1" fontAlgn="auto" latinLnBrk="0" hangingPunct="1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Probabilities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must sum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</a:t>
            </a:r>
            <a:r>
              <a:rPr kumimoji="0" sz="1600" b="0" i="0" u="none" strike="noStrike" kern="1200" cap="none" spc="-11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34">
            <a:extLst>
              <a:ext uri="{FF2B5EF4-FFF2-40B4-BE49-F238E27FC236}">
                <a16:creationId xmlns:a16="http://schemas.microsoft.com/office/drawing/2014/main" id="{1B80309F-1CC8-4541-B700-E90EA0601434}"/>
              </a:ext>
            </a:extLst>
          </p:cNvPr>
          <p:cNvSpPr txBox="1"/>
          <p:nvPr/>
        </p:nvSpPr>
        <p:spPr>
          <a:xfrm>
            <a:off x="3355435" y="5981051"/>
            <a:ext cx="5333823" cy="84106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1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Aside:</a:t>
            </a:r>
          </a:p>
          <a:p>
            <a:pPr marL="12700" marR="5080" lvl="0" indent="0" algn="l" defTabSz="914400" rtl="0" eaLnBrk="1" fontAlgn="auto" latinLnBrk="0" hangingPunct="1">
              <a:lnSpc>
                <a:spcPct val="101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is multinomial logistic regression</a:t>
            </a:r>
          </a:p>
          <a:p>
            <a:pPr marL="12700" marR="5080" lvl="0" indent="0" algn="l" defTabSz="914400" rtl="0" eaLnBrk="1" fontAlgn="auto" latinLnBrk="0" hangingPunct="1">
              <a:lnSpc>
                <a:spcPct val="101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 </a:t>
            </a:r>
            <a:r>
              <a:rPr kumimoji="0" sz="13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Choose weights to 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maximize </a:t>
            </a:r>
            <a:r>
              <a:rPr kumimoji="0" sz="13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likelihood of the observed </a:t>
            </a:r>
            <a:r>
              <a:rPr kumimoji="0" lang="en-US" sz="13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x/y </a:t>
            </a:r>
            <a:r>
              <a:rPr kumimoji="0" sz="13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data</a:t>
            </a:r>
            <a:r>
              <a:rPr kumimoji="0" lang="en-US" sz="13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(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Maximum </a:t>
            </a:r>
            <a:r>
              <a:rPr kumimoji="0" lang="en-US" sz="13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Likelihood</a:t>
            </a:r>
            <a:r>
              <a:rPr kumimoji="0" lang="en-US" sz="13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lang="en-US" sz="13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Estimation)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4634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6A55-2270-4CEE-99B4-D2D6E721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losses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894580-A562-4E12-886C-07FA1E1CA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Triplet loss (</a:t>
            </a:r>
            <a:r>
              <a:rPr lang="en-US" dirty="0" err="1"/>
              <a:t>Schroff</a:t>
            </a:r>
            <a:r>
              <a:rPr lang="en-US" dirty="0"/>
              <a:t>, </a:t>
            </a:r>
            <a:r>
              <a:rPr lang="en-US" dirty="0" err="1"/>
              <a:t>FaceNet</a:t>
            </a:r>
            <a:r>
              <a:rPr lang="en-US" dirty="0"/>
              <a:t>, CVPR 2015)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Anything you want! (almost)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4310" t="38690" r="24655" b="52759"/>
          <a:stretch/>
        </p:blipFill>
        <p:spPr>
          <a:xfrm>
            <a:off x="2378063" y="1505143"/>
            <a:ext cx="4387874" cy="7556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810" t="47932" r="58104" b="28069"/>
          <a:stretch/>
        </p:blipFill>
        <p:spPr>
          <a:xfrm>
            <a:off x="2091633" y="2556171"/>
            <a:ext cx="4960735" cy="21208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196" y="1594446"/>
            <a:ext cx="115448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 denotes anchor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p denotes positive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 denotes negative</a:t>
            </a:r>
          </a:p>
        </p:txBody>
      </p:sp>
    </p:spTree>
    <p:extLst>
      <p:ext uri="{BB962C8B-B14F-4D97-AF65-F5344CB8AC3E}">
        <p14:creationId xmlns:p14="http://schemas.microsoft.com/office/powerpoint/2010/main" val="268652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A38-ECC2-486F-9EE0-CCAEBDAF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0"/>
          </a:xfrm>
        </p:spPr>
        <p:txBody>
          <a:bodyPr/>
          <a:lstStyle/>
          <a:p>
            <a:r>
              <a:rPr lang="en-US" dirty="0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2334635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minimize loss, use gradient descent</a:t>
            </a:r>
          </a:p>
        </p:txBody>
      </p:sp>
      <p:sp>
        <p:nvSpPr>
          <p:cNvPr id="3" name="object 4"/>
          <p:cNvSpPr/>
          <p:nvPr/>
        </p:nvSpPr>
        <p:spPr>
          <a:xfrm>
            <a:off x="685800" y="1442755"/>
            <a:ext cx="7209285" cy="45139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1063112" y="3429000"/>
            <a:ext cx="548698" cy="7344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604084"/>
            <a:ext cx="10631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D2D39E77-17E6-E902-C608-33D83CFC7B14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1611810" y="3796237"/>
            <a:ext cx="3313758" cy="1446323"/>
          </a:xfrm>
          <a:prstGeom prst="curvedConnector3">
            <a:avLst>
              <a:gd name="adj1" fmla="val 32340"/>
            </a:avLst>
          </a:prstGeom>
          <a:solidFill>
            <a:schemeClr val="accent1"/>
          </a:solidFill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233858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minimize the loss function? 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547649" y="1783180"/>
            <a:ext cx="58324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 1-dimension, the derivative of a</a:t>
            </a:r>
            <a:r>
              <a:rPr kumimoji="0" sz="24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function: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6"/>
          <p:cNvSpPr/>
          <p:nvPr/>
        </p:nvSpPr>
        <p:spPr>
          <a:xfrm>
            <a:off x="2053520" y="2850220"/>
            <a:ext cx="3638542" cy="857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7"/>
          <p:cNvSpPr txBox="1"/>
          <p:nvPr/>
        </p:nvSpPr>
        <p:spPr>
          <a:xfrm>
            <a:off x="382999" y="4565203"/>
            <a:ext cx="8109584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 multiple dimensions, the 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gradient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vector of (partial</a:t>
            </a:r>
            <a:r>
              <a:rPr kumimoji="0" sz="20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derivatives).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604084"/>
            <a:ext cx="10631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116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gradients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Denoted as (diff notations):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i.e. how does the loss change as a function of the weights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want to change the weights in such a way that makes the loss decrease as fast as possible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/>
          <a:srcRect r="80363"/>
          <a:stretch/>
        </p:blipFill>
        <p:spPr>
          <a:xfrm>
            <a:off x="5998778" y="914400"/>
            <a:ext cx="961696" cy="1032743"/>
          </a:xfrm>
          <a:prstGeom prst="rect">
            <a:avLst/>
          </a:prstGeom>
        </p:spPr>
      </p:pic>
      <p:sp>
        <p:nvSpPr>
          <p:cNvPr id="5" name="object 8"/>
          <p:cNvSpPr/>
          <p:nvPr/>
        </p:nvSpPr>
        <p:spPr>
          <a:xfrm>
            <a:off x="7391343" y="1233972"/>
            <a:ext cx="867588" cy="393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pic>
        <p:nvPicPr>
          <p:cNvPr id="1026" name="Picture 2" descr="https://upload.wikimedia.org/wikipedia/commons/thumb/d/d2/Tangent-calculus.svg/823px-Tangent-calculus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3767020"/>
            <a:ext cx="3942639" cy="280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 bwMode="auto">
          <a:xfrm>
            <a:off x="6560175" y="1152412"/>
            <a:ext cx="161509" cy="16150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546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current</a:t>
            </a:r>
            <a:r>
              <a:rPr kumimoji="0" sz="2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gradient</a:t>
            </a:r>
            <a:r>
              <a:rPr kumimoji="0" sz="2400" b="1" i="0" u="none" strike="noStrike" kern="120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6311" y="1739805"/>
            <a:ext cx="6686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716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912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current</a:t>
            </a:r>
            <a:r>
              <a:rPr kumimoji="0" sz="2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4644" y="968081"/>
            <a:ext cx="23031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 + h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(first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dim)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4643" y="1691981"/>
            <a:ext cx="2067560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 +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0.0001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1.25322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716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gradient</a:t>
            </a:r>
            <a:r>
              <a:rPr kumimoji="0" sz="2400" b="1" i="0" u="none" strike="noStrike" kern="120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76311" y="1739805"/>
            <a:ext cx="6686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4256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gradient</a:t>
            </a:r>
            <a:r>
              <a:rPr kumimoji="0" sz="2400" b="1" i="0" u="none" strike="noStrike" kern="120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0" y="1739805"/>
            <a:ext cx="720090" cy="11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-2.5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8638" y="2871897"/>
            <a:ext cx="3394710" cy="1429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9955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909955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909955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909955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6311" y="4273450"/>
            <a:ext cx="66865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78638" y="2871897"/>
            <a:ext cx="3394710" cy="1490345"/>
          </a:xfrm>
          <a:custGeom>
            <a:avLst/>
            <a:gdLst/>
            <a:ahLst/>
            <a:cxnLst/>
            <a:rect l="l" t="t" r="r" b="b"/>
            <a:pathLst>
              <a:path w="3394709" h="1490345">
                <a:moveTo>
                  <a:pt x="0" y="0"/>
                </a:moveTo>
                <a:lnTo>
                  <a:pt x="3394493" y="0"/>
                </a:lnTo>
                <a:lnTo>
                  <a:pt x="3394493" y="1489796"/>
                </a:lnTo>
                <a:lnTo>
                  <a:pt x="0" y="14897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81387" y="3633895"/>
            <a:ext cx="2289970" cy="5395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71863" y="3624369"/>
            <a:ext cx="2309495" cy="558800"/>
          </a:xfrm>
          <a:custGeom>
            <a:avLst/>
            <a:gdLst/>
            <a:ahLst/>
            <a:cxnLst/>
            <a:rect l="l" t="t" r="r" b="b"/>
            <a:pathLst>
              <a:path w="2309495" h="558800">
                <a:moveTo>
                  <a:pt x="0" y="0"/>
                </a:moveTo>
                <a:lnTo>
                  <a:pt x="2309020" y="0"/>
                </a:lnTo>
                <a:lnTo>
                  <a:pt x="2309020" y="558573"/>
                </a:lnTo>
                <a:lnTo>
                  <a:pt x="0" y="55857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8638" y="2871897"/>
            <a:ext cx="3394710" cy="67518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80645" marR="0" lvl="0" indent="0" algn="l" defTabSz="914400" rtl="0" eaLnBrk="1" fontAlgn="auto" latinLnBrk="0" hangingPunct="1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1.25322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)/0.0001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8064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r>
              <a:rPr kumimoji="0" sz="2000" b="0" i="0" u="none" strike="noStrike" kern="1200" cap="none" spc="-8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-2.5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90485" y="2223237"/>
            <a:ext cx="666750" cy="637540"/>
          </a:xfrm>
          <a:custGeom>
            <a:avLst/>
            <a:gdLst/>
            <a:ahLst/>
            <a:cxnLst/>
            <a:rect l="l" t="t" r="r" b="b"/>
            <a:pathLst>
              <a:path w="666750" h="637539">
                <a:moveTo>
                  <a:pt x="666398" y="637008"/>
                </a:move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59261" y="2193370"/>
            <a:ext cx="42545" cy="41275"/>
          </a:xfrm>
          <a:custGeom>
            <a:avLst/>
            <a:gdLst/>
            <a:ahLst/>
            <a:cxnLst/>
            <a:rect l="l" t="t" r="r" b="b"/>
            <a:pathLst>
              <a:path w="42545" h="41275">
                <a:moveTo>
                  <a:pt x="42099" y="18494"/>
                </a:moveTo>
                <a:lnTo>
                  <a:pt x="0" y="0"/>
                </a:lnTo>
                <a:lnTo>
                  <a:pt x="20374" y="41239"/>
                </a:lnTo>
                <a:lnTo>
                  <a:pt x="42099" y="1849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4649" y="970694"/>
            <a:ext cx="89347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/>
            <a:r>
              <a:rPr sz="2400" b="1" spc="-5" dirty="0"/>
              <a:t>current</a:t>
            </a:r>
            <a:r>
              <a:rPr sz="2400" b="1" spc="-70" dirty="0"/>
              <a:t> </a:t>
            </a:r>
            <a:r>
              <a:rPr sz="2400" b="1" spc="-5" dirty="0"/>
              <a:t>W:</a:t>
            </a:r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84644" y="968081"/>
            <a:ext cx="23031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 + h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(first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dim)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84643" y="1691981"/>
            <a:ext cx="2067560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 +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0.0001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1.25322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716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6299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gradient</a:t>
            </a:r>
            <a:r>
              <a:rPr kumimoji="0" sz="2400" b="1" i="0" u="none" strike="noStrike" kern="120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1" y="1739805"/>
            <a:ext cx="7194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[-2.5,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current</a:t>
            </a:r>
            <a:r>
              <a:rPr kumimoji="0" sz="2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9845" y="968081"/>
            <a:ext cx="27946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 + h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(second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dim)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9845" y="1691981"/>
            <a:ext cx="208470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 +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0.0001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1.25353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240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170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gradient</a:t>
            </a:r>
            <a:r>
              <a:rPr kumimoji="0" sz="2400" b="1" i="0" u="none" strike="noStrike" kern="120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1" y="1739806"/>
            <a:ext cx="719455" cy="1487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[-2.5,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0.6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8638" y="3176696"/>
            <a:ext cx="3394710" cy="1490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09955" marR="0" lvl="0" indent="0" algn="l" defTabSz="914400" rtl="0" eaLnBrk="1" fontAlgn="auto" latinLnBrk="0" hangingPunct="1">
              <a:lnSpc>
                <a:spcPts val="2865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909955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909955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909955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6311" y="4635400"/>
            <a:ext cx="6686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78638" y="3176696"/>
            <a:ext cx="3394710" cy="1490345"/>
          </a:xfrm>
          <a:custGeom>
            <a:avLst/>
            <a:gdLst/>
            <a:ahLst/>
            <a:cxnLst/>
            <a:rect l="l" t="t" r="r" b="b"/>
            <a:pathLst>
              <a:path w="3394709" h="1490345">
                <a:moveTo>
                  <a:pt x="0" y="0"/>
                </a:moveTo>
                <a:lnTo>
                  <a:pt x="3394493" y="0"/>
                </a:lnTo>
                <a:lnTo>
                  <a:pt x="3394493" y="1489796"/>
                </a:lnTo>
                <a:lnTo>
                  <a:pt x="0" y="14897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81387" y="3938694"/>
            <a:ext cx="2289970" cy="5395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71863" y="3929168"/>
            <a:ext cx="2309495" cy="558800"/>
          </a:xfrm>
          <a:custGeom>
            <a:avLst/>
            <a:gdLst/>
            <a:ahLst/>
            <a:cxnLst/>
            <a:rect l="l" t="t" r="r" b="b"/>
            <a:pathLst>
              <a:path w="2309495" h="558800">
                <a:moveTo>
                  <a:pt x="0" y="0"/>
                </a:moveTo>
                <a:lnTo>
                  <a:pt x="2309020" y="0"/>
                </a:lnTo>
                <a:lnTo>
                  <a:pt x="2309020" y="558573"/>
                </a:lnTo>
                <a:lnTo>
                  <a:pt x="0" y="55857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04436" y="2369594"/>
            <a:ext cx="329565" cy="665480"/>
          </a:xfrm>
          <a:custGeom>
            <a:avLst/>
            <a:gdLst/>
            <a:ahLst/>
            <a:cxnLst/>
            <a:rect l="l" t="t" r="r" b="b"/>
            <a:pathLst>
              <a:path w="329565" h="665480">
                <a:moveTo>
                  <a:pt x="329249" y="665476"/>
                </a:move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85261" y="2330852"/>
            <a:ext cx="33655" cy="45720"/>
          </a:xfrm>
          <a:custGeom>
            <a:avLst/>
            <a:gdLst/>
            <a:ahLst/>
            <a:cxnLst/>
            <a:rect l="l" t="t" r="r" b="b"/>
            <a:pathLst>
              <a:path w="33654" h="45719">
                <a:moveTo>
                  <a:pt x="33274" y="31767"/>
                </a:moveTo>
                <a:lnTo>
                  <a:pt x="0" y="0"/>
                </a:lnTo>
                <a:lnTo>
                  <a:pt x="5074" y="45719"/>
                </a:lnTo>
                <a:lnTo>
                  <a:pt x="33274" y="31767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4649" y="970694"/>
            <a:ext cx="89347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/>
            <a:r>
              <a:rPr sz="2400" b="1" spc="-5" dirty="0"/>
              <a:t>current</a:t>
            </a:r>
            <a:r>
              <a:rPr sz="2400" b="1" spc="-70" dirty="0"/>
              <a:t> </a:t>
            </a:r>
            <a:r>
              <a:rPr sz="2400" b="1" spc="-5" dirty="0"/>
              <a:t>W:</a:t>
            </a:r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9845" y="968081"/>
            <a:ext cx="27946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 + h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(second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dim)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79845" y="1691981"/>
            <a:ext cx="208470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 +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0.0001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1.25353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240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78638" y="3176696"/>
            <a:ext cx="3394710" cy="67518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80645" marR="0" lvl="0" indent="0" algn="l" defTabSz="914400" rtl="0" eaLnBrk="1" fontAlgn="auto" latinLnBrk="0" hangingPunct="1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1.25353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)/0.0001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8064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0.6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6123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gradient</a:t>
            </a:r>
            <a:r>
              <a:rPr kumimoji="0" sz="2400" b="1" i="0" u="none" strike="noStrike" kern="120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1" y="1739805"/>
            <a:ext cx="7194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[-2.5,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0.6,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current</a:t>
            </a:r>
            <a:r>
              <a:rPr kumimoji="0" sz="2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9845" y="968081"/>
            <a:ext cx="24047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 + h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(third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dim)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9845" y="1691981"/>
            <a:ext cx="198310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 +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0.0001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240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886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649" y="970695"/>
            <a:ext cx="8934700" cy="654655"/>
          </a:xfrm>
          <a:prstGeom prst="rect">
            <a:avLst/>
          </a:prstGeom>
        </p:spPr>
        <p:txBody>
          <a:bodyPr vert="horz" wrap="square" lIns="0" tIns="191124" rIns="0" bIns="0" rtlCol="0">
            <a:spAutoFit/>
          </a:bodyPr>
          <a:lstStyle/>
          <a:p>
            <a:pPr marL="392430"/>
            <a:r>
              <a:rPr spc="-5" dirty="0"/>
              <a:t>This is silly. The loss is just a function of</a:t>
            </a:r>
            <a:r>
              <a:rPr spc="50" dirty="0"/>
              <a:t> </a:t>
            </a:r>
            <a:r>
              <a:rPr spc="-5" dirty="0"/>
              <a:t>W:</a:t>
            </a:r>
          </a:p>
        </p:txBody>
      </p:sp>
      <p:sp>
        <p:nvSpPr>
          <p:cNvPr id="5" name="object 5"/>
          <p:cNvSpPr/>
          <p:nvPr/>
        </p:nvSpPr>
        <p:spPr>
          <a:xfrm>
            <a:off x="475299" y="2417521"/>
            <a:ext cx="4459816" cy="478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5299" y="2973296"/>
            <a:ext cx="2606244" cy="4306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6598" y="1779449"/>
            <a:ext cx="3443718" cy="5604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53914" y="2334098"/>
            <a:ext cx="3529267" cy="30492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64045" y="2929731"/>
            <a:ext cx="2747645" cy="1279525"/>
          </a:xfrm>
          <a:custGeom>
            <a:avLst/>
            <a:gdLst/>
            <a:ahLst/>
            <a:cxnLst/>
            <a:rect l="l" t="t" r="r" b="b"/>
            <a:pathLst>
              <a:path w="2747645" h="1279525">
                <a:moveTo>
                  <a:pt x="0" y="1279012"/>
                </a:moveTo>
                <a:lnTo>
                  <a:pt x="2747144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84639" y="2856757"/>
            <a:ext cx="183515" cy="130175"/>
          </a:xfrm>
          <a:custGeom>
            <a:avLst/>
            <a:gdLst/>
            <a:ahLst/>
            <a:cxnLst/>
            <a:rect l="l" t="t" r="r" b="b"/>
            <a:pathLst>
              <a:path w="183514" h="130175">
                <a:moveTo>
                  <a:pt x="53124" y="130027"/>
                </a:moveTo>
                <a:lnTo>
                  <a:pt x="183299" y="0"/>
                </a:lnTo>
                <a:lnTo>
                  <a:pt x="0" y="15924"/>
                </a:lnTo>
                <a:lnTo>
                  <a:pt x="53124" y="13002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71847" y="3654870"/>
            <a:ext cx="867588" cy="3935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448" y="3630105"/>
            <a:ext cx="3342640" cy="1138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86880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Calculus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8"/>
          <p:cNvSpPr/>
          <p:nvPr/>
        </p:nvSpPr>
        <p:spPr>
          <a:xfrm>
            <a:off x="2284021" y="5278439"/>
            <a:ext cx="867588" cy="3935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9"/>
          <p:cNvSpPr txBox="1"/>
          <p:nvPr/>
        </p:nvSpPr>
        <p:spPr>
          <a:xfrm>
            <a:off x="3274467" y="5291567"/>
            <a:ext cx="5410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...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79156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gradient</a:t>
            </a:r>
            <a:r>
              <a:rPr kumimoji="0" sz="2400" b="1" i="0" u="none" strike="noStrike" kern="120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1" y="1739805"/>
            <a:ext cx="10242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[-2.5,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0.6,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-0.5,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1.3,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-2.1,…]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current</a:t>
            </a:r>
            <a:r>
              <a:rPr kumimoji="0" sz="2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[0.34,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-1.11,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0.78,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0.12,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0.55,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-3.1,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-1.5,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0.33,…]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r>
              <a:rPr kumimoji="0" sz="2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1.25347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0049" y="1973577"/>
            <a:ext cx="2023745" cy="1128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dW =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...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(some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function  data and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36417" y="3311721"/>
            <a:ext cx="2172335" cy="560705"/>
          </a:xfrm>
          <a:custGeom>
            <a:avLst/>
            <a:gdLst/>
            <a:ahLst/>
            <a:cxnLst/>
            <a:rect l="l" t="t" r="r" b="b"/>
            <a:pathLst>
              <a:path w="2172335" h="560705">
                <a:moveTo>
                  <a:pt x="0" y="0"/>
                </a:moveTo>
                <a:lnTo>
                  <a:pt x="2172145" y="560223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04638" y="3856719"/>
            <a:ext cx="46355" cy="30480"/>
          </a:xfrm>
          <a:custGeom>
            <a:avLst/>
            <a:gdLst/>
            <a:ahLst/>
            <a:cxnLst/>
            <a:rect l="l" t="t" r="r" b="b"/>
            <a:pathLst>
              <a:path w="46354" h="30480">
                <a:moveTo>
                  <a:pt x="0" y="30449"/>
                </a:moveTo>
                <a:lnTo>
                  <a:pt x="45799" y="26024"/>
                </a:lnTo>
                <a:lnTo>
                  <a:pt x="7874" y="0"/>
                </a:lnTo>
                <a:lnTo>
                  <a:pt x="0" y="304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3535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We’ll update weights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Move in direction opposite to gradient: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/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58923" y="2329886"/>
            <a:ext cx="29008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241000" y="2068905"/>
            <a:ext cx="4662001" cy="1188259"/>
            <a:chOff x="2241000" y="2210799"/>
            <a:chExt cx="4662001" cy="118825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1000" y="2210799"/>
              <a:ext cx="4662001" cy="699840"/>
            </a:xfrm>
            <a:prstGeom prst="rect">
              <a:avLst/>
            </a:prstGeom>
          </p:spPr>
        </p:pic>
        <p:grpSp>
          <p:nvGrpSpPr>
            <p:cNvPr id="9" name="Group 8"/>
            <p:cNvGrpSpPr/>
            <p:nvPr/>
          </p:nvGrpSpPr>
          <p:grpSpPr>
            <a:xfrm>
              <a:off x="4374929" y="2825687"/>
              <a:ext cx="1370696" cy="573371"/>
              <a:chOff x="4469525" y="2754740"/>
              <a:chExt cx="1370696" cy="573371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4469525" y="2958779"/>
                <a:ext cx="13706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aramond" panose="02020404030301010803" pitchFamily="18" charset="0"/>
                    <a:ea typeface="+mn-ea"/>
                    <a:cs typeface="+mn-cs"/>
                  </a:rPr>
                  <a:t>Learning rate</a:t>
                </a:r>
              </a:p>
            </p:txBody>
          </p:sp>
          <p:cxnSp>
            <p:nvCxnSpPr>
              <p:cNvPr id="8" name="Straight Arrow Connector 7"/>
              <p:cNvCxnSpPr/>
              <p:nvPr/>
            </p:nvCxnSpPr>
            <p:spPr bwMode="auto">
              <a:xfrm flipV="1">
                <a:off x="5218386" y="2754740"/>
                <a:ext cx="0" cy="27498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3" name="Group 12"/>
            <p:cNvGrpSpPr/>
            <p:nvPr/>
          </p:nvGrpSpPr>
          <p:grpSpPr>
            <a:xfrm>
              <a:off x="2648843" y="2654560"/>
              <a:ext cx="654346" cy="552112"/>
              <a:chOff x="2648843" y="2693975"/>
              <a:chExt cx="654346" cy="552112"/>
            </a:xfrm>
          </p:grpSpPr>
          <p:cxnSp>
            <p:nvCxnSpPr>
              <p:cNvPr id="11" name="Straight Arrow Connector 10"/>
              <p:cNvCxnSpPr/>
              <p:nvPr/>
            </p:nvCxnSpPr>
            <p:spPr bwMode="auto">
              <a:xfrm flipV="1">
                <a:off x="3003332" y="2693975"/>
                <a:ext cx="0" cy="26161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2" name="TextBox 11"/>
              <p:cNvSpPr txBox="1"/>
              <p:nvPr/>
            </p:nvSpPr>
            <p:spPr>
              <a:xfrm>
                <a:off x="2648843" y="2876755"/>
                <a:ext cx="654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aramond" panose="02020404030301010803" pitchFamily="18" charset="0"/>
                    <a:ea typeface="+mn-ea"/>
                    <a:cs typeface="+mn-cs"/>
                  </a:rPr>
                  <a:t>Time</a:t>
                </a:r>
              </a:p>
            </p:txBody>
          </p:sp>
        </p:grpSp>
      </p:grpSp>
      <p:sp>
        <p:nvSpPr>
          <p:cNvPr id="27" name="TextBox 26"/>
          <p:cNvSpPr txBox="1"/>
          <p:nvPr/>
        </p:nvSpPr>
        <p:spPr>
          <a:xfrm>
            <a:off x="0" y="6604084"/>
            <a:ext cx="17796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Figure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BB066DB-D39A-40F2-84BE-9FB7AA2BE44F}"/>
              </a:ext>
            </a:extLst>
          </p:cNvPr>
          <p:cNvSpPr/>
          <p:nvPr/>
        </p:nvSpPr>
        <p:spPr bwMode="auto">
          <a:xfrm rot="16200000">
            <a:off x="5815337" y="1296476"/>
            <a:ext cx="413824" cy="1630872"/>
          </a:xfrm>
          <a:prstGeom prst="rightBrace">
            <a:avLst>
              <a:gd name="adj1" fmla="val 8333"/>
              <a:gd name="adj2" fmla="val 6419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3802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Iteratively </a:t>
            </a:r>
            <a:r>
              <a:rPr lang="en-US" i="1" dirty="0"/>
              <a:t>subtract </a:t>
            </a:r>
            <a:r>
              <a:rPr lang="en-US" dirty="0"/>
              <a:t>the gradient with respect to the model parameters (w)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I.e., we’re moving in a direction opposite to the gradient of  the loss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I.e., we’re moving towards </a:t>
            </a:r>
            <a:r>
              <a:rPr lang="en-US" i="1" dirty="0"/>
              <a:t>smaller </a:t>
            </a:r>
            <a:r>
              <a:rPr lang="en-US" dirty="0"/>
              <a:t>loss</a:t>
            </a:r>
          </a:p>
        </p:txBody>
      </p:sp>
    </p:spTree>
    <p:extLst>
      <p:ext uri="{BB962C8B-B14F-4D97-AF65-F5344CB8AC3E}">
        <p14:creationId xmlns:p14="http://schemas.microsoft.com/office/powerpoint/2010/main" val="13825105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627640" y="1613960"/>
            <a:ext cx="4371966" cy="39433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4225" y="1877234"/>
            <a:ext cx="4405491" cy="35229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604084"/>
            <a:ext cx="10631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Learning rate selection</a:t>
            </a:r>
          </a:p>
        </p:txBody>
      </p:sp>
      <p:sp>
        <p:nvSpPr>
          <p:cNvPr id="10" name="object 6"/>
          <p:cNvSpPr txBox="1">
            <a:spLocks/>
          </p:cNvSpPr>
          <p:nvPr/>
        </p:nvSpPr>
        <p:spPr bwMode="auto">
          <a:xfrm>
            <a:off x="4830686" y="1338742"/>
            <a:ext cx="4278630" cy="285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The effects of step size (or “learning</a:t>
            </a:r>
            <a:r>
              <a:rPr kumimoji="0" lang="en-US" sz="1800" b="0" i="0" u="none" strike="noStrike" kern="0" cap="none" spc="6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 </a:t>
            </a:r>
            <a:r>
              <a:rPr kumimoji="0" lang="en-US" sz="1800" b="0" i="0" u="none" strike="noStrike" kern="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rate”)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0335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Comments on training algorithm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257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200" dirty="0"/>
              <a:t>Not guaranteed to converge to zero training error, may converge to local optima or oscillate indefinitely.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200" dirty="0"/>
              <a:t>However, in practice, does converge to low error for many large networks on real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200" dirty="0"/>
              <a:t>Local minima – not a huge problem in practice for deep networks.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200" dirty="0"/>
              <a:t>Thousands of epochs (epoch = network sees all training data once) may be required, hours or days to train.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May be hard to set learning rate and to select number of hidden units and layers.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When in doubt, use validation set to decide on design/hyperparameters.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Neural networks had fallen out of fashion in 90s, early 2000s; now significantly improved performance (deep networks trained with dropout and lots of data).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611779"/>
            <a:ext cx="3231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Ray Mooney, Carlos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Guestrin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Dhruv Batra </a:t>
            </a:r>
          </a:p>
        </p:txBody>
      </p:sp>
    </p:spTree>
    <p:extLst>
      <p:ext uri="{BB962C8B-B14F-4D97-AF65-F5344CB8AC3E}">
        <p14:creationId xmlns:p14="http://schemas.microsoft.com/office/powerpoint/2010/main" val="1106938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Gradient descent in multi-layer nets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We’ll update weights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Move in direction opposite to gradient: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How to update the weights at all layers?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Answer: backpropagation of error from higher layers to lower 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41000" y="2210799"/>
            <a:ext cx="4662001" cy="6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041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Gradient descent in multi-layer nets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171650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How to update the weights at all layers?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Answer: backpropagation of error from higher layers to lower 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6604084"/>
            <a:ext cx="17796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Figure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171" y="2364586"/>
            <a:ext cx="7129658" cy="430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998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51" name="Line 23"/>
          <p:cNvSpPr>
            <a:spLocks noChangeShapeType="1"/>
          </p:cNvSpPr>
          <p:nvPr/>
        </p:nvSpPr>
        <p:spPr bwMode="auto">
          <a:xfrm flipH="1">
            <a:off x="3425825" y="3165475"/>
            <a:ext cx="498475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71" name="Line 43"/>
          <p:cNvSpPr>
            <a:spLocks noChangeShapeType="1"/>
          </p:cNvSpPr>
          <p:nvPr/>
        </p:nvSpPr>
        <p:spPr bwMode="auto">
          <a:xfrm flipH="1">
            <a:off x="3443288" y="3171825"/>
            <a:ext cx="498475" cy="10398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Backpropagation: Graphic example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1116013"/>
          </a:xfrm>
        </p:spPr>
        <p:txBody>
          <a:bodyPr/>
          <a:lstStyle/>
          <a:p>
            <a:r>
              <a:rPr lang="en-US" altLang="en-US" sz="2800" dirty="0"/>
              <a:t>First calculate error of output units and use this to change the top layer of weights.</a:t>
            </a:r>
          </a:p>
        </p:txBody>
      </p:sp>
      <p:sp>
        <p:nvSpPr>
          <p:cNvPr id="252933" name="Text Box 5"/>
          <p:cNvSpPr txBox="1">
            <a:spLocks noChangeArrowheads="1"/>
          </p:cNvSpPr>
          <p:nvPr/>
        </p:nvSpPr>
        <p:spPr bwMode="auto">
          <a:xfrm>
            <a:off x="5094288" y="2881313"/>
            <a:ext cx="77807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252934" name="Text Box 6"/>
          <p:cNvSpPr txBox="1">
            <a:spLocks noChangeArrowheads="1"/>
          </p:cNvSpPr>
          <p:nvPr/>
        </p:nvSpPr>
        <p:spPr bwMode="auto">
          <a:xfrm>
            <a:off x="5494338" y="3984625"/>
            <a:ext cx="79570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hidden</a:t>
            </a:r>
          </a:p>
        </p:txBody>
      </p:sp>
      <p:sp>
        <p:nvSpPr>
          <p:cNvPr id="252935" name="Text Box 7"/>
          <p:cNvSpPr txBox="1">
            <a:spLocks noChangeArrowheads="1"/>
          </p:cNvSpPr>
          <p:nvPr/>
        </p:nvSpPr>
        <p:spPr bwMode="auto">
          <a:xfrm>
            <a:off x="6057900" y="5064125"/>
            <a:ext cx="64983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input</a:t>
            </a:r>
          </a:p>
        </p:txBody>
      </p:sp>
      <p:sp>
        <p:nvSpPr>
          <p:cNvPr id="252936" name="Line 8"/>
          <p:cNvSpPr>
            <a:spLocks noChangeShapeType="1"/>
          </p:cNvSpPr>
          <p:nvPr/>
        </p:nvSpPr>
        <p:spPr bwMode="auto">
          <a:xfrm flipH="1">
            <a:off x="3117850" y="4205288"/>
            <a:ext cx="284163" cy="1090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37" name="Line 9"/>
          <p:cNvSpPr>
            <a:spLocks noChangeShapeType="1"/>
          </p:cNvSpPr>
          <p:nvPr/>
        </p:nvSpPr>
        <p:spPr bwMode="auto">
          <a:xfrm>
            <a:off x="3425825" y="4232275"/>
            <a:ext cx="379413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38" name="Line 10"/>
          <p:cNvSpPr>
            <a:spLocks noChangeShapeType="1"/>
          </p:cNvSpPr>
          <p:nvPr/>
        </p:nvSpPr>
        <p:spPr bwMode="auto">
          <a:xfrm>
            <a:off x="3425825" y="4259263"/>
            <a:ext cx="973138" cy="960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39" name="Line 11"/>
          <p:cNvSpPr>
            <a:spLocks noChangeShapeType="1"/>
          </p:cNvSpPr>
          <p:nvPr/>
        </p:nvSpPr>
        <p:spPr bwMode="auto">
          <a:xfrm>
            <a:off x="3425825" y="4281488"/>
            <a:ext cx="1682750" cy="1014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0" name="Line 12"/>
          <p:cNvSpPr>
            <a:spLocks noChangeShapeType="1"/>
          </p:cNvSpPr>
          <p:nvPr/>
        </p:nvSpPr>
        <p:spPr bwMode="auto">
          <a:xfrm>
            <a:off x="3425825" y="4281488"/>
            <a:ext cx="23733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1" name="Line 13"/>
          <p:cNvSpPr>
            <a:spLocks noChangeShapeType="1"/>
          </p:cNvSpPr>
          <p:nvPr/>
        </p:nvSpPr>
        <p:spPr bwMode="auto">
          <a:xfrm flipH="1">
            <a:off x="3117850" y="4232275"/>
            <a:ext cx="11620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2" name="Line 14"/>
          <p:cNvSpPr>
            <a:spLocks noChangeShapeType="1"/>
          </p:cNvSpPr>
          <p:nvPr/>
        </p:nvSpPr>
        <p:spPr bwMode="auto">
          <a:xfrm flipH="1">
            <a:off x="3781425" y="4205288"/>
            <a:ext cx="522288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3" name="Line 15"/>
          <p:cNvSpPr>
            <a:spLocks noChangeShapeType="1"/>
          </p:cNvSpPr>
          <p:nvPr/>
        </p:nvSpPr>
        <p:spPr bwMode="auto">
          <a:xfrm>
            <a:off x="4303713" y="4179888"/>
            <a:ext cx="1174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4" name="Line 16"/>
          <p:cNvSpPr>
            <a:spLocks noChangeShapeType="1"/>
          </p:cNvSpPr>
          <p:nvPr/>
        </p:nvSpPr>
        <p:spPr bwMode="auto">
          <a:xfrm>
            <a:off x="4327525" y="4205288"/>
            <a:ext cx="808038" cy="1068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5" name="Line 17"/>
          <p:cNvSpPr>
            <a:spLocks noChangeShapeType="1"/>
          </p:cNvSpPr>
          <p:nvPr/>
        </p:nvSpPr>
        <p:spPr bwMode="auto">
          <a:xfrm>
            <a:off x="4327525" y="4281488"/>
            <a:ext cx="14462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6" name="Line 18"/>
          <p:cNvSpPr>
            <a:spLocks noChangeShapeType="1"/>
          </p:cNvSpPr>
          <p:nvPr/>
        </p:nvSpPr>
        <p:spPr bwMode="auto">
          <a:xfrm flipH="1">
            <a:off x="3141663" y="4232275"/>
            <a:ext cx="199390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7" name="Line 19"/>
          <p:cNvSpPr>
            <a:spLocks noChangeShapeType="1"/>
          </p:cNvSpPr>
          <p:nvPr/>
        </p:nvSpPr>
        <p:spPr bwMode="auto">
          <a:xfrm flipH="1">
            <a:off x="3781425" y="4232275"/>
            <a:ext cx="13271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8" name="Line 20"/>
          <p:cNvSpPr>
            <a:spLocks noChangeShapeType="1"/>
          </p:cNvSpPr>
          <p:nvPr/>
        </p:nvSpPr>
        <p:spPr bwMode="auto">
          <a:xfrm flipH="1">
            <a:off x="4445000" y="4259263"/>
            <a:ext cx="714375" cy="987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49" name="Line 21"/>
          <p:cNvSpPr>
            <a:spLocks noChangeShapeType="1"/>
          </p:cNvSpPr>
          <p:nvPr/>
        </p:nvSpPr>
        <p:spPr bwMode="auto">
          <a:xfrm flipH="1">
            <a:off x="5062538" y="4179888"/>
            <a:ext cx="1428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50" name="Line 22"/>
          <p:cNvSpPr>
            <a:spLocks noChangeShapeType="1"/>
          </p:cNvSpPr>
          <p:nvPr/>
        </p:nvSpPr>
        <p:spPr bwMode="auto">
          <a:xfrm>
            <a:off x="5181600" y="4205288"/>
            <a:ext cx="546100" cy="992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52" name="Line 24"/>
          <p:cNvSpPr>
            <a:spLocks noChangeShapeType="1"/>
          </p:cNvSpPr>
          <p:nvPr/>
        </p:nvSpPr>
        <p:spPr bwMode="auto">
          <a:xfrm>
            <a:off x="3948113" y="3165475"/>
            <a:ext cx="355600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53" name="Line 25"/>
          <p:cNvSpPr>
            <a:spLocks noChangeShapeType="1"/>
          </p:cNvSpPr>
          <p:nvPr/>
        </p:nvSpPr>
        <p:spPr bwMode="auto">
          <a:xfrm>
            <a:off x="3924300" y="3165475"/>
            <a:ext cx="1257300" cy="992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54" name="Line 26"/>
          <p:cNvSpPr>
            <a:spLocks noChangeShapeType="1"/>
          </p:cNvSpPr>
          <p:nvPr/>
        </p:nvSpPr>
        <p:spPr bwMode="auto">
          <a:xfrm flipH="1">
            <a:off x="3425825" y="3190875"/>
            <a:ext cx="1303338" cy="1014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55" name="Line 27"/>
          <p:cNvSpPr>
            <a:spLocks noChangeShapeType="1"/>
          </p:cNvSpPr>
          <p:nvPr/>
        </p:nvSpPr>
        <p:spPr bwMode="auto">
          <a:xfrm flipH="1">
            <a:off x="4279900" y="3190875"/>
            <a:ext cx="449263" cy="966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56" name="Line 28"/>
          <p:cNvSpPr>
            <a:spLocks noChangeShapeType="1"/>
          </p:cNvSpPr>
          <p:nvPr/>
        </p:nvSpPr>
        <p:spPr bwMode="auto">
          <a:xfrm>
            <a:off x="4754563" y="3216275"/>
            <a:ext cx="404812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57" name="Oval 29"/>
          <p:cNvSpPr>
            <a:spLocks noChangeArrowheads="1"/>
          </p:cNvSpPr>
          <p:nvPr/>
        </p:nvSpPr>
        <p:spPr bwMode="auto">
          <a:xfrm>
            <a:off x="3049588" y="5049773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58" name="Oval 30"/>
          <p:cNvSpPr>
            <a:spLocks noChangeArrowheads="1"/>
          </p:cNvSpPr>
          <p:nvPr/>
        </p:nvSpPr>
        <p:spPr bwMode="auto">
          <a:xfrm>
            <a:off x="3703638" y="50378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59" name="Oval 31"/>
          <p:cNvSpPr>
            <a:spLocks noChangeArrowheads="1"/>
          </p:cNvSpPr>
          <p:nvPr/>
        </p:nvSpPr>
        <p:spPr bwMode="auto">
          <a:xfrm>
            <a:off x="4359275" y="5023579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60" name="Oval 32"/>
          <p:cNvSpPr>
            <a:spLocks noChangeArrowheads="1"/>
          </p:cNvSpPr>
          <p:nvPr/>
        </p:nvSpPr>
        <p:spPr bwMode="auto">
          <a:xfrm>
            <a:off x="5013325" y="5011673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61" name="Oval 33"/>
          <p:cNvSpPr>
            <a:spLocks noChangeArrowheads="1"/>
          </p:cNvSpPr>
          <p:nvPr/>
        </p:nvSpPr>
        <p:spPr bwMode="auto">
          <a:xfrm>
            <a:off x="5667375" y="4997385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62" name="Oval 34"/>
          <p:cNvSpPr>
            <a:spLocks noChangeArrowheads="1"/>
          </p:cNvSpPr>
          <p:nvPr/>
        </p:nvSpPr>
        <p:spPr bwMode="auto">
          <a:xfrm>
            <a:off x="3336925" y="39456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65" name="Oval 37"/>
          <p:cNvSpPr>
            <a:spLocks noChangeArrowheads="1"/>
          </p:cNvSpPr>
          <p:nvPr/>
        </p:nvSpPr>
        <p:spPr bwMode="auto">
          <a:xfrm>
            <a:off x="3830638" y="29169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66" name="Oval 38"/>
          <p:cNvSpPr>
            <a:spLocks noChangeArrowheads="1"/>
          </p:cNvSpPr>
          <p:nvPr/>
        </p:nvSpPr>
        <p:spPr bwMode="auto">
          <a:xfrm>
            <a:off x="4673600" y="29169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69" name="Oval 41"/>
          <p:cNvSpPr>
            <a:spLocks noChangeArrowheads="1"/>
          </p:cNvSpPr>
          <p:nvPr/>
        </p:nvSpPr>
        <p:spPr bwMode="auto">
          <a:xfrm>
            <a:off x="3836988" y="2921729"/>
            <a:ext cx="255677" cy="52241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72" name="Line 44"/>
          <p:cNvSpPr>
            <a:spLocks noChangeShapeType="1"/>
          </p:cNvSpPr>
          <p:nvPr/>
        </p:nvSpPr>
        <p:spPr bwMode="auto">
          <a:xfrm>
            <a:off x="3978275" y="3208338"/>
            <a:ext cx="355600" cy="10398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63" name="Oval 35"/>
          <p:cNvSpPr>
            <a:spLocks noChangeArrowheads="1"/>
          </p:cNvSpPr>
          <p:nvPr/>
        </p:nvSpPr>
        <p:spPr bwMode="auto">
          <a:xfrm>
            <a:off x="4203700" y="3945666"/>
            <a:ext cx="214313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73" name="Line 45"/>
          <p:cNvSpPr>
            <a:spLocks noChangeShapeType="1"/>
          </p:cNvSpPr>
          <p:nvPr/>
        </p:nvSpPr>
        <p:spPr bwMode="auto">
          <a:xfrm>
            <a:off x="3967163" y="3184525"/>
            <a:ext cx="1257300" cy="9921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64" name="Oval 36"/>
          <p:cNvSpPr>
            <a:spLocks noChangeArrowheads="1"/>
          </p:cNvSpPr>
          <p:nvPr/>
        </p:nvSpPr>
        <p:spPr bwMode="auto">
          <a:xfrm>
            <a:off x="5072063" y="39456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2970" name="Text Box 42"/>
          <p:cNvSpPr txBox="1">
            <a:spLocks noChangeArrowheads="1"/>
          </p:cNvSpPr>
          <p:nvPr/>
        </p:nvSpPr>
        <p:spPr bwMode="auto">
          <a:xfrm>
            <a:off x="711504" y="3356992"/>
            <a:ext cx="2440581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Update weights into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(store diff, update @end)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6604084"/>
            <a:ext cx="30492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Ray Mooney, equations from Chris Bishop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884368" y="2887776"/>
            <a:ext cx="30489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186147" y="4019715"/>
            <a:ext cx="161509" cy="16150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E1A96-70D5-45AE-A11F-93F1407E376C}"/>
              </a:ext>
            </a:extLst>
          </p:cNvPr>
          <p:cNvSpPr txBox="1"/>
          <p:nvPr/>
        </p:nvSpPr>
        <p:spPr>
          <a:xfrm>
            <a:off x="7108723" y="3274140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w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(2)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E7B75F-7B03-449B-B003-CB6D80BAAD59}"/>
              </a:ext>
            </a:extLst>
          </p:cNvPr>
          <p:cNvSpPr txBox="1"/>
          <p:nvPr/>
        </p:nvSpPr>
        <p:spPr>
          <a:xfrm>
            <a:off x="7108723" y="4604028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w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189347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71" grpId="0" animBg="1"/>
      <p:bldP spid="252969" grpId="0" animBg="1"/>
      <p:bldP spid="252972" grpId="0" animBg="1"/>
      <p:bldP spid="252973" grpId="0" animBg="1"/>
      <p:bldP spid="25297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Line 2"/>
          <p:cNvSpPr>
            <a:spLocks noChangeShapeType="1"/>
          </p:cNvSpPr>
          <p:nvPr/>
        </p:nvSpPr>
        <p:spPr bwMode="auto">
          <a:xfrm flipH="1">
            <a:off x="3425825" y="3165475"/>
            <a:ext cx="498475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Backpropagation: Graphic example</a:t>
            </a:r>
          </a:p>
        </p:txBody>
      </p:sp>
      <p:sp>
        <p:nvSpPr>
          <p:cNvPr id="253957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1116013"/>
          </a:xfrm>
        </p:spPr>
        <p:txBody>
          <a:bodyPr/>
          <a:lstStyle/>
          <a:p>
            <a:r>
              <a:rPr lang="en-US" altLang="en-US" sz="2800"/>
              <a:t>Next calculate error for hidden units based on errors on the output units it feeds into.</a:t>
            </a:r>
          </a:p>
        </p:txBody>
      </p:sp>
      <p:sp>
        <p:nvSpPr>
          <p:cNvPr id="253958" name="Text Box 6"/>
          <p:cNvSpPr txBox="1">
            <a:spLocks noChangeArrowheads="1"/>
          </p:cNvSpPr>
          <p:nvPr/>
        </p:nvSpPr>
        <p:spPr bwMode="auto">
          <a:xfrm>
            <a:off x="5094288" y="2881313"/>
            <a:ext cx="77807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253959" name="Text Box 7"/>
          <p:cNvSpPr txBox="1">
            <a:spLocks noChangeArrowheads="1"/>
          </p:cNvSpPr>
          <p:nvPr/>
        </p:nvSpPr>
        <p:spPr bwMode="auto">
          <a:xfrm>
            <a:off x="5494338" y="3984625"/>
            <a:ext cx="79570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hidden</a:t>
            </a:r>
          </a:p>
        </p:txBody>
      </p:sp>
      <p:sp>
        <p:nvSpPr>
          <p:cNvPr id="253960" name="Text Box 8"/>
          <p:cNvSpPr txBox="1">
            <a:spLocks noChangeArrowheads="1"/>
          </p:cNvSpPr>
          <p:nvPr/>
        </p:nvSpPr>
        <p:spPr bwMode="auto">
          <a:xfrm>
            <a:off x="6057900" y="5064125"/>
            <a:ext cx="64983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input</a:t>
            </a:r>
          </a:p>
        </p:txBody>
      </p:sp>
      <p:sp>
        <p:nvSpPr>
          <p:cNvPr id="253961" name="Line 9"/>
          <p:cNvSpPr>
            <a:spLocks noChangeShapeType="1"/>
          </p:cNvSpPr>
          <p:nvPr/>
        </p:nvSpPr>
        <p:spPr bwMode="auto">
          <a:xfrm flipH="1">
            <a:off x="3117850" y="4205288"/>
            <a:ext cx="284163" cy="1090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62" name="Line 10"/>
          <p:cNvSpPr>
            <a:spLocks noChangeShapeType="1"/>
          </p:cNvSpPr>
          <p:nvPr/>
        </p:nvSpPr>
        <p:spPr bwMode="auto">
          <a:xfrm>
            <a:off x="3425825" y="4232275"/>
            <a:ext cx="379413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63" name="Line 11"/>
          <p:cNvSpPr>
            <a:spLocks noChangeShapeType="1"/>
          </p:cNvSpPr>
          <p:nvPr/>
        </p:nvSpPr>
        <p:spPr bwMode="auto">
          <a:xfrm>
            <a:off x="3425825" y="4259263"/>
            <a:ext cx="973138" cy="960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64" name="Line 12"/>
          <p:cNvSpPr>
            <a:spLocks noChangeShapeType="1"/>
          </p:cNvSpPr>
          <p:nvPr/>
        </p:nvSpPr>
        <p:spPr bwMode="auto">
          <a:xfrm>
            <a:off x="3425825" y="4281488"/>
            <a:ext cx="1682750" cy="1014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65" name="Line 13"/>
          <p:cNvSpPr>
            <a:spLocks noChangeShapeType="1"/>
          </p:cNvSpPr>
          <p:nvPr/>
        </p:nvSpPr>
        <p:spPr bwMode="auto">
          <a:xfrm>
            <a:off x="3425825" y="4281488"/>
            <a:ext cx="23733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66" name="Line 14"/>
          <p:cNvSpPr>
            <a:spLocks noChangeShapeType="1"/>
          </p:cNvSpPr>
          <p:nvPr/>
        </p:nvSpPr>
        <p:spPr bwMode="auto">
          <a:xfrm flipH="1">
            <a:off x="3117850" y="4232275"/>
            <a:ext cx="11620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67" name="Line 15"/>
          <p:cNvSpPr>
            <a:spLocks noChangeShapeType="1"/>
          </p:cNvSpPr>
          <p:nvPr/>
        </p:nvSpPr>
        <p:spPr bwMode="auto">
          <a:xfrm flipH="1">
            <a:off x="3781425" y="4205288"/>
            <a:ext cx="522288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68" name="Line 16"/>
          <p:cNvSpPr>
            <a:spLocks noChangeShapeType="1"/>
          </p:cNvSpPr>
          <p:nvPr/>
        </p:nvSpPr>
        <p:spPr bwMode="auto">
          <a:xfrm>
            <a:off x="4303713" y="4179888"/>
            <a:ext cx="1174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69" name="Line 17"/>
          <p:cNvSpPr>
            <a:spLocks noChangeShapeType="1"/>
          </p:cNvSpPr>
          <p:nvPr/>
        </p:nvSpPr>
        <p:spPr bwMode="auto">
          <a:xfrm>
            <a:off x="4327525" y="4205288"/>
            <a:ext cx="808038" cy="1068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0" name="Line 18"/>
          <p:cNvSpPr>
            <a:spLocks noChangeShapeType="1"/>
          </p:cNvSpPr>
          <p:nvPr/>
        </p:nvSpPr>
        <p:spPr bwMode="auto">
          <a:xfrm>
            <a:off x="4327525" y="4281488"/>
            <a:ext cx="14462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1" name="Line 19"/>
          <p:cNvSpPr>
            <a:spLocks noChangeShapeType="1"/>
          </p:cNvSpPr>
          <p:nvPr/>
        </p:nvSpPr>
        <p:spPr bwMode="auto">
          <a:xfrm flipH="1">
            <a:off x="3141663" y="4232275"/>
            <a:ext cx="199390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2" name="Line 20"/>
          <p:cNvSpPr>
            <a:spLocks noChangeShapeType="1"/>
          </p:cNvSpPr>
          <p:nvPr/>
        </p:nvSpPr>
        <p:spPr bwMode="auto">
          <a:xfrm flipH="1">
            <a:off x="3781425" y="4232275"/>
            <a:ext cx="13271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3" name="Line 21"/>
          <p:cNvSpPr>
            <a:spLocks noChangeShapeType="1"/>
          </p:cNvSpPr>
          <p:nvPr/>
        </p:nvSpPr>
        <p:spPr bwMode="auto">
          <a:xfrm flipH="1">
            <a:off x="4445000" y="4259263"/>
            <a:ext cx="714375" cy="987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4" name="Line 22"/>
          <p:cNvSpPr>
            <a:spLocks noChangeShapeType="1"/>
          </p:cNvSpPr>
          <p:nvPr/>
        </p:nvSpPr>
        <p:spPr bwMode="auto">
          <a:xfrm flipH="1">
            <a:off x="5062538" y="4179888"/>
            <a:ext cx="1428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5" name="Line 23"/>
          <p:cNvSpPr>
            <a:spLocks noChangeShapeType="1"/>
          </p:cNvSpPr>
          <p:nvPr/>
        </p:nvSpPr>
        <p:spPr bwMode="auto">
          <a:xfrm>
            <a:off x="5181600" y="4205288"/>
            <a:ext cx="546100" cy="992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6" name="Line 24"/>
          <p:cNvSpPr>
            <a:spLocks noChangeShapeType="1"/>
          </p:cNvSpPr>
          <p:nvPr/>
        </p:nvSpPr>
        <p:spPr bwMode="auto">
          <a:xfrm>
            <a:off x="3948113" y="3165475"/>
            <a:ext cx="355600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7" name="Line 25"/>
          <p:cNvSpPr>
            <a:spLocks noChangeShapeType="1"/>
          </p:cNvSpPr>
          <p:nvPr/>
        </p:nvSpPr>
        <p:spPr bwMode="auto">
          <a:xfrm>
            <a:off x="3924300" y="3165475"/>
            <a:ext cx="1257300" cy="992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8" name="Line 26"/>
          <p:cNvSpPr>
            <a:spLocks noChangeShapeType="1"/>
          </p:cNvSpPr>
          <p:nvPr/>
        </p:nvSpPr>
        <p:spPr bwMode="auto">
          <a:xfrm flipH="1">
            <a:off x="3425825" y="3190875"/>
            <a:ext cx="1303338" cy="1014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79" name="Line 27"/>
          <p:cNvSpPr>
            <a:spLocks noChangeShapeType="1"/>
          </p:cNvSpPr>
          <p:nvPr/>
        </p:nvSpPr>
        <p:spPr bwMode="auto">
          <a:xfrm flipH="1">
            <a:off x="4279900" y="3190875"/>
            <a:ext cx="449263" cy="966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80" name="Line 28"/>
          <p:cNvSpPr>
            <a:spLocks noChangeShapeType="1"/>
          </p:cNvSpPr>
          <p:nvPr/>
        </p:nvSpPr>
        <p:spPr bwMode="auto">
          <a:xfrm>
            <a:off x="4754563" y="3216275"/>
            <a:ext cx="404812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81" name="Oval 29"/>
          <p:cNvSpPr>
            <a:spLocks noChangeArrowheads="1"/>
          </p:cNvSpPr>
          <p:nvPr/>
        </p:nvSpPr>
        <p:spPr bwMode="auto">
          <a:xfrm>
            <a:off x="3049588" y="5049773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82" name="Oval 30"/>
          <p:cNvSpPr>
            <a:spLocks noChangeArrowheads="1"/>
          </p:cNvSpPr>
          <p:nvPr/>
        </p:nvSpPr>
        <p:spPr bwMode="auto">
          <a:xfrm>
            <a:off x="3703638" y="50378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83" name="Oval 31"/>
          <p:cNvSpPr>
            <a:spLocks noChangeArrowheads="1"/>
          </p:cNvSpPr>
          <p:nvPr/>
        </p:nvSpPr>
        <p:spPr bwMode="auto">
          <a:xfrm>
            <a:off x="4359275" y="5023579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84" name="Oval 32"/>
          <p:cNvSpPr>
            <a:spLocks noChangeArrowheads="1"/>
          </p:cNvSpPr>
          <p:nvPr/>
        </p:nvSpPr>
        <p:spPr bwMode="auto">
          <a:xfrm>
            <a:off x="5013325" y="5011673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85" name="Oval 33"/>
          <p:cNvSpPr>
            <a:spLocks noChangeArrowheads="1"/>
          </p:cNvSpPr>
          <p:nvPr/>
        </p:nvSpPr>
        <p:spPr bwMode="auto">
          <a:xfrm>
            <a:off x="5667375" y="4997385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86" name="Oval 34"/>
          <p:cNvSpPr>
            <a:spLocks noChangeArrowheads="1"/>
          </p:cNvSpPr>
          <p:nvPr/>
        </p:nvSpPr>
        <p:spPr bwMode="auto">
          <a:xfrm>
            <a:off x="3336925" y="39456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90" name="Oval 38"/>
          <p:cNvSpPr>
            <a:spLocks noChangeArrowheads="1"/>
          </p:cNvSpPr>
          <p:nvPr/>
        </p:nvSpPr>
        <p:spPr bwMode="auto">
          <a:xfrm>
            <a:off x="3336925" y="3932966"/>
            <a:ext cx="255677" cy="52241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92" name="Oval 40"/>
          <p:cNvSpPr>
            <a:spLocks noChangeArrowheads="1"/>
          </p:cNvSpPr>
          <p:nvPr/>
        </p:nvSpPr>
        <p:spPr bwMode="auto">
          <a:xfrm>
            <a:off x="4203700" y="3945666"/>
            <a:ext cx="214313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94" name="Oval 42"/>
          <p:cNvSpPr>
            <a:spLocks noChangeArrowheads="1"/>
          </p:cNvSpPr>
          <p:nvPr/>
        </p:nvSpPr>
        <p:spPr bwMode="auto">
          <a:xfrm>
            <a:off x="5072063" y="39456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98" name="Text Box 46"/>
          <p:cNvSpPr txBox="1">
            <a:spLocks noChangeArrowheads="1"/>
          </p:cNvSpPr>
          <p:nvPr/>
        </p:nvSpPr>
        <p:spPr bwMode="auto">
          <a:xfrm>
            <a:off x="823913" y="3744913"/>
            <a:ext cx="18182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000" name="Line 48"/>
          <p:cNvSpPr>
            <a:spLocks noChangeShapeType="1"/>
          </p:cNvSpPr>
          <p:nvPr/>
        </p:nvSpPr>
        <p:spPr bwMode="auto">
          <a:xfrm flipH="1">
            <a:off x="3419475" y="3186113"/>
            <a:ext cx="498475" cy="10398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001" name="Line 49"/>
          <p:cNvSpPr>
            <a:spLocks noChangeShapeType="1"/>
          </p:cNvSpPr>
          <p:nvPr/>
        </p:nvSpPr>
        <p:spPr bwMode="auto">
          <a:xfrm flipH="1">
            <a:off x="3481388" y="3173413"/>
            <a:ext cx="1303337" cy="10144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88" name="Oval 36"/>
          <p:cNvSpPr>
            <a:spLocks noChangeArrowheads="1"/>
          </p:cNvSpPr>
          <p:nvPr/>
        </p:nvSpPr>
        <p:spPr bwMode="auto">
          <a:xfrm>
            <a:off x="4673600" y="29169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3987" name="Oval 35"/>
          <p:cNvSpPr>
            <a:spLocks noChangeArrowheads="1"/>
          </p:cNvSpPr>
          <p:nvPr/>
        </p:nvSpPr>
        <p:spPr bwMode="auto">
          <a:xfrm>
            <a:off x="3830638" y="29169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002" name="Oval 50"/>
          <p:cNvSpPr>
            <a:spLocks noChangeArrowheads="1"/>
          </p:cNvSpPr>
          <p:nvPr/>
        </p:nvSpPr>
        <p:spPr bwMode="auto">
          <a:xfrm>
            <a:off x="3829050" y="2926491"/>
            <a:ext cx="255677" cy="52241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003" name="Oval 51"/>
          <p:cNvSpPr>
            <a:spLocks noChangeArrowheads="1"/>
          </p:cNvSpPr>
          <p:nvPr/>
        </p:nvSpPr>
        <p:spPr bwMode="auto">
          <a:xfrm>
            <a:off x="4662488" y="2920141"/>
            <a:ext cx="255677" cy="52241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84368" y="2887776"/>
            <a:ext cx="30489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604084"/>
            <a:ext cx="30492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Ray Mooney, equations from Chris Bishop</a:t>
            </a:r>
          </a:p>
        </p:txBody>
      </p:sp>
    </p:spTree>
    <p:extLst>
      <p:ext uri="{BB962C8B-B14F-4D97-AF65-F5344CB8AC3E}">
        <p14:creationId xmlns:p14="http://schemas.microsoft.com/office/powerpoint/2010/main" val="352628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90" grpId="0" animBg="1"/>
      <p:bldP spid="254000" grpId="0" animBg="1"/>
      <p:bldP spid="254001" grpId="0" animBg="1"/>
      <p:bldP spid="254002" grpId="0" animBg="1"/>
      <p:bldP spid="25400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Line 2"/>
          <p:cNvSpPr>
            <a:spLocks noChangeShapeType="1"/>
          </p:cNvSpPr>
          <p:nvPr/>
        </p:nvSpPr>
        <p:spPr bwMode="auto">
          <a:xfrm flipH="1">
            <a:off x="3425825" y="3165475"/>
            <a:ext cx="498475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Backpropagation: Graphic example</a:t>
            </a:r>
          </a:p>
        </p:txBody>
      </p:sp>
      <p:sp>
        <p:nvSpPr>
          <p:cNvPr id="254980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1116013"/>
          </a:xfrm>
        </p:spPr>
        <p:txBody>
          <a:bodyPr/>
          <a:lstStyle/>
          <a:p>
            <a:r>
              <a:rPr lang="en-US" altLang="en-US" sz="2800"/>
              <a:t>Finally update bottom layer of weights based on errors calculated for hidden units.</a:t>
            </a:r>
          </a:p>
        </p:txBody>
      </p:sp>
      <p:sp>
        <p:nvSpPr>
          <p:cNvPr id="254981" name="Text Box 5"/>
          <p:cNvSpPr txBox="1">
            <a:spLocks noChangeArrowheads="1"/>
          </p:cNvSpPr>
          <p:nvPr/>
        </p:nvSpPr>
        <p:spPr bwMode="auto">
          <a:xfrm>
            <a:off x="5094288" y="2881313"/>
            <a:ext cx="77807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254982" name="Text Box 6"/>
          <p:cNvSpPr txBox="1">
            <a:spLocks noChangeArrowheads="1"/>
          </p:cNvSpPr>
          <p:nvPr/>
        </p:nvSpPr>
        <p:spPr bwMode="auto">
          <a:xfrm>
            <a:off x="5494338" y="3984625"/>
            <a:ext cx="79570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hidden</a:t>
            </a:r>
          </a:p>
        </p:txBody>
      </p:sp>
      <p:sp>
        <p:nvSpPr>
          <p:cNvPr id="254983" name="Text Box 7"/>
          <p:cNvSpPr txBox="1">
            <a:spLocks noChangeArrowheads="1"/>
          </p:cNvSpPr>
          <p:nvPr/>
        </p:nvSpPr>
        <p:spPr bwMode="auto">
          <a:xfrm>
            <a:off x="6057900" y="5064125"/>
            <a:ext cx="64983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input</a:t>
            </a:r>
          </a:p>
        </p:txBody>
      </p:sp>
      <p:sp>
        <p:nvSpPr>
          <p:cNvPr id="254984" name="Line 8"/>
          <p:cNvSpPr>
            <a:spLocks noChangeShapeType="1"/>
          </p:cNvSpPr>
          <p:nvPr/>
        </p:nvSpPr>
        <p:spPr bwMode="auto">
          <a:xfrm flipH="1">
            <a:off x="3117850" y="4205288"/>
            <a:ext cx="284163" cy="1090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85" name="Line 9"/>
          <p:cNvSpPr>
            <a:spLocks noChangeShapeType="1"/>
          </p:cNvSpPr>
          <p:nvPr/>
        </p:nvSpPr>
        <p:spPr bwMode="auto">
          <a:xfrm>
            <a:off x="3425825" y="4232275"/>
            <a:ext cx="379413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86" name="Line 10"/>
          <p:cNvSpPr>
            <a:spLocks noChangeShapeType="1"/>
          </p:cNvSpPr>
          <p:nvPr/>
        </p:nvSpPr>
        <p:spPr bwMode="auto">
          <a:xfrm>
            <a:off x="3425825" y="4259263"/>
            <a:ext cx="973138" cy="960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87" name="Line 11"/>
          <p:cNvSpPr>
            <a:spLocks noChangeShapeType="1"/>
          </p:cNvSpPr>
          <p:nvPr/>
        </p:nvSpPr>
        <p:spPr bwMode="auto">
          <a:xfrm>
            <a:off x="3425825" y="4281488"/>
            <a:ext cx="1682750" cy="1014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88" name="Line 12"/>
          <p:cNvSpPr>
            <a:spLocks noChangeShapeType="1"/>
          </p:cNvSpPr>
          <p:nvPr/>
        </p:nvSpPr>
        <p:spPr bwMode="auto">
          <a:xfrm>
            <a:off x="3425825" y="4281488"/>
            <a:ext cx="23733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89" name="Line 13"/>
          <p:cNvSpPr>
            <a:spLocks noChangeShapeType="1"/>
          </p:cNvSpPr>
          <p:nvPr/>
        </p:nvSpPr>
        <p:spPr bwMode="auto">
          <a:xfrm flipH="1">
            <a:off x="3117850" y="4232275"/>
            <a:ext cx="11620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0" name="Line 14"/>
          <p:cNvSpPr>
            <a:spLocks noChangeShapeType="1"/>
          </p:cNvSpPr>
          <p:nvPr/>
        </p:nvSpPr>
        <p:spPr bwMode="auto">
          <a:xfrm flipH="1">
            <a:off x="3781425" y="4205288"/>
            <a:ext cx="522288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1" name="Line 15"/>
          <p:cNvSpPr>
            <a:spLocks noChangeShapeType="1"/>
          </p:cNvSpPr>
          <p:nvPr/>
        </p:nvSpPr>
        <p:spPr bwMode="auto">
          <a:xfrm>
            <a:off x="4303713" y="4179888"/>
            <a:ext cx="1174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2" name="Line 16"/>
          <p:cNvSpPr>
            <a:spLocks noChangeShapeType="1"/>
          </p:cNvSpPr>
          <p:nvPr/>
        </p:nvSpPr>
        <p:spPr bwMode="auto">
          <a:xfrm>
            <a:off x="4327525" y="4205288"/>
            <a:ext cx="808038" cy="1068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3" name="Line 17"/>
          <p:cNvSpPr>
            <a:spLocks noChangeShapeType="1"/>
          </p:cNvSpPr>
          <p:nvPr/>
        </p:nvSpPr>
        <p:spPr bwMode="auto">
          <a:xfrm>
            <a:off x="4327525" y="4281488"/>
            <a:ext cx="14462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4" name="Line 18"/>
          <p:cNvSpPr>
            <a:spLocks noChangeShapeType="1"/>
          </p:cNvSpPr>
          <p:nvPr/>
        </p:nvSpPr>
        <p:spPr bwMode="auto">
          <a:xfrm flipH="1">
            <a:off x="3141663" y="4232275"/>
            <a:ext cx="199390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5" name="Line 19"/>
          <p:cNvSpPr>
            <a:spLocks noChangeShapeType="1"/>
          </p:cNvSpPr>
          <p:nvPr/>
        </p:nvSpPr>
        <p:spPr bwMode="auto">
          <a:xfrm flipH="1">
            <a:off x="3781425" y="4232275"/>
            <a:ext cx="13271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6" name="Line 20"/>
          <p:cNvSpPr>
            <a:spLocks noChangeShapeType="1"/>
          </p:cNvSpPr>
          <p:nvPr/>
        </p:nvSpPr>
        <p:spPr bwMode="auto">
          <a:xfrm flipH="1">
            <a:off x="4445000" y="4259263"/>
            <a:ext cx="714375" cy="987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7" name="Line 21"/>
          <p:cNvSpPr>
            <a:spLocks noChangeShapeType="1"/>
          </p:cNvSpPr>
          <p:nvPr/>
        </p:nvSpPr>
        <p:spPr bwMode="auto">
          <a:xfrm flipH="1">
            <a:off x="5062538" y="4179888"/>
            <a:ext cx="1428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8" name="Line 22"/>
          <p:cNvSpPr>
            <a:spLocks noChangeShapeType="1"/>
          </p:cNvSpPr>
          <p:nvPr/>
        </p:nvSpPr>
        <p:spPr bwMode="auto">
          <a:xfrm>
            <a:off x="5181600" y="4205288"/>
            <a:ext cx="546100" cy="992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4999" name="Line 23"/>
          <p:cNvSpPr>
            <a:spLocks noChangeShapeType="1"/>
          </p:cNvSpPr>
          <p:nvPr/>
        </p:nvSpPr>
        <p:spPr bwMode="auto">
          <a:xfrm>
            <a:off x="3948113" y="3165475"/>
            <a:ext cx="355600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0" name="Line 24"/>
          <p:cNvSpPr>
            <a:spLocks noChangeShapeType="1"/>
          </p:cNvSpPr>
          <p:nvPr/>
        </p:nvSpPr>
        <p:spPr bwMode="auto">
          <a:xfrm>
            <a:off x="3924300" y="3165475"/>
            <a:ext cx="1257300" cy="992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1" name="Line 25"/>
          <p:cNvSpPr>
            <a:spLocks noChangeShapeType="1"/>
          </p:cNvSpPr>
          <p:nvPr/>
        </p:nvSpPr>
        <p:spPr bwMode="auto">
          <a:xfrm flipH="1">
            <a:off x="3425825" y="3190875"/>
            <a:ext cx="1303338" cy="1014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2" name="Line 26"/>
          <p:cNvSpPr>
            <a:spLocks noChangeShapeType="1"/>
          </p:cNvSpPr>
          <p:nvPr/>
        </p:nvSpPr>
        <p:spPr bwMode="auto">
          <a:xfrm flipH="1">
            <a:off x="4279900" y="3190875"/>
            <a:ext cx="449263" cy="966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3" name="Line 27"/>
          <p:cNvSpPr>
            <a:spLocks noChangeShapeType="1"/>
          </p:cNvSpPr>
          <p:nvPr/>
        </p:nvSpPr>
        <p:spPr bwMode="auto">
          <a:xfrm>
            <a:off x="4754563" y="3216275"/>
            <a:ext cx="404812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9" name="Oval 33"/>
          <p:cNvSpPr>
            <a:spLocks noChangeArrowheads="1"/>
          </p:cNvSpPr>
          <p:nvPr/>
        </p:nvSpPr>
        <p:spPr bwMode="auto">
          <a:xfrm>
            <a:off x="3336925" y="39456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10" name="Oval 34"/>
          <p:cNvSpPr>
            <a:spLocks noChangeArrowheads="1"/>
          </p:cNvSpPr>
          <p:nvPr/>
        </p:nvSpPr>
        <p:spPr bwMode="auto">
          <a:xfrm>
            <a:off x="3336925" y="3932966"/>
            <a:ext cx="255677" cy="52241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11" name="Oval 35"/>
          <p:cNvSpPr>
            <a:spLocks noChangeArrowheads="1"/>
          </p:cNvSpPr>
          <p:nvPr/>
        </p:nvSpPr>
        <p:spPr bwMode="auto">
          <a:xfrm>
            <a:off x="4203700" y="3945666"/>
            <a:ext cx="214313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12" name="Oval 36"/>
          <p:cNvSpPr>
            <a:spLocks noChangeArrowheads="1"/>
          </p:cNvSpPr>
          <p:nvPr/>
        </p:nvSpPr>
        <p:spPr bwMode="auto">
          <a:xfrm>
            <a:off x="5072063" y="39456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13" name="Text Box 37"/>
          <p:cNvSpPr txBox="1">
            <a:spLocks noChangeArrowheads="1"/>
          </p:cNvSpPr>
          <p:nvPr/>
        </p:nvSpPr>
        <p:spPr bwMode="auto">
          <a:xfrm>
            <a:off x="823913" y="3744913"/>
            <a:ext cx="18182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17" name="Oval 41"/>
          <p:cNvSpPr>
            <a:spLocks noChangeArrowheads="1"/>
          </p:cNvSpPr>
          <p:nvPr/>
        </p:nvSpPr>
        <p:spPr bwMode="auto">
          <a:xfrm>
            <a:off x="4673600" y="29169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18" name="Oval 42"/>
          <p:cNvSpPr>
            <a:spLocks noChangeArrowheads="1"/>
          </p:cNvSpPr>
          <p:nvPr/>
        </p:nvSpPr>
        <p:spPr bwMode="auto">
          <a:xfrm>
            <a:off x="3830638" y="29169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21" name="Line 45"/>
          <p:cNvSpPr>
            <a:spLocks noChangeShapeType="1"/>
          </p:cNvSpPr>
          <p:nvPr/>
        </p:nvSpPr>
        <p:spPr bwMode="auto">
          <a:xfrm flipH="1">
            <a:off x="3124200" y="4211638"/>
            <a:ext cx="284163" cy="10906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22" name="Line 46"/>
          <p:cNvSpPr>
            <a:spLocks noChangeShapeType="1"/>
          </p:cNvSpPr>
          <p:nvPr/>
        </p:nvSpPr>
        <p:spPr bwMode="auto">
          <a:xfrm>
            <a:off x="3419475" y="4264025"/>
            <a:ext cx="379413" cy="1041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4" name="Oval 28"/>
          <p:cNvSpPr>
            <a:spLocks noChangeArrowheads="1"/>
          </p:cNvSpPr>
          <p:nvPr/>
        </p:nvSpPr>
        <p:spPr bwMode="auto">
          <a:xfrm>
            <a:off x="3049588" y="5049773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5" name="Oval 29"/>
          <p:cNvSpPr>
            <a:spLocks noChangeArrowheads="1"/>
          </p:cNvSpPr>
          <p:nvPr/>
        </p:nvSpPr>
        <p:spPr bwMode="auto">
          <a:xfrm>
            <a:off x="3703638" y="5037866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23" name="Line 47"/>
          <p:cNvSpPr>
            <a:spLocks noChangeShapeType="1"/>
          </p:cNvSpPr>
          <p:nvPr/>
        </p:nvSpPr>
        <p:spPr bwMode="auto">
          <a:xfrm>
            <a:off x="3479800" y="4313238"/>
            <a:ext cx="973138" cy="9604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24" name="Line 48"/>
          <p:cNvSpPr>
            <a:spLocks noChangeShapeType="1"/>
          </p:cNvSpPr>
          <p:nvPr/>
        </p:nvSpPr>
        <p:spPr bwMode="auto">
          <a:xfrm>
            <a:off x="3468688" y="4298950"/>
            <a:ext cx="1682750" cy="10144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25" name="Line 49"/>
          <p:cNvSpPr>
            <a:spLocks noChangeShapeType="1"/>
          </p:cNvSpPr>
          <p:nvPr/>
        </p:nvSpPr>
        <p:spPr bwMode="auto">
          <a:xfrm>
            <a:off x="3468688" y="4311650"/>
            <a:ext cx="2373312" cy="9382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8" name="Oval 32"/>
          <p:cNvSpPr>
            <a:spLocks noChangeArrowheads="1"/>
          </p:cNvSpPr>
          <p:nvPr/>
        </p:nvSpPr>
        <p:spPr bwMode="auto">
          <a:xfrm>
            <a:off x="5667375" y="4997385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7" name="Oval 31"/>
          <p:cNvSpPr>
            <a:spLocks noChangeArrowheads="1"/>
          </p:cNvSpPr>
          <p:nvPr/>
        </p:nvSpPr>
        <p:spPr bwMode="auto">
          <a:xfrm>
            <a:off x="5013325" y="5011673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06" name="Oval 30"/>
          <p:cNvSpPr>
            <a:spLocks noChangeArrowheads="1"/>
          </p:cNvSpPr>
          <p:nvPr/>
        </p:nvSpPr>
        <p:spPr bwMode="auto">
          <a:xfrm>
            <a:off x="4359275" y="5023579"/>
            <a:ext cx="255677" cy="52241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5027" name="Text Box 51"/>
          <p:cNvSpPr txBox="1">
            <a:spLocks noChangeArrowheads="1"/>
          </p:cNvSpPr>
          <p:nvPr/>
        </p:nvSpPr>
        <p:spPr bwMode="auto">
          <a:xfrm>
            <a:off x="755576" y="3968229"/>
            <a:ext cx="208631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Update weights into </a:t>
            </a:r>
            <a:r>
              <a:rPr kumimoji="0" lang="en-US" alt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84368" y="2887776"/>
            <a:ext cx="30489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1234275" y="4693491"/>
            <a:ext cx="161509" cy="16150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0" y="6604084"/>
            <a:ext cx="30492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Ray Mooney, equations from Chris Bishop</a:t>
            </a:r>
          </a:p>
        </p:txBody>
      </p:sp>
    </p:spTree>
    <p:extLst>
      <p:ext uri="{BB962C8B-B14F-4D97-AF65-F5344CB8AC3E}">
        <p14:creationId xmlns:p14="http://schemas.microsoft.com/office/powerpoint/2010/main" val="336016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021" grpId="0" animBg="1"/>
      <p:bldP spid="255022" grpId="0" animBg="1"/>
      <p:bldP spid="255023" grpId="0" animBg="1"/>
      <p:bldP spid="255024" grpId="0" animBg="1"/>
      <p:bldP spid="255025" grpId="0" animBg="1"/>
      <p:bldP spid="25502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17AC-5F97-434D-9169-A265EB20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gradient for each weight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9DAC-42D7-42D3-BB1B-ED6013A13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14399"/>
            <a:ext cx="7772400" cy="56628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need to move weights in direction opposite to gradient of loss </a:t>
            </a:r>
            <a:r>
              <a:rPr lang="en-US" dirty="0" err="1"/>
              <a:t>wrt</a:t>
            </a:r>
            <a:r>
              <a:rPr lang="en-US" dirty="0"/>
              <a:t> that weight: </a:t>
            </a:r>
          </a:p>
          <a:p>
            <a:pPr marL="0" indent="0"/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dL/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kj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(output layer)</a:t>
            </a:r>
          </a:p>
          <a:p>
            <a:pPr marL="0" indent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dL/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(hidden layer)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Loss depends on weights in an indirect way, so we’ll use the chain rule and compute:</a:t>
            </a:r>
          </a:p>
          <a:p>
            <a:pPr marL="0" indent="0"/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aseline="-25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baseline="-25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baseline="-25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/da</a:t>
            </a:r>
            <a:r>
              <a:rPr lang="en-US" baseline="-25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</a:t>
            </a:r>
            <a:r>
              <a:rPr lang="en-US" baseline="-25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kj</a:t>
            </a:r>
            <a:r>
              <a:rPr lang="en-US" baseline="-25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/>
            <a:r>
              <a:rPr lang="en-US" baseline="-25000" dirty="0"/>
              <a:t>	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dz</a:t>
            </a:r>
            <a:r>
              <a:rPr lang="en-US" baseline="-25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dz</a:t>
            </a:r>
            <a:r>
              <a:rPr lang="en-US" baseline="-25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</a:t>
            </a:r>
            <a:r>
              <a:rPr lang="en-US" baseline="-25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</a:t>
            </a:r>
            <a:r>
              <a:rPr lang="en-US" baseline="-25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ji</a:t>
            </a:r>
            <a:r>
              <a:rPr lang="en-US" baseline="-25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81980B-8439-448D-8A9B-27A69DB99E29}"/>
              </a:ext>
            </a:extLst>
          </p:cNvPr>
          <p:cNvGrpSpPr/>
          <p:nvPr/>
        </p:nvGrpSpPr>
        <p:grpSpPr>
          <a:xfrm>
            <a:off x="740920" y="5922169"/>
            <a:ext cx="3844389" cy="838200"/>
            <a:chOff x="926645" y="3933056"/>
            <a:chExt cx="4293427" cy="93610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F612B3D-5D10-4FE9-B5F7-42425EBCB4CA}"/>
                </a:ext>
              </a:extLst>
            </p:cNvPr>
            <p:cNvGrpSpPr/>
            <p:nvPr/>
          </p:nvGrpSpPr>
          <p:grpSpPr>
            <a:xfrm>
              <a:off x="926645" y="3933056"/>
              <a:ext cx="4005395" cy="936104"/>
              <a:chOff x="284176" y="4690890"/>
              <a:chExt cx="4005395" cy="93610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07A778B-F740-4896-A339-B6954D457B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/>
              <a:srcRect l="18178" b="75306"/>
              <a:stretch/>
            </p:blipFill>
            <p:spPr>
              <a:xfrm>
                <a:off x="284176" y="4878738"/>
                <a:ext cx="2415887" cy="432048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0DB500D-09D3-4E84-A932-4A7E429749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rcRect l="23829" b="-11985"/>
              <a:stretch>
                <a:fillRect/>
              </a:stretch>
            </p:blipFill>
            <p:spPr>
              <a:xfrm>
                <a:off x="2129331" y="4690890"/>
                <a:ext cx="2160240" cy="936104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8D5E93-0FD0-4580-97F9-691CC75533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/>
            <a:srcRect l="60876" t="1131" r="19614" b="74175"/>
            <a:stretch/>
          </p:blipFill>
          <p:spPr>
            <a:xfrm>
              <a:off x="4644008" y="4365104"/>
              <a:ext cx="576064" cy="43204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8B63BF-8038-457D-889B-D3392A8A2ACB}"/>
                </a:ext>
              </a:extLst>
            </p:cNvPr>
            <p:cNvSpPr/>
            <p:nvPr/>
          </p:nvSpPr>
          <p:spPr bwMode="auto">
            <a:xfrm>
              <a:off x="4636008" y="4365104"/>
              <a:ext cx="72008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3A094E-19D7-4997-B4B5-F0B420F454E6}"/>
              </a:ext>
            </a:extLst>
          </p:cNvPr>
          <p:cNvGrpSpPr/>
          <p:nvPr/>
        </p:nvGrpSpPr>
        <p:grpSpPr>
          <a:xfrm>
            <a:off x="5134650" y="5839895"/>
            <a:ext cx="2979282" cy="938271"/>
            <a:chOff x="5579512" y="5595777"/>
            <a:chExt cx="3327272" cy="104786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F4551DB-E8A1-4D05-9BC4-84D830E386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/>
            <a:srcRect l="22938"/>
            <a:stretch/>
          </p:blipFill>
          <p:spPr>
            <a:xfrm>
              <a:off x="6451813" y="5595777"/>
              <a:ext cx="2454971" cy="104004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A4CFE80-02D3-4575-B9DD-43251A0AAD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/>
            <a:srcRect r="77384"/>
            <a:stretch/>
          </p:blipFill>
          <p:spPr>
            <a:xfrm>
              <a:off x="5579512" y="5603601"/>
              <a:ext cx="720490" cy="1040040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CE7C717-B8CE-40D8-9E78-DBE41874FD57}"/>
              </a:ext>
            </a:extLst>
          </p:cNvPr>
          <p:cNvSpPr/>
          <p:nvPr/>
        </p:nvSpPr>
        <p:spPr bwMode="auto">
          <a:xfrm>
            <a:off x="2981739" y="5110148"/>
            <a:ext cx="2564296" cy="636104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B3A7FF87-0AFF-4979-8B39-D69C74EC6006}"/>
              </a:ext>
            </a:extLst>
          </p:cNvPr>
          <p:cNvSpPr/>
          <p:nvPr/>
        </p:nvSpPr>
        <p:spPr>
          <a:xfrm>
            <a:off x="3089966" y="5160483"/>
            <a:ext cx="2289072" cy="5758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457383-0A66-4CCC-98A6-24FF50149DD8}"/>
              </a:ext>
            </a:extLst>
          </p:cNvPr>
          <p:cNvSpPr/>
          <p:nvPr/>
        </p:nvSpPr>
        <p:spPr bwMode="auto">
          <a:xfrm>
            <a:off x="828063" y="5886038"/>
            <a:ext cx="3757246" cy="83820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0634E1-560D-475B-84A6-E9ADAC7CB80C}"/>
              </a:ext>
            </a:extLst>
          </p:cNvPr>
          <p:cNvSpPr/>
          <p:nvPr/>
        </p:nvSpPr>
        <p:spPr bwMode="auto">
          <a:xfrm>
            <a:off x="4975625" y="5805886"/>
            <a:ext cx="3340312" cy="1003355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4729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9EC4-1021-4737-ABFC-3F556226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for output layer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8173C-CBED-4856-B4FC-2F4FC0B40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914400"/>
            <a:ext cx="8216463" cy="5257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Loss depends on weights in an indirect way,  so we’ll use the chain rule and compute:</a:t>
            </a:r>
          </a:p>
          <a:p>
            <a:pPr marL="0" indent="0"/>
            <a:r>
              <a:rPr lang="en-US" baseline="-25000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dL/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baseline="-25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baseline="-25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/da</a:t>
            </a:r>
            <a:r>
              <a:rPr lang="en-US" baseline="-25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</a:t>
            </a:r>
            <a:r>
              <a:rPr lang="en-US" baseline="-25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kj</a:t>
            </a:r>
            <a:endParaRPr lang="bg-BG" baseline="-25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How to compute each of these?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baseline="-25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aseline="-25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: need to know form of error function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Example: 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 =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  <a:r>
              <a:rPr lang="en-US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/>
              <a:t>, </a:t>
            </a:r>
            <a:r>
              <a:rPr lang="en-US" dirty="0"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 </a:t>
            </a:r>
            <a:r>
              <a:rPr lang="en-US" dirty="0">
                <a:cs typeface="Courier New" panose="02070309020205020404" pitchFamily="49" charset="0"/>
              </a:rPr>
              <a:t>is the ground-truth label, </a:t>
            </a:r>
            <a:r>
              <a:rPr lang="en-US" dirty="0"/>
              <a:t>then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’)	</a:t>
            </a:r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baseline="-25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</a:t>
            </a:r>
            <a:r>
              <a:rPr lang="en-US" baseline="-25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aseline="-25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: need to know output layer activation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)=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dirty="0"/>
              <a:t>then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 h(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)/d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)(1-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</a:t>
            </a:r>
            <a:r>
              <a:rPr lang="en-US" baseline="-25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kj</a:t>
            </a:r>
            <a:r>
              <a:rPr lang="en-US" baseline="-25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: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since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/>
              <a:t> is a linear combination</a:t>
            </a:r>
            <a:endParaRPr lang="bg-BG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k:</a:t>
            </a:r>
            <a:r>
              <a:rPr lang="en-US" baseline="30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z =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endParaRPr lang="en-US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0378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E415-F2B4-486A-8F2A-BF62B7C6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for hidden layer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3F61-BC37-4840-93BD-0FFF91A0F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We’ll use the chain rule again and compute:</a:t>
            </a:r>
          </a:p>
          <a:p>
            <a:pPr marL="0" indent="0"/>
            <a:r>
              <a:rPr lang="en-US" baseline="-25000" dirty="0"/>
              <a:t>	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dz</a:t>
            </a:r>
            <a:r>
              <a:rPr lang="en-US" baseline="-25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dz</a:t>
            </a:r>
            <a:r>
              <a:rPr lang="en-US" baseline="-25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</a:t>
            </a:r>
            <a:r>
              <a:rPr lang="en-US" baseline="-25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</a:t>
            </a:r>
            <a:r>
              <a:rPr lang="en-US" baseline="-25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baseline="-25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ji</a:t>
            </a:r>
            <a:r>
              <a:rPr lang="en-US" baseline="-25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Unlike the previous case (weights for output layer), the error 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dL/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dz</a:t>
            </a:r>
            <a:r>
              <a:rPr lang="en-US" baseline="-25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/>
              <a:t>) is hard to compute (indirect, need chain rule again)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598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8A7E-5A1E-4E69-9597-D86522AE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of keeping track of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BFD9C-8B5C-4787-B5D1-7C33D3010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 graphs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Accumulate upstream/downstream gradients at each node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One set flows from inputs to outputs and can be computed without evaluating loss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other flows from outputs (loss) to inputs</a:t>
            </a:r>
          </a:p>
        </p:txBody>
      </p:sp>
    </p:spTree>
    <p:extLst>
      <p:ext uri="{BB962C8B-B14F-4D97-AF65-F5344CB8AC3E}">
        <p14:creationId xmlns:p14="http://schemas.microsoft.com/office/powerpoint/2010/main" val="7734024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156" y="2708248"/>
            <a:ext cx="194310" cy="738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</a:t>
            </a:r>
            <a:endParaRPr kumimoji="0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22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4D0E67-07FA-4D6E-B162-4F5EB6CFC832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840467C-EC6E-4A25-8035-3CC8CCF2A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1224082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18" name="object 18"/>
          <p:cNvSpPr/>
          <p:nvPr/>
        </p:nvSpPr>
        <p:spPr>
          <a:xfrm>
            <a:off x="3398744" y="2147685"/>
            <a:ext cx="485773" cy="6381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9244" y="2138160"/>
            <a:ext cx="504825" cy="657225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398743" y="3350294"/>
            <a:ext cx="409574" cy="7048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389244" y="3340757"/>
            <a:ext cx="428625" cy="7239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23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3A5671-3E29-4825-8113-6C2B2733EE14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4ADC6376-1720-448C-8705-B0473F45A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5798" y="2150921"/>
            <a:ext cx="7612402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2470" marR="2814955" algn="ctr"/>
            <a:r>
              <a:rPr spc="-5" dirty="0"/>
              <a:t>“local</a:t>
            </a:r>
            <a:r>
              <a:rPr spc="-35" dirty="0"/>
              <a:t> </a:t>
            </a:r>
            <a:r>
              <a:rPr spc="-5" dirty="0"/>
              <a:t>gradient”</a:t>
            </a:r>
          </a:p>
          <a:p>
            <a:pPr marL="3252470"/>
            <a:endParaRPr spc="-5" dirty="0"/>
          </a:p>
          <a:p>
            <a:pPr marL="3252470"/>
            <a:endParaRPr sz="2350" dirty="0">
              <a:latin typeface="Times New Roman"/>
              <a:cs typeface="Times New Roman"/>
            </a:endParaRPr>
          </a:p>
          <a:p>
            <a:pPr marL="3252470" marR="2941320" algn="ctr"/>
            <a:r>
              <a:rPr sz="4800" spc="-5" dirty="0">
                <a:solidFill>
                  <a:srgbClr val="000000"/>
                </a:solidFill>
              </a:rPr>
              <a:t>f</a:t>
            </a:r>
            <a:endParaRPr sz="4800" dirty="0"/>
          </a:p>
          <a:p>
            <a:pPr marL="3252470">
              <a:spcBef>
                <a:spcPts val="20"/>
              </a:spcBef>
            </a:pPr>
            <a:endParaRPr sz="7050" dirty="0">
              <a:latin typeface="Times New Roman"/>
              <a:cs typeface="Times New Roman"/>
            </a:endParaRPr>
          </a:p>
          <a:p>
            <a:pPr marL="6031865"/>
            <a:r>
              <a:rPr sz="3000" spc="-5" dirty="0"/>
              <a:t>gradients</a:t>
            </a:r>
            <a:endParaRPr sz="3000" dirty="0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D2198230-1317-4903-9666-56CF6B7F8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42724940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18" name="object 18"/>
          <p:cNvSpPr/>
          <p:nvPr/>
        </p:nvSpPr>
        <p:spPr>
          <a:xfrm>
            <a:off x="3398744" y="2147685"/>
            <a:ext cx="485773" cy="6381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9244" y="2138160"/>
            <a:ext cx="504825" cy="657225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398743" y="3350294"/>
            <a:ext cx="409574" cy="7048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389244" y="3340757"/>
            <a:ext cx="428625" cy="7239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85386" y="3290870"/>
            <a:ext cx="2112010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98938" y="3259405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64960" y="3412445"/>
            <a:ext cx="514348" cy="6762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55460" y="3402920"/>
            <a:ext cx="533400" cy="695325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765798" y="2150921"/>
            <a:ext cx="7612402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2470" marR="2814955" algn="ctr"/>
            <a:r>
              <a:rPr spc="-5" dirty="0"/>
              <a:t>“local</a:t>
            </a:r>
            <a:r>
              <a:rPr spc="-35" dirty="0"/>
              <a:t> </a:t>
            </a:r>
            <a:r>
              <a:rPr spc="-5" dirty="0"/>
              <a:t>gradient”</a:t>
            </a:r>
          </a:p>
          <a:p>
            <a:pPr marL="3252470"/>
            <a:endParaRPr spc="-5" dirty="0"/>
          </a:p>
          <a:p>
            <a:pPr marL="3252470"/>
            <a:endParaRPr sz="2350" dirty="0">
              <a:latin typeface="Times New Roman"/>
              <a:cs typeface="Times New Roman"/>
            </a:endParaRPr>
          </a:p>
          <a:p>
            <a:pPr marL="3252470" marR="2941320" algn="ctr"/>
            <a:r>
              <a:rPr sz="4800" spc="-5" dirty="0">
                <a:solidFill>
                  <a:srgbClr val="000000"/>
                </a:solidFill>
              </a:rPr>
              <a:t>f</a:t>
            </a:r>
            <a:endParaRPr sz="4800" dirty="0"/>
          </a:p>
          <a:p>
            <a:pPr marL="3252470">
              <a:spcBef>
                <a:spcPts val="20"/>
              </a:spcBef>
            </a:pPr>
            <a:endParaRPr sz="7050" dirty="0">
              <a:latin typeface="Times New Roman"/>
              <a:cs typeface="Times New Roman"/>
            </a:endParaRPr>
          </a:p>
          <a:p>
            <a:pPr marL="6031865"/>
            <a:r>
              <a:rPr sz="3000" spc="-5" dirty="0"/>
              <a:t>gradients</a:t>
            </a:r>
            <a:endParaRPr sz="3000" dirty="0"/>
          </a:p>
        </p:txBody>
      </p:sp>
      <p:sp>
        <p:nvSpPr>
          <p:cNvPr id="27" name="object 27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24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8DBF2-3884-44E0-9B89-8F53BDC33D99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15B425F-C00A-4930-A77F-01DCCE623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1746497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85386" y="3290870"/>
            <a:ext cx="2112010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98938" y="3259405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20" name="object 20"/>
          <p:cNvSpPr/>
          <p:nvPr/>
        </p:nvSpPr>
        <p:spPr>
          <a:xfrm>
            <a:off x="7164960" y="3412445"/>
            <a:ext cx="514348" cy="6762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55460" y="3402920"/>
            <a:ext cx="533400" cy="695325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98744" y="2147685"/>
            <a:ext cx="485773" cy="6381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89244" y="2138160"/>
            <a:ext cx="504825" cy="657225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98743" y="3350294"/>
            <a:ext cx="409574" cy="7048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89244" y="3340757"/>
            <a:ext cx="428625" cy="7239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765798" y="2150921"/>
            <a:ext cx="7612402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2470" marR="2814955" algn="ctr"/>
            <a:r>
              <a:rPr spc="-5" dirty="0"/>
              <a:t>“local</a:t>
            </a:r>
            <a:r>
              <a:rPr spc="-35" dirty="0"/>
              <a:t> </a:t>
            </a:r>
            <a:r>
              <a:rPr spc="-5" dirty="0"/>
              <a:t>gradient”</a:t>
            </a:r>
          </a:p>
          <a:p>
            <a:pPr marL="3252470"/>
            <a:endParaRPr spc="-5" dirty="0"/>
          </a:p>
          <a:p>
            <a:pPr marL="3252470"/>
            <a:endParaRPr sz="2350" dirty="0">
              <a:latin typeface="Times New Roman"/>
              <a:cs typeface="Times New Roman"/>
            </a:endParaRPr>
          </a:p>
          <a:p>
            <a:pPr marL="3252470" marR="2941320" algn="ctr"/>
            <a:r>
              <a:rPr sz="4800" spc="-5" dirty="0">
                <a:solidFill>
                  <a:srgbClr val="000000"/>
                </a:solidFill>
              </a:rPr>
              <a:t>f</a:t>
            </a:r>
            <a:endParaRPr sz="4800"/>
          </a:p>
          <a:p>
            <a:pPr marL="3252470">
              <a:spcBef>
                <a:spcPts val="20"/>
              </a:spcBef>
            </a:pPr>
            <a:endParaRPr sz="7050" dirty="0">
              <a:latin typeface="Times New Roman"/>
              <a:cs typeface="Times New Roman"/>
            </a:endParaRPr>
          </a:p>
          <a:p>
            <a:pPr marL="6031865"/>
            <a:r>
              <a:rPr sz="3000" spc="-5" dirty="0"/>
              <a:t>gradients</a:t>
            </a:r>
            <a:endParaRPr sz="3000"/>
          </a:p>
        </p:txBody>
      </p:sp>
      <p:sp>
        <p:nvSpPr>
          <p:cNvPr id="27" name="object 27"/>
          <p:cNvSpPr/>
          <p:nvPr/>
        </p:nvSpPr>
        <p:spPr>
          <a:xfrm>
            <a:off x="799524" y="1569286"/>
            <a:ext cx="2129395" cy="15531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4738" y="1598789"/>
            <a:ext cx="811530" cy="833119"/>
          </a:xfrm>
          <a:custGeom>
            <a:avLst/>
            <a:gdLst/>
            <a:ahLst/>
            <a:cxnLst/>
            <a:rect l="l" t="t" r="r" b="b"/>
            <a:pathLst>
              <a:path w="811530" h="833119">
                <a:moveTo>
                  <a:pt x="281399" y="0"/>
                </a:moveTo>
                <a:lnTo>
                  <a:pt x="811198" y="260399"/>
                </a:lnTo>
                <a:lnTo>
                  <a:pt x="529798" y="833098"/>
                </a:lnTo>
                <a:lnTo>
                  <a:pt x="0" y="572698"/>
                </a:lnTo>
                <a:lnTo>
                  <a:pt x="2813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3371" y="1511916"/>
            <a:ext cx="2042795" cy="901700"/>
          </a:xfrm>
          <a:custGeom>
            <a:avLst/>
            <a:gdLst/>
            <a:ahLst/>
            <a:cxnLst/>
            <a:rect l="l" t="t" r="r" b="b"/>
            <a:pathLst>
              <a:path w="2042795" h="901700">
                <a:moveTo>
                  <a:pt x="2042523" y="901255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74279" y="1477017"/>
            <a:ext cx="92075" cy="64135"/>
          </a:xfrm>
          <a:custGeom>
            <a:avLst/>
            <a:gdLst/>
            <a:ahLst/>
            <a:cxnLst/>
            <a:rect l="l" t="t" r="r" b="b"/>
            <a:pathLst>
              <a:path w="92075" h="64134">
                <a:moveTo>
                  <a:pt x="91794" y="6112"/>
                </a:moveTo>
                <a:lnTo>
                  <a:pt x="0" y="0"/>
                </a:lnTo>
                <a:lnTo>
                  <a:pt x="66389" y="63687"/>
                </a:lnTo>
                <a:lnTo>
                  <a:pt x="91794" y="611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25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F5CDCB-86EF-4B46-B0BE-E379B8DEB3F4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550E6FEC-8FBC-4F89-AEC8-955217924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8256999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85386" y="3290870"/>
            <a:ext cx="2112010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98938" y="3259405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20" name="object 20"/>
          <p:cNvSpPr/>
          <p:nvPr/>
        </p:nvSpPr>
        <p:spPr>
          <a:xfrm>
            <a:off x="7164960" y="3412445"/>
            <a:ext cx="514348" cy="6762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55460" y="3402920"/>
            <a:ext cx="533400" cy="695325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98744" y="2147685"/>
            <a:ext cx="485773" cy="6381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89244" y="2138160"/>
            <a:ext cx="504825" cy="657225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98743" y="3350294"/>
            <a:ext cx="409574" cy="7048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89244" y="3340757"/>
            <a:ext cx="428625" cy="7239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765798" y="2150921"/>
            <a:ext cx="7612402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2470" marR="2814955" algn="ctr"/>
            <a:r>
              <a:rPr spc="-5" dirty="0"/>
              <a:t>“local</a:t>
            </a:r>
            <a:r>
              <a:rPr spc="-35" dirty="0"/>
              <a:t> </a:t>
            </a:r>
            <a:r>
              <a:rPr spc="-5" dirty="0"/>
              <a:t>gradient”</a:t>
            </a:r>
          </a:p>
          <a:p>
            <a:pPr marL="3252470"/>
            <a:endParaRPr spc="-5" dirty="0"/>
          </a:p>
          <a:p>
            <a:pPr marL="3252470"/>
            <a:endParaRPr sz="2350" dirty="0">
              <a:latin typeface="Times New Roman"/>
              <a:cs typeface="Times New Roman"/>
            </a:endParaRPr>
          </a:p>
          <a:p>
            <a:pPr marL="3252470" marR="2941320" algn="ctr"/>
            <a:r>
              <a:rPr sz="4800" spc="-5" dirty="0">
                <a:solidFill>
                  <a:srgbClr val="000000"/>
                </a:solidFill>
              </a:rPr>
              <a:t>f</a:t>
            </a:r>
            <a:endParaRPr sz="4800"/>
          </a:p>
          <a:p>
            <a:pPr marL="3252470">
              <a:spcBef>
                <a:spcPts val="20"/>
              </a:spcBef>
            </a:pPr>
            <a:endParaRPr sz="7050" dirty="0">
              <a:latin typeface="Times New Roman"/>
              <a:cs typeface="Times New Roman"/>
            </a:endParaRPr>
          </a:p>
          <a:p>
            <a:pPr marL="6031865"/>
            <a:r>
              <a:rPr sz="3000" spc="-5" dirty="0"/>
              <a:t>gradients</a:t>
            </a:r>
            <a:endParaRPr sz="3000"/>
          </a:p>
        </p:txBody>
      </p:sp>
      <p:sp>
        <p:nvSpPr>
          <p:cNvPr id="27" name="object 27"/>
          <p:cNvSpPr/>
          <p:nvPr/>
        </p:nvSpPr>
        <p:spPr>
          <a:xfrm>
            <a:off x="799524" y="1569286"/>
            <a:ext cx="2129395" cy="15531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4738" y="1598789"/>
            <a:ext cx="811530" cy="833119"/>
          </a:xfrm>
          <a:custGeom>
            <a:avLst/>
            <a:gdLst/>
            <a:ahLst/>
            <a:cxnLst/>
            <a:rect l="l" t="t" r="r" b="b"/>
            <a:pathLst>
              <a:path w="811530" h="833119">
                <a:moveTo>
                  <a:pt x="281399" y="0"/>
                </a:moveTo>
                <a:lnTo>
                  <a:pt x="811198" y="260399"/>
                </a:lnTo>
                <a:lnTo>
                  <a:pt x="529798" y="833098"/>
                </a:lnTo>
                <a:lnTo>
                  <a:pt x="0" y="572698"/>
                </a:lnTo>
                <a:lnTo>
                  <a:pt x="2813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202508" y="4046528"/>
            <a:ext cx="2132702" cy="13204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95922" y="4528467"/>
            <a:ext cx="767080" cy="796290"/>
          </a:xfrm>
          <a:custGeom>
            <a:avLst/>
            <a:gdLst/>
            <a:ahLst/>
            <a:cxnLst/>
            <a:rect l="l" t="t" r="r" b="b"/>
            <a:pathLst>
              <a:path w="767080" h="796289">
                <a:moveTo>
                  <a:pt x="0" y="193199"/>
                </a:moveTo>
                <a:lnTo>
                  <a:pt x="557698" y="0"/>
                </a:lnTo>
                <a:lnTo>
                  <a:pt x="766798" y="602998"/>
                </a:lnTo>
                <a:lnTo>
                  <a:pt x="209099" y="796198"/>
                </a:lnTo>
                <a:lnTo>
                  <a:pt x="0" y="193199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53371" y="1511916"/>
            <a:ext cx="2042795" cy="901700"/>
          </a:xfrm>
          <a:custGeom>
            <a:avLst/>
            <a:gdLst/>
            <a:ahLst/>
            <a:cxnLst/>
            <a:rect l="l" t="t" r="r" b="b"/>
            <a:pathLst>
              <a:path w="2042795" h="901700">
                <a:moveTo>
                  <a:pt x="2042523" y="901255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74279" y="1477017"/>
            <a:ext cx="92075" cy="64135"/>
          </a:xfrm>
          <a:custGeom>
            <a:avLst/>
            <a:gdLst/>
            <a:ahLst/>
            <a:cxnLst/>
            <a:rect l="l" t="t" r="r" b="b"/>
            <a:pathLst>
              <a:path w="92075" h="64134">
                <a:moveTo>
                  <a:pt x="91794" y="6112"/>
                </a:moveTo>
                <a:lnTo>
                  <a:pt x="0" y="0"/>
                </a:lnTo>
                <a:lnTo>
                  <a:pt x="66389" y="63687"/>
                </a:lnTo>
                <a:lnTo>
                  <a:pt x="91794" y="611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82509" y="3962343"/>
            <a:ext cx="2277745" cy="745490"/>
          </a:xfrm>
          <a:custGeom>
            <a:avLst/>
            <a:gdLst/>
            <a:ahLst/>
            <a:cxnLst/>
            <a:rect l="l" t="t" r="r" b="b"/>
            <a:pathLst>
              <a:path w="2277745" h="745489">
                <a:moveTo>
                  <a:pt x="2277560" y="0"/>
                </a:moveTo>
                <a:lnTo>
                  <a:pt x="0" y="745048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00344" y="4677493"/>
            <a:ext cx="92075" cy="60325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72382" y="0"/>
                </a:moveTo>
                <a:lnTo>
                  <a:pt x="0" y="56799"/>
                </a:lnTo>
                <a:lnTo>
                  <a:pt x="91947" y="59824"/>
                </a:lnTo>
                <a:lnTo>
                  <a:pt x="72382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26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A665C6-FDCB-478E-8FB0-E5BCD88DEFA1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5902A5DC-EFE3-44F8-872B-90185FC9E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12134772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85386" y="3290870"/>
            <a:ext cx="2112010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98938" y="3259405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20" name="object 20"/>
          <p:cNvSpPr/>
          <p:nvPr/>
        </p:nvSpPr>
        <p:spPr>
          <a:xfrm>
            <a:off x="7164960" y="3412445"/>
            <a:ext cx="514348" cy="6762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55460" y="3402920"/>
            <a:ext cx="533400" cy="695325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98744" y="2147685"/>
            <a:ext cx="485773" cy="6381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89244" y="2138160"/>
            <a:ext cx="504825" cy="657225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98743" y="3350294"/>
            <a:ext cx="409574" cy="7048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89244" y="3340757"/>
            <a:ext cx="428625" cy="7239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765798" y="2150921"/>
            <a:ext cx="7612402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2470" marR="2814955" algn="ctr"/>
            <a:r>
              <a:rPr spc="-5" dirty="0"/>
              <a:t>“local</a:t>
            </a:r>
            <a:r>
              <a:rPr spc="-35" dirty="0"/>
              <a:t> </a:t>
            </a:r>
            <a:r>
              <a:rPr spc="-5" dirty="0"/>
              <a:t>gradient”</a:t>
            </a:r>
          </a:p>
          <a:p>
            <a:pPr marL="3252470"/>
            <a:endParaRPr spc="-5" dirty="0"/>
          </a:p>
          <a:p>
            <a:pPr marL="3252470"/>
            <a:endParaRPr sz="2350" dirty="0">
              <a:latin typeface="Times New Roman"/>
              <a:cs typeface="Times New Roman"/>
            </a:endParaRPr>
          </a:p>
          <a:p>
            <a:pPr marL="3252470" marR="2941320" algn="ctr"/>
            <a:r>
              <a:rPr sz="4800" spc="-5" dirty="0">
                <a:solidFill>
                  <a:srgbClr val="000000"/>
                </a:solidFill>
              </a:rPr>
              <a:t>f</a:t>
            </a:r>
            <a:endParaRPr sz="4800"/>
          </a:p>
          <a:p>
            <a:pPr marL="3252470">
              <a:spcBef>
                <a:spcPts val="20"/>
              </a:spcBef>
            </a:pPr>
            <a:endParaRPr sz="7050" dirty="0">
              <a:latin typeface="Times New Roman"/>
              <a:cs typeface="Times New Roman"/>
            </a:endParaRPr>
          </a:p>
          <a:p>
            <a:pPr marL="6031865"/>
            <a:r>
              <a:rPr sz="3000" spc="-5" dirty="0"/>
              <a:t>gradients</a:t>
            </a:r>
            <a:endParaRPr sz="3000"/>
          </a:p>
        </p:txBody>
      </p:sp>
      <p:sp>
        <p:nvSpPr>
          <p:cNvPr id="27" name="object 27"/>
          <p:cNvSpPr/>
          <p:nvPr/>
        </p:nvSpPr>
        <p:spPr>
          <a:xfrm>
            <a:off x="799524" y="1569286"/>
            <a:ext cx="2129395" cy="15531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4738" y="1598789"/>
            <a:ext cx="811530" cy="833119"/>
          </a:xfrm>
          <a:custGeom>
            <a:avLst/>
            <a:gdLst/>
            <a:ahLst/>
            <a:cxnLst/>
            <a:rect l="l" t="t" r="r" b="b"/>
            <a:pathLst>
              <a:path w="811530" h="833119">
                <a:moveTo>
                  <a:pt x="281399" y="0"/>
                </a:moveTo>
                <a:lnTo>
                  <a:pt x="811198" y="260399"/>
                </a:lnTo>
                <a:lnTo>
                  <a:pt x="529798" y="833098"/>
                </a:lnTo>
                <a:lnTo>
                  <a:pt x="0" y="572698"/>
                </a:lnTo>
                <a:lnTo>
                  <a:pt x="2813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202508" y="4046528"/>
            <a:ext cx="2132702" cy="13204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95922" y="4528467"/>
            <a:ext cx="767080" cy="796290"/>
          </a:xfrm>
          <a:custGeom>
            <a:avLst/>
            <a:gdLst/>
            <a:ahLst/>
            <a:cxnLst/>
            <a:rect l="l" t="t" r="r" b="b"/>
            <a:pathLst>
              <a:path w="767080" h="796289">
                <a:moveTo>
                  <a:pt x="0" y="193199"/>
                </a:moveTo>
                <a:lnTo>
                  <a:pt x="557698" y="0"/>
                </a:lnTo>
                <a:lnTo>
                  <a:pt x="766798" y="602998"/>
                </a:lnTo>
                <a:lnTo>
                  <a:pt x="209099" y="796198"/>
                </a:lnTo>
                <a:lnTo>
                  <a:pt x="0" y="193199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53371" y="1511916"/>
            <a:ext cx="2042795" cy="901700"/>
          </a:xfrm>
          <a:custGeom>
            <a:avLst/>
            <a:gdLst/>
            <a:ahLst/>
            <a:cxnLst/>
            <a:rect l="l" t="t" r="r" b="b"/>
            <a:pathLst>
              <a:path w="2042795" h="901700">
                <a:moveTo>
                  <a:pt x="2042523" y="901255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74279" y="1477017"/>
            <a:ext cx="92075" cy="64135"/>
          </a:xfrm>
          <a:custGeom>
            <a:avLst/>
            <a:gdLst/>
            <a:ahLst/>
            <a:cxnLst/>
            <a:rect l="l" t="t" r="r" b="b"/>
            <a:pathLst>
              <a:path w="92075" h="64134">
                <a:moveTo>
                  <a:pt x="91794" y="6112"/>
                </a:moveTo>
                <a:lnTo>
                  <a:pt x="0" y="0"/>
                </a:lnTo>
                <a:lnTo>
                  <a:pt x="66389" y="63687"/>
                </a:lnTo>
                <a:lnTo>
                  <a:pt x="91794" y="611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82509" y="3962343"/>
            <a:ext cx="2277745" cy="745490"/>
          </a:xfrm>
          <a:custGeom>
            <a:avLst/>
            <a:gdLst/>
            <a:ahLst/>
            <a:cxnLst/>
            <a:rect l="l" t="t" r="r" b="b"/>
            <a:pathLst>
              <a:path w="2277745" h="745489">
                <a:moveTo>
                  <a:pt x="2277560" y="0"/>
                </a:moveTo>
                <a:lnTo>
                  <a:pt x="0" y="745048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00344" y="4677493"/>
            <a:ext cx="92075" cy="60325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72382" y="0"/>
                </a:moveTo>
                <a:lnTo>
                  <a:pt x="0" y="56799"/>
                </a:lnTo>
                <a:lnTo>
                  <a:pt x="91947" y="59824"/>
                </a:lnTo>
                <a:lnTo>
                  <a:pt x="72382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" y="857251"/>
            <a:ext cx="1119505" cy="1125855"/>
          </a:xfrm>
          <a:custGeom>
            <a:avLst/>
            <a:gdLst/>
            <a:ahLst/>
            <a:cxnLst/>
            <a:rect l="l" t="t" r="r" b="b"/>
            <a:pathLst>
              <a:path w="1119505" h="1125855">
                <a:moveTo>
                  <a:pt x="1118890" y="0"/>
                </a:moveTo>
                <a:lnTo>
                  <a:pt x="1098420" y="60341"/>
                </a:lnTo>
                <a:lnTo>
                  <a:pt x="1082336" y="102963"/>
                </a:lnTo>
                <a:lnTo>
                  <a:pt x="1065182" y="145047"/>
                </a:lnTo>
                <a:lnTo>
                  <a:pt x="1046974" y="186577"/>
                </a:lnTo>
                <a:lnTo>
                  <a:pt x="1027728" y="227536"/>
                </a:lnTo>
                <a:lnTo>
                  <a:pt x="1007461" y="267907"/>
                </a:lnTo>
                <a:lnTo>
                  <a:pt x="986191" y="307674"/>
                </a:lnTo>
                <a:lnTo>
                  <a:pt x="963933" y="346820"/>
                </a:lnTo>
                <a:lnTo>
                  <a:pt x="940704" y="385328"/>
                </a:lnTo>
                <a:lnTo>
                  <a:pt x="916522" y="423182"/>
                </a:lnTo>
                <a:lnTo>
                  <a:pt x="891402" y="460365"/>
                </a:lnTo>
                <a:lnTo>
                  <a:pt x="865361" y="496861"/>
                </a:lnTo>
                <a:lnTo>
                  <a:pt x="838416" y="532652"/>
                </a:lnTo>
                <a:lnTo>
                  <a:pt x="810583" y="567722"/>
                </a:lnTo>
                <a:lnTo>
                  <a:pt x="781880" y="602055"/>
                </a:lnTo>
                <a:lnTo>
                  <a:pt x="752322" y="635634"/>
                </a:lnTo>
                <a:lnTo>
                  <a:pt x="721927" y="668441"/>
                </a:lnTo>
                <a:lnTo>
                  <a:pt x="690711" y="700461"/>
                </a:lnTo>
                <a:lnTo>
                  <a:pt x="658691" y="731677"/>
                </a:lnTo>
                <a:lnTo>
                  <a:pt x="625884" y="762072"/>
                </a:lnTo>
                <a:lnTo>
                  <a:pt x="592305" y="791630"/>
                </a:lnTo>
                <a:lnTo>
                  <a:pt x="557972" y="820333"/>
                </a:lnTo>
                <a:lnTo>
                  <a:pt x="522902" y="848166"/>
                </a:lnTo>
                <a:lnTo>
                  <a:pt x="487111" y="875111"/>
                </a:lnTo>
                <a:lnTo>
                  <a:pt x="450615" y="901152"/>
                </a:lnTo>
                <a:lnTo>
                  <a:pt x="413432" y="926272"/>
                </a:lnTo>
                <a:lnTo>
                  <a:pt x="375578" y="950455"/>
                </a:lnTo>
                <a:lnTo>
                  <a:pt x="337070" y="973683"/>
                </a:lnTo>
                <a:lnTo>
                  <a:pt x="297924" y="995941"/>
                </a:lnTo>
                <a:lnTo>
                  <a:pt x="258157" y="1017212"/>
                </a:lnTo>
                <a:lnTo>
                  <a:pt x="217786" y="1037478"/>
                </a:lnTo>
                <a:lnTo>
                  <a:pt x="176827" y="1056724"/>
                </a:lnTo>
                <a:lnTo>
                  <a:pt x="135297" y="1074932"/>
                </a:lnTo>
                <a:lnTo>
                  <a:pt x="93212" y="1092086"/>
                </a:lnTo>
                <a:lnTo>
                  <a:pt x="50590" y="1108170"/>
                </a:lnTo>
                <a:lnTo>
                  <a:pt x="7447" y="1123166"/>
                </a:lnTo>
                <a:lnTo>
                  <a:pt x="0" y="1125537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3830661"/>
            <a:ext cx="702310" cy="2170430"/>
          </a:xfrm>
          <a:custGeom>
            <a:avLst/>
            <a:gdLst/>
            <a:ahLst/>
            <a:cxnLst/>
            <a:rect l="l" t="t" r="r" b="b"/>
            <a:pathLst>
              <a:path w="702310" h="2170429">
                <a:moveTo>
                  <a:pt x="0" y="0"/>
                </a:moveTo>
                <a:lnTo>
                  <a:pt x="43085" y="33133"/>
                </a:lnTo>
                <a:lnTo>
                  <a:pt x="81157" y="64327"/>
                </a:lnTo>
                <a:lnTo>
                  <a:pt x="118416" y="96653"/>
                </a:lnTo>
                <a:lnTo>
                  <a:pt x="154835" y="130100"/>
                </a:lnTo>
                <a:lnTo>
                  <a:pt x="190387" y="164656"/>
                </a:lnTo>
                <a:lnTo>
                  <a:pt x="224946" y="200209"/>
                </a:lnTo>
                <a:lnTo>
                  <a:pt x="258394" y="236629"/>
                </a:lnTo>
                <a:lnTo>
                  <a:pt x="290721" y="273889"/>
                </a:lnTo>
                <a:lnTo>
                  <a:pt x="321917" y="311962"/>
                </a:lnTo>
                <a:lnTo>
                  <a:pt x="351969" y="350822"/>
                </a:lnTo>
                <a:lnTo>
                  <a:pt x="380866" y="390441"/>
                </a:lnTo>
                <a:lnTo>
                  <a:pt x="408598" y="430794"/>
                </a:lnTo>
                <a:lnTo>
                  <a:pt x="435154" y="471853"/>
                </a:lnTo>
                <a:lnTo>
                  <a:pt x="460523" y="513592"/>
                </a:lnTo>
                <a:lnTo>
                  <a:pt x="484692" y="555983"/>
                </a:lnTo>
                <a:lnTo>
                  <a:pt x="507653" y="599001"/>
                </a:lnTo>
                <a:lnTo>
                  <a:pt x="529392" y="642619"/>
                </a:lnTo>
                <a:lnTo>
                  <a:pt x="549900" y="686809"/>
                </a:lnTo>
                <a:lnTo>
                  <a:pt x="569164" y="731546"/>
                </a:lnTo>
                <a:lnTo>
                  <a:pt x="587175" y="776802"/>
                </a:lnTo>
                <a:lnTo>
                  <a:pt x="603921" y="822550"/>
                </a:lnTo>
                <a:lnTo>
                  <a:pt x="619391" y="868764"/>
                </a:lnTo>
                <a:lnTo>
                  <a:pt x="633574" y="915418"/>
                </a:lnTo>
                <a:lnTo>
                  <a:pt x="646458" y="962484"/>
                </a:lnTo>
                <a:lnTo>
                  <a:pt x="658033" y="1009936"/>
                </a:lnTo>
                <a:lnTo>
                  <a:pt x="668288" y="1057746"/>
                </a:lnTo>
                <a:lnTo>
                  <a:pt x="677212" y="1105889"/>
                </a:lnTo>
                <a:lnTo>
                  <a:pt x="684793" y="1154338"/>
                </a:lnTo>
                <a:lnTo>
                  <a:pt x="691020" y="1203065"/>
                </a:lnTo>
                <a:lnTo>
                  <a:pt x="695883" y="1252045"/>
                </a:lnTo>
                <a:lnTo>
                  <a:pt x="699370" y="1301250"/>
                </a:lnTo>
                <a:lnTo>
                  <a:pt x="701470" y="1350653"/>
                </a:lnTo>
                <a:lnTo>
                  <a:pt x="702173" y="1400229"/>
                </a:lnTo>
                <a:lnTo>
                  <a:pt x="701524" y="1448325"/>
                </a:lnTo>
                <a:lnTo>
                  <a:pt x="699588" y="1496100"/>
                </a:lnTo>
                <a:lnTo>
                  <a:pt x="696381" y="1543537"/>
                </a:lnTo>
                <a:lnTo>
                  <a:pt x="691920" y="1590620"/>
                </a:lnTo>
                <a:lnTo>
                  <a:pt x="686222" y="1637331"/>
                </a:lnTo>
                <a:lnTo>
                  <a:pt x="679303" y="1683655"/>
                </a:lnTo>
                <a:lnTo>
                  <a:pt x="671181" y="1729575"/>
                </a:lnTo>
                <a:lnTo>
                  <a:pt x="661871" y="1775073"/>
                </a:lnTo>
                <a:lnTo>
                  <a:pt x="651391" y="1820133"/>
                </a:lnTo>
                <a:lnTo>
                  <a:pt x="639756" y="1864739"/>
                </a:lnTo>
                <a:lnTo>
                  <a:pt x="626985" y="1908874"/>
                </a:lnTo>
                <a:lnTo>
                  <a:pt x="613092" y="1952522"/>
                </a:lnTo>
                <a:lnTo>
                  <a:pt x="598096" y="1995665"/>
                </a:lnTo>
                <a:lnTo>
                  <a:pt x="582012" y="2038287"/>
                </a:lnTo>
                <a:lnTo>
                  <a:pt x="564858" y="2080371"/>
                </a:lnTo>
                <a:lnTo>
                  <a:pt x="546650" y="2121901"/>
                </a:lnTo>
                <a:lnTo>
                  <a:pt x="527404" y="2162860"/>
                </a:lnTo>
                <a:lnTo>
                  <a:pt x="523781" y="2170077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27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0C2B06-AC0D-4FE1-8692-381DF75B9ADD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0B11DBAF-0E3B-4EE5-A03A-D565EC9DA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7870152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70559" y="2257173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434288" y="1374999"/>
            <a:ext cx="244475" cy="263525"/>
          </a:xfrm>
          <a:custGeom>
            <a:avLst/>
            <a:gdLst/>
            <a:ahLst/>
            <a:cxnLst/>
            <a:rect l="l" t="t" r="r" b="b"/>
            <a:pathLst>
              <a:path w="244475" h="263525">
                <a:moveTo>
                  <a:pt x="0" y="0"/>
                </a:moveTo>
                <a:lnTo>
                  <a:pt x="244199" y="0"/>
                </a:lnTo>
                <a:lnTo>
                  <a:pt x="2441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10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5D253A-4C2F-4660-BEFA-BFFAF075816A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6003757F-5BCD-4A89-858E-EB1392F45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24006604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70559" y="2257173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11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9730C2-54F5-4F1A-A399-AE9CF0C57D81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0EB2AD22-6B10-4A48-8DD9-27E32645D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40951731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70559" y="2257173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82633" y="3293370"/>
            <a:ext cx="346946" cy="5905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273109" y="3283845"/>
            <a:ext cx="366395" cy="609600"/>
          </a:xfrm>
          <a:custGeom>
            <a:avLst/>
            <a:gdLst/>
            <a:ahLst/>
            <a:cxnLst/>
            <a:rect l="l" t="t" r="r" b="b"/>
            <a:pathLst>
              <a:path w="366395" h="609600">
                <a:moveTo>
                  <a:pt x="0" y="0"/>
                </a:moveTo>
                <a:lnTo>
                  <a:pt x="365999" y="0"/>
                </a:lnTo>
                <a:lnTo>
                  <a:pt x="365999" y="609598"/>
                </a:lnTo>
                <a:lnTo>
                  <a:pt x="0" y="6095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456108" y="2631159"/>
            <a:ext cx="173355" cy="662305"/>
          </a:xfrm>
          <a:custGeom>
            <a:avLst/>
            <a:gdLst/>
            <a:ahLst/>
            <a:cxnLst/>
            <a:rect l="l" t="t" r="r" b="b"/>
            <a:pathLst>
              <a:path w="173354" h="662305">
                <a:moveTo>
                  <a:pt x="0" y="662211"/>
                </a:moveTo>
                <a:lnTo>
                  <a:pt x="172999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598657" y="2547517"/>
            <a:ext cx="60960" cy="92075"/>
          </a:xfrm>
          <a:custGeom>
            <a:avLst/>
            <a:gdLst/>
            <a:ahLst/>
            <a:cxnLst/>
            <a:rect l="l" t="t" r="r" b="b"/>
            <a:pathLst>
              <a:path w="60959" h="92075">
                <a:moveTo>
                  <a:pt x="60899" y="91597"/>
                </a:moveTo>
                <a:lnTo>
                  <a:pt x="52299" y="0"/>
                </a:lnTo>
                <a:lnTo>
                  <a:pt x="0" y="75689"/>
                </a:lnTo>
                <a:lnTo>
                  <a:pt x="60899" y="91597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12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D71C8E-5C12-4189-AE17-F4339B491FB6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E0B68E03-9245-4794-B949-0CC378CA0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22779279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82633" y="3293370"/>
            <a:ext cx="346946" cy="5905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73109" y="3283845"/>
            <a:ext cx="366395" cy="609600"/>
          </a:xfrm>
          <a:custGeom>
            <a:avLst/>
            <a:gdLst/>
            <a:ahLst/>
            <a:cxnLst/>
            <a:rect l="l" t="t" r="r" b="b"/>
            <a:pathLst>
              <a:path w="366395" h="609600">
                <a:moveTo>
                  <a:pt x="0" y="0"/>
                </a:moveTo>
                <a:lnTo>
                  <a:pt x="365999" y="0"/>
                </a:lnTo>
                <a:lnTo>
                  <a:pt x="365999" y="609598"/>
                </a:lnTo>
                <a:lnTo>
                  <a:pt x="0" y="6095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456108" y="2631159"/>
            <a:ext cx="173355" cy="662305"/>
          </a:xfrm>
          <a:custGeom>
            <a:avLst/>
            <a:gdLst/>
            <a:ahLst/>
            <a:cxnLst/>
            <a:rect l="l" t="t" r="r" b="b"/>
            <a:pathLst>
              <a:path w="173354" h="662305">
                <a:moveTo>
                  <a:pt x="0" y="662211"/>
                </a:moveTo>
                <a:lnTo>
                  <a:pt x="172999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598657" y="2547517"/>
            <a:ext cx="60960" cy="92075"/>
          </a:xfrm>
          <a:custGeom>
            <a:avLst/>
            <a:gdLst/>
            <a:ahLst/>
            <a:cxnLst/>
            <a:rect l="l" t="t" r="r" b="b"/>
            <a:pathLst>
              <a:path w="60959" h="92075">
                <a:moveTo>
                  <a:pt x="60899" y="91597"/>
                </a:moveTo>
                <a:lnTo>
                  <a:pt x="52299" y="0"/>
                </a:lnTo>
                <a:lnTo>
                  <a:pt x="0" y="75689"/>
                </a:lnTo>
                <a:lnTo>
                  <a:pt x="60899" y="91597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12DAC1-CFFF-4F1F-A597-09223FE6F76F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3B884255-F6EA-4FBA-BB26-DD9F0BFC5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6477773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11565" y="2944871"/>
            <a:ext cx="3044825" cy="348615"/>
          </a:xfrm>
          <a:custGeom>
            <a:avLst/>
            <a:gdLst/>
            <a:ahLst/>
            <a:cxnLst/>
            <a:rect l="l" t="t" r="r" b="b"/>
            <a:pathLst>
              <a:path w="3044825" h="348614">
                <a:moveTo>
                  <a:pt x="3044543" y="348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25690" y="2913609"/>
            <a:ext cx="89535" cy="62865"/>
          </a:xfrm>
          <a:custGeom>
            <a:avLst/>
            <a:gdLst/>
            <a:ahLst/>
            <a:cxnLst/>
            <a:rect l="l" t="t" r="r" b="b"/>
            <a:pathLst>
              <a:path w="89535" h="62864">
                <a:moveTo>
                  <a:pt x="89449" y="0"/>
                </a:moveTo>
                <a:lnTo>
                  <a:pt x="0" y="21429"/>
                </a:lnTo>
                <a:lnTo>
                  <a:pt x="82299" y="62522"/>
                </a:lnTo>
                <a:lnTo>
                  <a:pt x="894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78007" y="3301476"/>
            <a:ext cx="466314" cy="6191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483" y="3291950"/>
            <a:ext cx="485775" cy="638810"/>
          </a:xfrm>
          <a:custGeom>
            <a:avLst/>
            <a:gdLst/>
            <a:ahLst/>
            <a:cxnLst/>
            <a:rect l="l" t="t" r="r" b="b"/>
            <a:pathLst>
              <a:path w="485775" h="638810">
                <a:moveTo>
                  <a:pt x="0" y="0"/>
                </a:moveTo>
                <a:lnTo>
                  <a:pt x="485374" y="0"/>
                </a:lnTo>
                <a:lnTo>
                  <a:pt x="485374" y="638243"/>
                </a:lnTo>
                <a:lnTo>
                  <a:pt x="0" y="63824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14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E04AC4-488B-46AC-9555-31D037304264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729186B7-B901-4861-91E6-EBBDFC499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37926064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78007" y="3301476"/>
            <a:ext cx="466314" cy="6191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483" y="3291950"/>
            <a:ext cx="485775" cy="638810"/>
          </a:xfrm>
          <a:custGeom>
            <a:avLst/>
            <a:gdLst/>
            <a:ahLst/>
            <a:cxnLst/>
            <a:rect l="l" t="t" r="r" b="b"/>
            <a:pathLst>
              <a:path w="485775" h="638810">
                <a:moveTo>
                  <a:pt x="0" y="0"/>
                </a:moveTo>
                <a:lnTo>
                  <a:pt x="485374" y="0"/>
                </a:lnTo>
                <a:lnTo>
                  <a:pt x="485374" y="638243"/>
                </a:lnTo>
                <a:lnTo>
                  <a:pt x="0" y="63824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11565" y="2944871"/>
            <a:ext cx="3044825" cy="348615"/>
          </a:xfrm>
          <a:custGeom>
            <a:avLst/>
            <a:gdLst/>
            <a:ahLst/>
            <a:cxnLst/>
            <a:rect l="l" t="t" r="r" b="b"/>
            <a:pathLst>
              <a:path w="3044825" h="348614">
                <a:moveTo>
                  <a:pt x="3044543" y="348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25690" y="2913609"/>
            <a:ext cx="89535" cy="62865"/>
          </a:xfrm>
          <a:custGeom>
            <a:avLst/>
            <a:gdLst/>
            <a:ahLst/>
            <a:cxnLst/>
            <a:rect l="l" t="t" r="r" b="b"/>
            <a:pathLst>
              <a:path w="89535" h="62864">
                <a:moveTo>
                  <a:pt x="89449" y="0"/>
                </a:moveTo>
                <a:lnTo>
                  <a:pt x="0" y="21429"/>
                </a:lnTo>
                <a:lnTo>
                  <a:pt x="82299" y="62522"/>
                </a:lnTo>
                <a:lnTo>
                  <a:pt x="894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15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82E6D0-2E32-40FE-949B-3664A06E115A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9195EE78-D652-425F-896F-31475F542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9911101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61108" y="3293370"/>
            <a:ext cx="457198" cy="7429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51583" y="3283845"/>
            <a:ext cx="476250" cy="762000"/>
          </a:xfrm>
          <a:custGeom>
            <a:avLst/>
            <a:gdLst/>
            <a:ahLst/>
            <a:cxnLst/>
            <a:rect l="l" t="t" r="r" b="b"/>
            <a:pathLst>
              <a:path w="476250" h="762000">
                <a:moveTo>
                  <a:pt x="0" y="0"/>
                </a:moveTo>
                <a:lnTo>
                  <a:pt x="476249" y="0"/>
                </a:lnTo>
                <a:lnTo>
                  <a:pt x="476249" y="761998"/>
                </a:lnTo>
                <a:lnTo>
                  <a:pt x="0" y="7619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35335" y="2034186"/>
            <a:ext cx="1421130" cy="1259205"/>
          </a:xfrm>
          <a:custGeom>
            <a:avLst/>
            <a:gdLst/>
            <a:ahLst/>
            <a:cxnLst/>
            <a:rect l="l" t="t" r="r" b="b"/>
            <a:pathLst>
              <a:path w="1421129" h="1259205">
                <a:moveTo>
                  <a:pt x="1420772" y="1259184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970636" y="1976845"/>
            <a:ext cx="85725" cy="81280"/>
          </a:xfrm>
          <a:custGeom>
            <a:avLst/>
            <a:gdLst/>
            <a:ahLst/>
            <a:cxnLst/>
            <a:rect l="l" t="t" r="r" b="b"/>
            <a:pathLst>
              <a:path w="85725" h="81280">
                <a:moveTo>
                  <a:pt x="85574" y="33789"/>
                </a:moveTo>
                <a:lnTo>
                  <a:pt x="0" y="0"/>
                </a:lnTo>
                <a:lnTo>
                  <a:pt x="43849" y="80887"/>
                </a:lnTo>
                <a:lnTo>
                  <a:pt x="85574" y="33789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16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2200C5-8034-44F1-B475-9DD12B482098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8CEA1A1D-CDC4-43F4-948C-85E5FD69F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10959811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35335" y="2034186"/>
            <a:ext cx="1421130" cy="1259205"/>
          </a:xfrm>
          <a:custGeom>
            <a:avLst/>
            <a:gdLst/>
            <a:ahLst/>
            <a:cxnLst/>
            <a:rect l="l" t="t" r="r" b="b"/>
            <a:pathLst>
              <a:path w="1421129" h="1259205">
                <a:moveTo>
                  <a:pt x="1420772" y="1259184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70636" y="1976845"/>
            <a:ext cx="85725" cy="81280"/>
          </a:xfrm>
          <a:custGeom>
            <a:avLst/>
            <a:gdLst/>
            <a:ahLst/>
            <a:cxnLst/>
            <a:rect l="l" t="t" r="r" b="b"/>
            <a:pathLst>
              <a:path w="85725" h="81280">
                <a:moveTo>
                  <a:pt x="85574" y="33789"/>
                </a:moveTo>
                <a:lnTo>
                  <a:pt x="0" y="0"/>
                </a:lnTo>
                <a:lnTo>
                  <a:pt x="43849" y="80887"/>
                </a:lnTo>
                <a:lnTo>
                  <a:pt x="85574" y="33789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61108" y="3293370"/>
            <a:ext cx="457198" cy="7429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51583" y="3283845"/>
            <a:ext cx="476250" cy="762000"/>
          </a:xfrm>
          <a:custGeom>
            <a:avLst/>
            <a:gdLst/>
            <a:ahLst/>
            <a:cxnLst/>
            <a:rect l="l" t="t" r="r" b="b"/>
            <a:pathLst>
              <a:path w="476250" h="762000">
                <a:moveTo>
                  <a:pt x="0" y="0"/>
                </a:moveTo>
                <a:lnTo>
                  <a:pt x="476249" y="0"/>
                </a:lnTo>
                <a:lnTo>
                  <a:pt x="476249" y="761998"/>
                </a:lnTo>
                <a:lnTo>
                  <a:pt x="0" y="7619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17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D735E0-74EB-45CF-8BDF-1607957671C3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6DCDFB5C-06BE-467B-86AD-7539FFF49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18829994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58214" y="2239522"/>
            <a:ext cx="3197860" cy="1054100"/>
          </a:xfrm>
          <a:custGeom>
            <a:avLst/>
            <a:gdLst/>
            <a:ahLst/>
            <a:cxnLst/>
            <a:rect l="l" t="t" r="r" b="b"/>
            <a:pathLst>
              <a:path w="3197859" h="1054100">
                <a:moveTo>
                  <a:pt x="3197743" y="1053822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76115" y="2209638"/>
            <a:ext cx="92075" cy="60325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91949" y="0"/>
                </a:moveTo>
                <a:lnTo>
                  <a:pt x="0" y="2827"/>
                </a:lnTo>
                <a:lnTo>
                  <a:pt x="72249" y="59769"/>
                </a:lnTo>
                <a:lnTo>
                  <a:pt x="919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71859" y="3293370"/>
            <a:ext cx="457199" cy="6191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62333" y="3283845"/>
            <a:ext cx="476250" cy="638810"/>
          </a:xfrm>
          <a:custGeom>
            <a:avLst/>
            <a:gdLst/>
            <a:ahLst/>
            <a:cxnLst/>
            <a:rect l="l" t="t" r="r" b="b"/>
            <a:pathLst>
              <a:path w="476250" h="638810">
                <a:moveTo>
                  <a:pt x="0" y="0"/>
                </a:moveTo>
                <a:lnTo>
                  <a:pt x="476249" y="0"/>
                </a:lnTo>
                <a:lnTo>
                  <a:pt x="476249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18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36E51E-748E-46E7-A53C-148400A88522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43B8EF7F-D802-4D48-B92B-744D59B46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29931790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55615" y="4004694"/>
            <a:ext cx="1956895" cy="7471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46088" y="3995169"/>
            <a:ext cx="1976120" cy="766445"/>
          </a:xfrm>
          <a:custGeom>
            <a:avLst/>
            <a:gdLst/>
            <a:ahLst/>
            <a:cxnLst/>
            <a:rect l="l" t="t" r="r" b="b"/>
            <a:pathLst>
              <a:path w="1976120" h="766445">
                <a:moveTo>
                  <a:pt x="0" y="0"/>
                </a:moveTo>
                <a:lnTo>
                  <a:pt x="1975946" y="0"/>
                </a:lnTo>
                <a:lnTo>
                  <a:pt x="1975946" y="766223"/>
                </a:lnTo>
                <a:lnTo>
                  <a:pt x="0" y="766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300" y="3601301"/>
            <a:ext cx="6690995" cy="1420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44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Chain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rule: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58214" y="2239522"/>
            <a:ext cx="3197860" cy="1054100"/>
          </a:xfrm>
          <a:custGeom>
            <a:avLst/>
            <a:gdLst/>
            <a:ahLst/>
            <a:cxnLst/>
            <a:rect l="l" t="t" r="r" b="b"/>
            <a:pathLst>
              <a:path w="3197859" h="1054100">
                <a:moveTo>
                  <a:pt x="3197743" y="1053822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76115" y="2209638"/>
            <a:ext cx="92075" cy="60325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91949" y="0"/>
                </a:moveTo>
                <a:lnTo>
                  <a:pt x="0" y="2827"/>
                </a:lnTo>
                <a:lnTo>
                  <a:pt x="72249" y="59769"/>
                </a:lnTo>
                <a:lnTo>
                  <a:pt x="919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71859" y="3293370"/>
            <a:ext cx="457199" cy="6191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262333" y="3283845"/>
            <a:ext cx="476250" cy="638810"/>
          </a:xfrm>
          <a:custGeom>
            <a:avLst/>
            <a:gdLst/>
            <a:ahLst/>
            <a:cxnLst/>
            <a:rect l="l" t="t" r="r" b="b"/>
            <a:pathLst>
              <a:path w="476250" h="638810">
                <a:moveTo>
                  <a:pt x="0" y="0"/>
                </a:moveTo>
                <a:lnTo>
                  <a:pt x="476249" y="0"/>
                </a:lnTo>
                <a:lnTo>
                  <a:pt x="476249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10314" y="4028618"/>
            <a:ext cx="504448" cy="6831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00085" y="4043168"/>
            <a:ext cx="504448" cy="6831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19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D91419-D10C-4DFD-8FE9-5F4B2EE1941C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293469F1-AB2B-4DEA-B567-C1ED7D248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32493286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77314" y="1499802"/>
            <a:ext cx="3279140" cy="1793875"/>
          </a:xfrm>
          <a:custGeom>
            <a:avLst/>
            <a:gdLst/>
            <a:ahLst/>
            <a:cxnLst/>
            <a:rect l="l" t="t" r="r" b="b"/>
            <a:pathLst>
              <a:path w="3279140" h="1793875">
                <a:moveTo>
                  <a:pt x="3278618" y="1793443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01464" y="1458314"/>
            <a:ext cx="91440" cy="69215"/>
          </a:xfrm>
          <a:custGeom>
            <a:avLst/>
            <a:gdLst/>
            <a:ahLst/>
            <a:cxnLst/>
            <a:rect l="l" t="t" r="r" b="b"/>
            <a:pathLst>
              <a:path w="91439" h="69215">
                <a:moveTo>
                  <a:pt x="90949" y="13882"/>
                </a:moveTo>
                <a:lnTo>
                  <a:pt x="0" y="0"/>
                </a:lnTo>
                <a:lnTo>
                  <a:pt x="60749" y="69092"/>
                </a:lnTo>
                <a:lnTo>
                  <a:pt x="90949" y="13882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62683" y="3293245"/>
            <a:ext cx="426474" cy="6191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53158" y="3283720"/>
            <a:ext cx="445770" cy="638810"/>
          </a:xfrm>
          <a:custGeom>
            <a:avLst/>
            <a:gdLst/>
            <a:ahLst/>
            <a:cxnLst/>
            <a:rect l="l" t="t" r="r" b="b"/>
            <a:pathLst>
              <a:path w="445770" h="638810">
                <a:moveTo>
                  <a:pt x="0" y="0"/>
                </a:moveTo>
                <a:lnTo>
                  <a:pt x="445524" y="0"/>
                </a:lnTo>
                <a:lnTo>
                  <a:pt x="445524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F6EAE8-A0D9-42BF-899B-D2B6672E3012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9EA5C081-3275-4BC7-981A-503125716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24990960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11470" algn="l"/>
                <a:tab pos="762127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&amp; Andrej Karpathy &amp;</a:t>
            </a:r>
            <a:r>
              <a:rPr kumimoji="0" sz="1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Justin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Johnson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13 Jan</a:t>
            </a:r>
            <a:r>
              <a:rPr kumimoji="0" sz="3000" b="0" i="0" u="none" strike="noStrike" kern="1200" cap="none" spc="-9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2016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77314" y="1499802"/>
            <a:ext cx="3279140" cy="1793875"/>
          </a:xfrm>
          <a:custGeom>
            <a:avLst/>
            <a:gdLst/>
            <a:ahLst/>
            <a:cxnLst/>
            <a:rect l="l" t="t" r="r" b="b"/>
            <a:pathLst>
              <a:path w="3279140" h="1793875">
                <a:moveTo>
                  <a:pt x="3278618" y="1793443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01464" y="1458314"/>
            <a:ext cx="91440" cy="69215"/>
          </a:xfrm>
          <a:custGeom>
            <a:avLst/>
            <a:gdLst/>
            <a:ahLst/>
            <a:cxnLst/>
            <a:rect l="l" t="t" r="r" b="b"/>
            <a:pathLst>
              <a:path w="91439" h="69215">
                <a:moveTo>
                  <a:pt x="90949" y="13882"/>
                </a:moveTo>
                <a:lnTo>
                  <a:pt x="0" y="0"/>
                </a:lnTo>
                <a:lnTo>
                  <a:pt x="60749" y="69092"/>
                </a:lnTo>
                <a:lnTo>
                  <a:pt x="90949" y="13882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62683" y="3293245"/>
            <a:ext cx="426474" cy="6191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253158" y="3283720"/>
            <a:ext cx="445770" cy="638810"/>
          </a:xfrm>
          <a:custGeom>
            <a:avLst/>
            <a:gdLst/>
            <a:ahLst/>
            <a:cxnLst/>
            <a:rect l="l" t="t" r="r" b="b"/>
            <a:pathLst>
              <a:path w="445770" h="638810">
                <a:moveTo>
                  <a:pt x="0" y="0"/>
                </a:moveTo>
                <a:lnTo>
                  <a:pt x="445524" y="0"/>
                </a:lnTo>
                <a:lnTo>
                  <a:pt x="445524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55615" y="4012669"/>
            <a:ext cx="1956895" cy="74717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46088" y="4003144"/>
            <a:ext cx="1976120" cy="766445"/>
          </a:xfrm>
          <a:custGeom>
            <a:avLst/>
            <a:gdLst/>
            <a:ahLst/>
            <a:cxnLst/>
            <a:rect l="l" t="t" r="r" b="b"/>
            <a:pathLst>
              <a:path w="1976120" h="766445">
                <a:moveTo>
                  <a:pt x="0" y="0"/>
                </a:moveTo>
                <a:lnTo>
                  <a:pt x="1975946" y="0"/>
                </a:lnTo>
                <a:lnTo>
                  <a:pt x="1975946" y="766223"/>
                </a:lnTo>
                <a:lnTo>
                  <a:pt x="0" y="766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3300" y="3601301"/>
            <a:ext cx="6690995" cy="1420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44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Chain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rule: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4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3000" b="0" i="0" u="none" strike="noStrike" kern="1200" cap="none" spc="-225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21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13 Jan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&amp; Andrej Karpathy &amp; Justin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Johnson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6A5B20-79D3-4D25-AF73-FDE52CBB5E31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CB609DF1-7AAF-4A59-9F5C-1D05113C3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Another generic example</a:t>
            </a:r>
          </a:p>
        </p:txBody>
      </p:sp>
    </p:spTree>
    <p:extLst>
      <p:ext uri="{BB962C8B-B14F-4D97-AF65-F5344CB8AC3E}">
        <p14:creationId xmlns:p14="http://schemas.microsoft.com/office/powerpoint/2010/main" val="11267920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Feed-forward network architecture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Training deep neural nets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We need an objective function that measures and guides us towards good performance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We need a way to minimize the loss function: gradient descent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We need backpropagation to propagate error towards all layers and change weights at those 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Next: Practices for preventing overfitting, training with little data, examining conditions for success, alternative optimization strategies</a:t>
            </a:r>
          </a:p>
          <a:p>
            <a:pPr marL="40005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9298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7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154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4257</TotalTime>
  <Words>4297</Words>
  <Application>Microsoft Macintosh PowerPoint</Application>
  <PresentationFormat>On-screen Show (4:3)</PresentationFormat>
  <Paragraphs>955</Paragraphs>
  <Slides>83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83</vt:i4>
      </vt:variant>
    </vt:vector>
  </HeadingPairs>
  <TitlesOfParts>
    <vt:vector size="94" baseType="lpstr">
      <vt:lpstr>Arial</vt:lpstr>
      <vt:lpstr>Courier New</vt:lpstr>
      <vt:lpstr>Garamond</vt:lpstr>
      <vt:lpstr>Times New Roman</vt:lpstr>
      <vt:lpstr>2_Office Theme</vt:lpstr>
      <vt:lpstr>1_Office Theme</vt:lpstr>
      <vt:lpstr>2_Blank Presentation</vt:lpstr>
      <vt:lpstr>7_Blank Presentation</vt:lpstr>
      <vt:lpstr>3_Blank Presentation</vt:lpstr>
      <vt:lpstr>11_Office Theme</vt:lpstr>
      <vt:lpstr>3_Office Theme</vt:lpstr>
      <vt:lpstr>PowerPoint Presentation</vt:lpstr>
      <vt:lpstr>Plan for this lecture (next few classes)</vt:lpstr>
      <vt:lpstr>Definition</vt:lpstr>
      <vt:lpstr>Neural network definition</vt:lpstr>
      <vt:lpstr>Neural network definition</vt:lpstr>
      <vt:lpstr>Activation functions</vt:lpstr>
      <vt:lpstr>A multi-layer neural network…</vt:lpstr>
      <vt:lpstr>Inspiration: Neuron cells</vt:lpstr>
      <vt:lpstr>Biological analog</vt:lpstr>
      <vt:lpstr>Biological analog</vt:lpstr>
      <vt:lpstr>Feed-forward networks</vt:lpstr>
      <vt:lpstr>Feed-forward networks</vt:lpstr>
      <vt:lpstr>Feed-forward networks</vt:lpstr>
      <vt:lpstr>Feed-forward networks</vt:lpstr>
      <vt:lpstr>Feed-forward networks</vt:lpstr>
      <vt:lpstr>Feed-forward networks</vt:lpstr>
      <vt:lpstr>Feed-forward networks</vt:lpstr>
      <vt:lpstr>Deep neural networks</vt:lpstr>
      <vt:lpstr>Goals</vt:lpstr>
      <vt:lpstr>How do we train deep networks? </vt:lpstr>
      <vt:lpstr>Finding the optimal w: Example</vt:lpstr>
      <vt:lpstr>Classification goal</vt:lpstr>
      <vt:lpstr>Classification scores</vt:lpstr>
      <vt:lpstr>Linear classifier </vt:lpstr>
      <vt:lpstr>Linear classifier </vt:lpstr>
      <vt:lpstr>Linear classifier </vt:lpstr>
      <vt:lpstr>Linear classifier </vt:lpstr>
      <vt:lpstr>Linear classifier: Hinge loss </vt:lpstr>
      <vt:lpstr>Linear classifier: Hinge loss </vt:lpstr>
      <vt:lpstr>Linear classifier: Hinge loss </vt:lpstr>
      <vt:lpstr>Linear classifier: Hinge loss </vt:lpstr>
      <vt:lpstr>Linear classifier: Hinge loss </vt:lpstr>
      <vt:lpstr>Linear classifier: Hinge loss </vt:lpstr>
      <vt:lpstr>Weight Regularization</vt:lpstr>
      <vt:lpstr>Weight Regularization</vt:lpstr>
      <vt:lpstr>Weight Regularization</vt:lpstr>
      <vt:lpstr>Another loss: Cross-entropy</vt:lpstr>
      <vt:lpstr>Another loss: Cross-entropy</vt:lpstr>
      <vt:lpstr>Other losses</vt:lpstr>
      <vt:lpstr>Training</vt:lpstr>
      <vt:lpstr>To minimize loss, use gradient descent</vt:lpstr>
      <vt:lpstr>How to minimize the loss function? </vt:lpstr>
      <vt:lpstr>Loss gradients</vt:lpstr>
      <vt:lpstr>PowerPoint Presentation</vt:lpstr>
      <vt:lpstr>PowerPoint Presentation</vt:lpstr>
      <vt:lpstr>current W:</vt:lpstr>
      <vt:lpstr>PowerPoint Presentation</vt:lpstr>
      <vt:lpstr>current W:</vt:lpstr>
      <vt:lpstr>PowerPoint Presentation</vt:lpstr>
      <vt:lpstr>This is silly. The loss is just a function of W:</vt:lpstr>
      <vt:lpstr>PowerPoint Presentation</vt:lpstr>
      <vt:lpstr>Gradient descent</vt:lpstr>
      <vt:lpstr>Gradient descent</vt:lpstr>
      <vt:lpstr>Learning rate selection</vt:lpstr>
      <vt:lpstr>Comments on training algorithm</vt:lpstr>
      <vt:lpstr>Gradient descent in multi-layer nets</vt:lpstr>
      <vt:lpstr>Gradient descent in multi-layer nets</vt:lpstr>
      <vt:lpstr>Backpropagation: Graphic example</vt:lpstr>
      <vt:lpstr>Backpropagation: Graphic example</vt:lpstr>
      <vt:lpstr>Backpropagation: Graphic example</vt:lpstr>
      <vt:lpstr>Computing gradient for each weight</vt:lpstr>
      <vt:lpstr>Gradient for output layer weights</vt:lpstr>
      <vt:lpstr>Gradient for hidden layer weights</vt:lpstr>
      <vt:lpstr>Another way of keeping track of error</vt:lpstr>
      <vt:lpstr>activations</vt:lpstr>
      <vt:lpstr>activations</vt:lpstr>
      <vt:lpstr>activations</vt:lpstr>
      <vt:lpstr>activations</vt:lpstr>
      <vt:lpstr>activations</vt:lpstr>
      <vt:lpstr>activations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Summary</vt:lpstr>
    </vt:vector>
  </TitlesOfParts>
  <Company>University of Pittsburgh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1678: Intro to Deep Learning</dc:title>
  <dc:creator>Adriana I. Kovashka</dc:creator>
  <cp:lastModifiedBy>Fan, Heng</cp:lastModifiedBy>
  <cp:revision>298</cp:revision>
  <dcterms:created xsi:type="dcterms:W3CDTF">2015-04-17T19:15:42Z</dcterms:created>
  <dcterms:modified xsi:type="dcterms:W3CDTF">2026-02-03T16:20:55Z</dcterms:modified>
</cp:coreProperties>
</file>