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256" r:id="rId2"/>
    <p:sldId id="394" r:id="rId3"/>
    <p:sldId id="392" r:id="rId4"/>
    <p:sldId id="393" r:id="rId5"/>
    <p:sldId id="395" r:id="rId6"/>
    <p:sldId id="355" r:id="rId7"/>
    <p:sldId id="295" r:id="rId8"/>
    <p:sldId id="296" r:id="rId9"/>
    <p:sldId id="297" r:id="rId10"/>
    <p:sldId id="408" r:id="rId11"/>
    <p:sldId id="356" r:id="rId12"/>
    <p:sldId id="357" r:id="rId13"/>
    <p:sldId id="358" r:id="rId14"/>
    <p:sldId id="359" r:id="rId15"/>
    <p:sldId id="360" r:id="rId16"/>
    <p:sldId id="396" r:id="rId17"/>
    <p:sldId id="397" r:id="rId18"/>
    <p:sldId id="409" r:id="rId19"/>
    <p:sldId id="398" r:id="rId20"/>
    <p:sldId id="399" r:id="rId21"/>
    <p:sldId id="400" r:id="rId22"/>
    <p:sldId id="401" r:id="rId23"/>
    <p:sldId id="402" r:id="rId24"/>
    <p:sldId id="380" r:id="rId25"/>
    <p:sldId id="381" r:id="rId26"/>
    <p:sldId id="382" r:id="rId27"/>
    <p:sldId id="383" r:id="rId28"/>
    <p:sldId id="384" r:id="rId29"/>
    <p:sldId id="404" r:id="rId30"/>
    <p:sldId id="385" r:id="rId31"/>
    <p:sldId id="405" r:id="rId32"/>
    <p:sldId id="406" r:id="rId33"/>
    <p:sldId id="407" r:id="rId34"/>
    <p:sldId id="387" r:id="rId35"/>
    <p:sldId id="388" r:id="rId36"/>
    <p:sldId id="389" r:id="rId37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  <a:srgbClr val="FF40FF"/>
    <a:srgbClr val="0000FF"/>
    <a:srgbClr val="007B3B"/>
    <a:srgbClr val="F3F9F1"/>
    <a:srgbClr val="3F458C"/>
    <a:srgbClr val="C9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85"/>
    <p:restoredTop sz="96081" autoAdjust="0"/>
  </p:normalViewPr>
  <p:slideViewPr>
    <p:cSldViewPr snapToGrid="0">
      <p:cViewPr varScale="1">
        <p:scale>
          <a:sx n="115" d="100"/>
          <a:sy n="115" d="100"/>
        </p:scale>
        <p:origin x="1688" y="19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520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E435B-D58D-C7F1-C74D-23B1F1BD62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6B904A-88DE-067F-7418-9DD45A39C0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48CA8-9278-4B40-937F-6E3C2BF581C1}" type="datetimeFigureOut">
              <a:rPr lang="en-US" smtClean="0"/>
              <a:t>8/15/25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CCDA5-B1A6-4AF3-5667-F194D325FD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A8D12-E6F9-71FD-0A73-04D0644701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4C1E7-8652-8742-8547-1B34AC50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0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 b="0" i="0">
                <a:latin typeface="Comic Sans MS" panose="030F0902030302020204" pitchFamily="66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 b="0" i="0">
                <a:latin typeface="Comic Sans MS" panose="030F0902030302020204" pitchFamily="66" charset="0"/>
              </a:defRPr>
            </a:lvl1pPr>
          </a:lstStyle>
          <a:p>
            <a:fld id="{34DB6FDB-1F14-42DA-810B-CC9ECC19F56C}" type="datetimeFigureOut">
              <a:rPr lang="en-US" smtClean="0"/>
              <a:pPr/>
              <a:t>8/15/25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 b="0" i="0">
                <a:latin typeface="Comic Sans MS" panose="030F0902030302020204" pitchFamily="66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 b="0" i="0">
                <a:latin typeface="Comic Sans MS" panose="030F0902030302020204" pitchFamily="66" charset="0"/>
              </a:defRPr>
            </a:lvl1pPr>
          </a:lstStyle>
          <a:p>
            <a:fld id="{24009DEB-A5ED-49DA-809F-4D64373B3F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539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09DEB-A5ED-49DA-809F-4D64373B3F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2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5ED669-E0AE-6BA3-AF9A-919525C9612D}"/>
              </a:ext>
            </a:extLst>
          </p:cNvPr>
          <p:cNvSpPr/>
          <p:nvPr userDrawn="1"/>
        </p:nvSpPr>
        <p:spPr>
          <a:xfrm>
            <a:off x="0" y="6595110"/>
            <a:ext cx="9144000" cy="262889"/>
          </a:xfrm>
          <a:prstGeom prst="rect">
            <a:avLst/>
          </a:prstGeom>
          <a:solidFill>
            <a:srgbClr val="007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Comic Sans MS" panose="030F0902030302020204" pitchFamily="66" charset="0"/>
              </a:rPr>
              <a:t>CSCE 2110 – Foundations of Data Structure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861336-78B4-27D4-F4BD-746A16AE10CD}"/>
              </a:ext>
            </a:extLst>
          </p:cNvPr>
          <p:cNvCxnSpPr>
            <a:cxnSpLocks/>
          </p:cNvCxnSpPr>
          <p:nvPr userDrawn="1"/>
        </p:nvCxnSpPr>
        <p:spPr>
          <a:xfrm>
            <a:off x="228600" y="942486"/>
            <a:ext cx="86868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18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" y="210209"/>
            <a:ext cx="8686799" cy="73227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1142453"/>
            <a:ext cx="8686799" cy="4351338"/>
          </a:xfrm>
        </p:spPr>
        <p:txBody>
          <a:bodyPr/>
          <a:lstStyle>
            <a:lvl1pPr indent="-512064">
              <a:lnSpc>
                <a:spcPct val="100000"/>
              </a:lnSpc>
              <a:spcAft>
                <a:spcPts val="600"/>
              </a:spcAft>
              <a:defRPr/>
            </a:lvl1pPr>
            <a:lvl2pPr indent="-512064">
              <a:lnSpc>
                <a:spcPct val="100000"/>
              </a:lnSpc>
              <a:spcAft>
                <a:spcPts val="600"/>
              </a:spcAft>
              <a:defRPr/>
            </a:lvl2pPr>
            <a:lvl3pPr indent="-512064">
              <a:lnSpc>
                <a:spcPct val="100000"/>
              </a:lnSpc>
              <a:spcAft>
                <a:spcPts val="600"/>
              </a:spcAft>
              <a:defRPr/>
            </a:lvl3pPr>
            <a:lvl4pPr indent="-512064">
              <a:lnSpc>
                <a:spcPct val="100000"/>
              </a:lnSpc>
              <a:spcAft>
                <a:spcPts val="600"/>
              </a:spcAft>
              <a:defRPr/>
            </a:lvl4pPr>
            <a:lvl5pPr indent="-512064">
              <a:lnSpc>
                <a:spcPct val="10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DA8C5D-D891-771A-0F0A-AE2662FB7837}"/>
              </a:ext>
            </a:extLst>
          </p:cNvPr>
          <p:cNvCxnSpPr>
            <a:cxnSpLocks/>
          </p:cNvCxnSpPr>
          <p:nvPr userDrawn="1"/>
        </p:nvCxnSpPr>
        <p:spPr>
          <a:xfrm>
            <a:off x="228600" y="942486"/>
            <a:ext cx="86868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39C5064-4BB9-EB0C-8DC5-773623E5EF51}"/>
              </a:ext>
            </a:extLst>
          </p:cNvPr>
          <p:cNvSpPr/>
          <p:nvPr userDrawn="1"/>
        </p:nvSpPr>
        <p:spPr>
          <a:xfrm>
            <a:off x="0" y="6595110"/>
            <a:ext cx="9144000" cy="262889"/>
          </a:xfrm>
          <a:prstGeom prst="rect">
            <a:avLst/>
          </a:prstGeom>
          <a:solidFill>
            <a:srgbClr val="007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Comic Sans MS" panose="030F0902030302020204" pitchFamily="66" charset="0"/>
              </a:rPr>
              <a:t>CSCE 2110 – Foundations of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97273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7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60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3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3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73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29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24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3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55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5A67AF-63DF-E2CB-F423-825D0DCE534E}"/>
              </a:ext>
            </a:extLst>
          </p:cNvPr>
          <p:cNvSpPr/>
          <p:nvPr userDrawn="1"/>
        </p:nvSpPr>
        <p:spPr>
          <a:xfrm>
            <a:off x="0" y="6595110"/>
            <a:ext cx="9144000" cy="262889"/>
          </a:xfrm>
          <a:prstGeom prst="rect">
            <a:avLst/>
          </a:prstGeom>
          <a:solidFill>
            <a:srgbClr val="007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Comic Sans MS" panose="030F0902030302020204" pitchFamily="66" charset="0"/>
              </a:rPr>
              <a:t>CSCE 2110 – Foundations of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26636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rgbClr val="007B3B"/>
          </a:solidFill>
          <a:latin typeface="Comic Sans MS" panose="030F0902030302020204" pitchFamily="66" charset="0"/>
          <a:ea typeface="+mj-ea"/>
          <a:cs typeface="+mj-cs"/>
        </a:defRPr>
      </a:lvl1pPr>
    </p:titleStyle>
    <p:bodyStyle>
      <a:lvl1pPr marL="512064" indent="-512064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mic Sans MS" panose="030F0902030302020204" pitchFamily="66" charset="0"/>
          <a:ea typeface="+mn-ea"/>
          <a:cs typeface="+mn-cs"/>
        </a:defRPr>
      </a:lvl1pPr>
      <a:lvl2pPr marL="960120" indent="-512064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Courier New" panose="02070309020205020404" pitchFamily="49" charset="0"/>
        <a:buChar char="o"/>
        <a:defRPr sz="2400" b="0" i="0" kern="1200">
          <a:solidFill>
            <a:schemeClr val="tx1"/>
          </a:solidFill>
          <a:latin typeface="Comic Sans MS" panose="030F0902030302020204" pitchFamily="66" charset="0"/>
          <a:ea typeface="+mn-ea"/>
          <a:cs typeface="+mn-cs"/>
        </a:defRPr>
      </a:lvl2pPr>
      <a:lvl3pPr marL="1417320" indent="-512064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Wingdings" pitchFamily="2" charset="2"/>
        <a:buChar char="Ø"/>
        <a:defRPr sz="2000" b="0" i="0" kern="1200">
          <a:solidFill>
            <a:schemeClr val="tx1"/>
          </a:solidFill>
          <a:latin typeface="Comic Sans MS" panose="030F0902030302020204" pitchFamily="66" charset="0"/>
          <a:ea typeface="+mn-ea"/>
          <a:cs typeface="+mn-cs"/>
        </a:defRPr>
      </a:lvl3pPr>
      <a:lvl4pPr marL="1088136" indent="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Comic Sans MS" panose="030F0902030302020204" pitchFamily="66" charset="0"/>
          <a:ea typeface="+mn-ea"/>
          <a:cs typeface="+mn-cs"/>
        </a:defRPr>
      </a:lvl4pPr>
      <a:lvl5pPr marL="2057400" indent="-512064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mic Sans MS" panose="030F0902030302020204" pitchFamily="66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12115-B5CE-453C-967D-DFFC315D5FB5}"/>
              </a:ext>
            </a:extLst>
          </p:cNvPr>
          <p:cNvSpPr/>
          <p:nvPr/>
        </p:nvSpPr>
        <p:spPr>
          <a:xfrm>
            <a:off x="307178" y="1073782"/>
            <a:ext cx="8529640" cy="1546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007B3B"/>
                </a:solidFill>
                <a:latin typeface="Comic Sans MS" panose="030F0902030302020204" pitchFamily="66" charset="0"/>
              </a:rPr>
              <a:t>CSCE 2110</a:t>
            </a:r>
          </a:p>
          <a:p>
            <a:pPr algn="ctr"/>
            <a:r>
              <a:rPr lang="en-US" sz="4400" dirty="0">
                <a:solidFill>
                  <a:srgbClr val="007B3B"/>
                </a:solidFill>
                <a:latin typeface="Comic Sans MS" panose="030F0902030302020204" pitchFamily="66" charset="0"/>
              </a:rPr>
              <a:t>Foundations of Data Structures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2FFFAB-39EF-4ACC-9EF6-A3A1475FC4D4}"/>
              </a:ext>
            </a:extLst>
          </p:cNvPr>
          <p:cNvCxnSpPr>
            <a:cxnSpLocks/>
          </p:cNvCxnSpPr>
          <p:nvPr/>
        </p:nvCxnSpPr>
        <p:spPr>
          <a:xfrm>
            <a:off x="411478" y="2648826"/>
            <a:ext cx="82296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6DB69BA-A1E7-4F07-9D08-D763F6B04D39}"/>
              </a:ext>
            </a:extLst>
          </p:cNvPr>
          <p:cNvSpPr/>
          <p:nvPr/>
        </p:nvSpPr>
        <p:spPr>
          <a:xfrm>
            <a:off x="411478" y="2880655"/>
            <a:ext cx="8229600" cy="10966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300" dirty="0">
                <a:solidFill>
                  <a:schemeClr val="tx1"/>
                </a:solidFill>
                <a:latin typeface="Comic Sans MS" panose="030F0902030302020204" pitchFamily="66" charset="0"/>
              </a:rPr>
              <a:t>Graph II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CEBE78-77FD-B2B5-CD92-55083FFCD9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81"/>
          <a:stretch>
            <a:fillRect/>
          </a:stretch>
        </p:blipFill>
        <p:spPr>
          <a:xfrm>
            <a:off x="39758" y="33326"/>
            <a:ext cx="1736034" cy="7665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17CAC6-7204-609B-0CF1-012AC8AE5635}"/>
              </a:ext>
            </a:extLst>
          </p:cNvPr>
          <p:cNvSpPr/>
          <p:nvPr/>
        </p:nvSpPr>
        <p:spPr>
          <a:xfrm>
            <a:off x="728204" y="513806"/>
            <a:ext cx="5355203" cy="41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B3B"/>
                </a:solidFill>
                <a:latin typeface="Comic Sans MS" panose="030F0902030302020204" pitchFamily="66" charset="0"/>
              </a:rPr>
              <a:t>University of North Texas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B9DEC-C764-1C8F-128D-E9AF47B96227}"/>
              </a:ext>
            </a:extLst>
          </p:cNvPr>
          <p:cNvSpPr/>
          <p:nvPr/>
        </p:nvSpPr>
        <p:spPr>
          <a:xfrm>
            <a:off x="152399" y="909926"/>
            <a:ext cx="8800011" cy="121771"/>
          </a:xfrm>
          <a:prstGeom prst="rect">
            <a:avLst/>
          </a:prstGeom>
          <a:solidFill>
            <a:srgbClr val="F3F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AC0071-6D55-2E7F-A01B-29E636E01FEA}"/>
              </a:ext>
            </a:extLst>
          </p:cNvPr>
          <p:cNvSpPr/>
          <p:nvPr/>
        </p:nvSpPr>
        <p:spPr>
          <a:xfrm>
            <a:off x="0" y="6146800"/>
            <a:ext cx="8229600" cy="408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mic Sans MS" panose="030F0902030302020204" pitchFamily="66" charset="0"/>
              </a:rPr>
              <a:t>Slides borrowed/adapted from Prof. Yan Huang from UNT</a:t>
            </a:r>
          </a:p>
        </p:txBody>
      </p:sp>
    </p:spTree>
    <p:extLst>
      <p:ext uri="{BB962C8B-B14F-4D97-AF65-F5344CB8AC3E}">
        <p14:creationId xmlns:p14="http://schemas.microsoft.com/office/powerpoint/2010/main" val="360689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BDD002E-0E5D-71AD-D8B6-C2FFDA2A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Graph Terminology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F73AC75-3BA3-A382-6F7A-287E2A70A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598" y="1048215"/>
            <a:ext cx="8686799" cy="4460487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Node (vertex)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Edge (arc)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Directed graph, undirected graph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Degree, in-degree, out-degree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Subgraph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Simple path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Cycle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Directed acyclic graph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Weighted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229A2A9-C4EF-2974-1F09-B9CBB1F8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210209"/>
            <a:ext cx="9144000" cy="732278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Graph representation Adjacency Matrix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5DE6EBC-06E8-1D36-675E-5D384820B364}"/>
              </a:ext>
            </a:extLst>
          </p:cNvPr>
          <p:cNvSpPr txBox="1">
            <a:spLocks noChangeArrowheads="1"/>
          </p:cNvSpPr>
          <p:nvPr/>
        </p:nvSpPr>
        <p:spPr>
          <a:xfrm>
            <a:off x="228599" y="1086698"/>
            <a:ext cx="8686799" cy="3061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12064" indent="-5120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mic Sans MS" panose="030F0902030302020204" pitchFamily="66" charset="0"/>
                <a:ea typeface="+mn-ea"/>
                <a:cs typeface="+mn-cs"/>
              </a:defRPr>
            </a:lvl1pPr>
            <a:lvl2pPr marL="960120" indent="-5120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Comic Sans MS" panose="030F0902030302020204" pitchFamily="66" charset="0"/>
                <a:ea typeface="+mn-ea"/>
                <a:cs typeface="+mn-cs"/>
              </a:defRPr>
            </a:lvl2pPr>
            <a:lvl3pPr marL="1417320" indent="-5120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Wingdings" pitchFamily="2" charset="2"/>
              <a:buChar char="Ø"/>
              <a:defRPr sz="2000" b="0" i="0" kern="1200">
                <a:solidFill>
                  <a:schemeClr val="tx1"/>
                </a:solidFill>
                <a:latin typeface="Comic Sans MS" panose="030F0902030302020204" pitchFamily="66" charset="0"/>
                <a:ea typeface="+mn-ea"/>
                <a:cs typeface="+mn-cs"/>
              </a:defRPr>
            </a:lvl3pPr>
            <a:lvl4pPr marL="1088136" indent="-5120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Comic Sans MS" panose="030F0902030302020204" pitchFamily="66" charset="0"/>
                <a:ea typeface="+mn-ea"/>
                <a:cs typeface="+mn-cs"/>
              </a:defRPr>
            </a:lvl4pPr>
            <a:lvl5pPr marL="2057400" indent="-5120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mic Sans MS" panose="030F0902030302020204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/>
              <a:t>Assume N nodes in graph</a:t>
            </a:r>
          </a:p>
          <a:p>
            <a:r>
              <a:rPr lang="en-US" altLang="en-US" sz="2400"/>
              <a:t>Use 2D Matrix A[0…N-1][0…N-1]</a:t>
            </a:r>
          </a:p>
          <a:p>
            <a:pPr lvl="1"/>
            <a:r>
              <a:rPr lang="en-US" altLang="en-US" sz="2000"/>
              <a:t>if vertex i and vertex j are adjacent in graph, A[i][j] = 1,</a:t>
            </a:r>
          </a:p>
          <a:p>
            <a:pPr lvl="1"/>
            <a:r>
              <a:rPr lang="en-US" altLang="en-US" sz="2000"/>
              <a:t> otherwise A[i][j] = 0</a:t>
            </a:r>
          </a:p>
          <a:p>
            <a:pPr lvl="1"/>
            <a:r>
              <a:rPr lang="en-US" altLang="en-US" sz="2000"/>
              <a:t>if vertex i has a loop, A[i][i] = 1</a:t>
            </a:r>
          </a:p>
          <a:p>
            <a:pPr lvl="1"/>
            <a:r>
              <a:rPr lang="en-US" altLang="en-US" sz="2000"/>
              <a:t>if vertex i has no loop, A[i][i] = 0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D1BA66E-554C-D8FD-C6D5-6F69C4A989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Graph Representation </a:t>
            </a:r>
            <a:r>
              <a:rPr lang="en-US" altLang="en-US" sz="3200" dirty="0"/>
              <a:t>Adjacency List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74139-BD5A-4BC7-76E6-7BA5950EBE12}"/>
              </a:ext>
            </a:extLst>
          </p:cNvPr>
          <p:cNvSpPr txBox="1">
            <a:spLocks noChangeArrowheads="1"/>
          </p:cNvSpPr>
          <p:nvPr/>
        </p:nvSpPr>
        <p:spPr>
          <a:xfrm>
            <a:off x="239750" y="1055649"/>
            <a:ext cx="8686798" cy="1447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12064" indent="-5120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mic Sans MS" panose="030F0902030302020204" pitchFamily="66" charset="0"/>
                <a:ea typeface="+mn-ea"/>
                <a:cs typeface="+mn-cs"/>
              </a:defRPr>
            </a:lvl1pPr>
            <a:lvl2pPr marL="960120" indent="-5120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Comic Sans MS" panose="030F0902030302020204" pitchFamily="66" charset="0"/>
                <a:ea typeface="+mn-ea"/>
                <a:cs typeface="+mn-cs"/>
              </a:defRPr>
            </a:lvl2pPr>
            <a:lvl3pPr marL="1417320" indent="-5120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Wingdings" pitchFamily="2" charset="2"/>
              <a:buChar char="Ø"/>
              <a:defRPr sz="2000" b="0" i="0" kern="1200">
                <a:solidFill>
                  <a:schemeClr val="tx1"/>
                </a:solidFill>
                <a:latin typeface="Comic Sans MS" panose="030F0902030302020204" pitchFamily="66" charset="0"/>
                <a:ea typeface="+mn-ea"/>
                <a:cs typeface="+mn-cs"/>
              </a:defRPr>
            </a:lvl3pPr>
            <a:lvl4pPr marL="1088136" indent="-5120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Comic Sans MS" panose="030F0902030302020204" pitchFamily="66" charset="0"/>
                <a:ea typeface="+mn-ea"/>
                <a:cs typeface="+mn-cs"/>
              </a:defRPr>
            </a:lvl4pPr>
            <a:lvl5pPr marL="2057400" indent="-5120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mic Sans MS" panose="030F0902030302020204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US" altLang="en-US" sz="2400"/>
              <a:t>An array of list</a:t>
            </a:r>
          </a:p>
          <a:p>
            <a:pPr>
              <a:spcAft>
                <a:spcPts val="300"/>
              </a:spcAft>
            </a:pPr>
            <a:r>
              <a:rPr lang="en-US" altLang="en-US" sz="2400"/>
              <a:t>the i</a:t>
            </a:r>
            <a:r>
              <a:rPr lang="en-US" altLang="en-US" sz="2400" i="1"/>
              <a:t>th</a:t>
            </a:r>
            <a:r>
              <a:rPr lang="en-US" altLang="en-US" sz="2400"/>
              <a:t> element of the array is a list of vertices that connect to vertex i</a:t>
            </a:r>
            <a:endParaRPr lang="en-US" altLang="en-US" sz="2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2244C7C-1BB5-1B84-B631-8CCBBD865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4290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F131DAA-3A9F-5300-2666-6FCE36BCE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2672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B6D025-E7FD-B628-0DC1-B43AEF56F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2578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FE85C8-5EA3-3015-2EC8-15BEABFAD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958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1D4D0CA5-4CBF-583F-604E-B234771CD7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39624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E94F4DD8-8270-195C-A99A-DB0CEF596D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029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CF082A12-3B69-249F-D1A1-A4760DD22F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3886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A765BC7D-8EF9-F675-C055-3463BADD06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48006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26AE44AA-01A9-9F62-C4C1-FD59FE8FF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038600"/>
            <a:ext cx="228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FDCD5127-0E30-8188-87F5-D4C8E6C38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953218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FDCEFE-81D6-E899-513E-FFC11F1D6F80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648418"/>
            <a:ext cx="4648200" cy="2438400"/>
            <a:chOff x="2112" y="1488"/>
            <a:chExt cx="2928" cy="153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85FC2C-870C-06CE-88A7-FFA50A96E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488"/>
              <a:ext cx="28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1795866-6382-BA5A-8133-F3C5D5869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872"/>
              <a:ext cx="28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3B1B89-610A-BB9D-AC29-4689982F9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256"/>
              <a:ext cx="28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F7680E-7933-CDE3-9255-B78609662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640"/>
              <a:ext cx="28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17253F23-C810-3FFC-17BA-94B83D951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640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F385062-AE24-378D-92CF-4274709F0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488"/>
              <a:ext cx="28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42CEFBE-2FDA-AAEC-6A4C-090C22BEA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872"/>
              <a:ext cx="28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696B066-5FA3-9932-1AD6-0A5266573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256"/>
              <a:ext cx="28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25DA631-5E65-559E-DF6D-A2D35D420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640"/>
              <a:ext cx="28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48B2526-6C33-91F3-C1FC-085BAD492A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536"/>
              <a:ext cx="480" cy="288"/>
              <a:chOff x="3024" y="1488"/>
              <a:chExt cx="480" cy="384"/>
            </a:xfrm>
          </p:grpSpPr>
          <p:sp>
            <p:nvSpPr>
              <p:cNvPr id="45" name="Rectangle 25">
                <a:extLst>
                  <a:ext uri="{FF2B5EF4-FFF2-40B4-BE49-F238E27FC236}">
                    <a16:creationId xmlns:a16="http://schemas.microsoft.com/office/drawing/2014/main" id="{06DD69AB-F00F-8918-DF42-BF07438A0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6" name="Rectangle 26">
                <a:extLst>
                  <a:ext uri="{FF2B5EF4-FFF2-40B4-BE49-F238E27FC236}">
                    <a16:creationId xmlns:a16="http://schemas.microsoft.com/office/drawing/2014/main" id="{16A1DF15-45A2-E426-7441-C38343C14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" name="Group 27">
              <a:extLst>
                <a:ext uri="{FF2B5EF4-FFF2-40B4-BE49-F238E27FC236}">
                  <a16:creationId xmlns:a16="http://schemas.microsoft.com/office/drawing/2014/main" id="{DADE784C-4E80-28B7-33E1-7E2F5552C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1536"/>
              <a:ext cx="480" cy="288"/>
              <a:chOff x="3024" y="1488"/>
              <a:chExt cx="480" cy="384"/>
            </a:xfrm>
          </p:grpSpPr>
          <p:sp>
            <p:nvSpPr>
              <p:cNvPr id="43" name="Rectangle 28">
                <a:extLst>
                  <a:ext uri="{FF2B5EF4-FFF2-40B4-BE49-F238E27FC236}">
                    <a16:creationId xmlns:a16="http://schemas.microsoft.com/office/drawing/2014/main" id="{7A41AF64-D98D-3EAC-1886-6B9C0FCFB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4" name="Rectangle 29">
                <a:extLst>
                  <a:ext uri="{FF2B5EF4-FFF2-40B4-BE49-F238E27FC236}">
                    <a16:creationId xmlns:a16="http://schemas.microsoft.com/office/drawing/2014/main" id="{D77AD84E-7F15-9D62-6F57-7BB6CE7693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" name="Group 30">
              <a:extLst>
                <a:ext uri="{FF2B5EF4-FFF2-40B4-BE49-F238E27FC236}">
                  <a16:creationId xmlns:a16="http://schemas.microsoft.com/office/drawing/2014/main" id="{92318700-915F-BE05-4D43-1FDA42F93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1536"/>
              <a:ext cx="480" cy="288"/>
              <a:chOff x="3024" y="1488"/>
              <a:chExt cx="480" cy="384"/>
            </a:xfrm>
          </p:grpSpPr>
          <p:sp>
            <p:nvSpPr>
              <p:cNvPr id="41" name="Rectangle 31">
                <a:extLst>
                  <a:ext uri="{FF2B5EF4-FFF2-40B4-BE49-F238E27FC236}">
                    <a16:creationId xmlns:a16="http://schemas.microsoft.com/office/drawing/2014/main" id="{FAD9C07E-60C8-AAB1-47D4-A6ACDADD6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2" name="Rectangle 32">
                <a:extLst>
                  <a:ext uri="{FF2B5EF4-FFF2-40B4-BE49-F238E27FC236}">
                    <a16:creationId xmlns:a16="http://schemas.microsoft.com/office/drawing/2014/main" id="{0A0F3448-5182-EC27-C1B3-439CBE154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" name="Group 33">
              <a:extLst>
                <a:ext uri="{FF2B5EF4-FFF2-40B4-BE49-F238E27FC236}">
                  <a16:creationId xmlns:a16="http://schemas.microsoft.com/office/drawing/2014/main" id="{E9F716B5-B3C4-095A-F569-7795D14FF5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920"/>
              <a:ext cx="480" cy="288"/>
              <a:chOff x="3024" y="1488"/>
              <a:chExt cx="480" cy="384"/>
            </a:xfrm>
          </p:grpSpPr>
          <p:sp>
            <p:nvSpPr>
              <p:cNvPr id="39" name="Rectangle 34">
                <a:extLst>
                  <a:ext uri="{FF2B5EF4-FFF2-40B4-BE49-F238E27FC236}">
                    <a16:creationId xmlns:a16="http://schemas.microsoft.com/office/drawing/2014/main" id="{748F3EF6-F9DE-BBDB-0312-A10BC6020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0" name="Rectangle 35">
                <a:extLst>
                  <a:ext uri="{FF2B5EF4-FFF2-40B4-BE49-F238E27FC236}">
                    <a16:creationId xmlns:a16="http://schemas.microsoft.com/office/drawing/2014/main" id="{A8413383-75E0-F2A8-D87D-6CDB64D84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" name="Group 36">
              <a:extLst>
                <a:ext uri="{FF2B5EF4-FFF2-40B4-BE49-F238E27FC236}">
                  <a16:creationId xmlns:a16="http://schemas.microsoft.com/office/drawing/2014/main" id="{DB975B59-F86E-FB59-6B77-6823D46FD5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304"/>
              <a:ext cx="480" cy="288"/>
              <a:chOff x="3024" y="1488"/>
              <a:chExt cx="480" cy="384"/>
            </a:xfrm>
          </p:grpSpPr>
          <p:sp>
            <p:nvSpPr>
              <p:cNvPr id="37" name="Rectangle 37">
                <a:extLst>
                  <a:ext uri="{FF2B5EF4-FFF2-40B4-BE49-F238E27FC236}">
                    <a16:creationId xmlns:a16="http://schemas.microsoft.com/office/drawing/2014/main" id="{3AD2B1A9-843C-956A-6A07-FA966845B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8" name="Rectangle 38">
                <a:extLst>
                  <a:ext uri="{FF2B5EF4-FFF2-40B4-BE49-F238E27FC236}">
                    <a16:creationId xmlns:a16="http://schemas.microsoft.com/office/drawing/2014/main" id="{302FE6B9-660B-8709-2426-8111775FB5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" name="Line 39">
              <a:extLst>
                <a:ext uri="{FF2B5EF4-FFF2-40B4-BE49-F238E27FC236}">
                  <a16:creationId xmlns:a16="http://schemas.microsoft.com/office/drawing/2014/main" id="{442C3ECF-B2D1-983E-9271-E61A97253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1920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40">
              <a:extLst>
                <a:ext uri="{FF2B5EF4-FFF2-40B4-BE49-F238E27FC236}">
                  <a16:creationId xmlns:a16="http://schemas.microsoft.com/office/drawing/2014/main" id="{DCCCD88A-78CB-8019-DDB5-10FD7C4A46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304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41">
              <a:extLst>
                <a:ext uri="{FF2B5EF4-FFF2-40B4-BE49-F238E27FC236}">
                  <a16:creationId xmlns:a16="http://schemas.microsoft.com/office/drawing/2014/main" id="{30549FE3-0A24-1502-9C87-F90E4C678D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153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42">
              <a:extLst>
                <a:ext uri="{FF2B5EF4-FFF2-40B4-BE49-F238E27FC236}">
                  <a16:creationId xmlns:a16="http://schemas.microsoft.com/office/drawing/2014/main" id="{8D830A77-91CB-22F1-D977-03CCC4EAD5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68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43">
              <a:extLst>
                <a:ext uri="{FF2B5EF4-FFF2-40B4-BE49-F238E27FC236}">
                  <a16:creationId xmlns:a16="http://schemas.microsoft.com/office/drawing/2014/main" id="{6E934A28-4C9E-273F-C7CD-4348F0F81A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68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44">
              <a:extLst>
                <a:ext uri="{FF2B5EF4-FFF2-40B4-BE49-F238E27FC236}">
                  <a16:creationId xmlns:a16="http://schemas.microsoft.com/office/drawing/2014/main" id="{63621738-B98C-C776-0CED-8FC958B13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6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45">
              <a:extLst>
                <a:ext uri="{FF2B5EF4-FFF2-40B4-BE49-F238E27FC236}">
                  <a16:creationId xmlns:a16="http://schemas.microsoft.com/office/drawing/2014/main" id="{E7A5FA91-88A9-F40E-4005-EB8168C0B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4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Text Box 46">
            <a:extLst>
              <a:ext uri="{FF2B5EF4-FFF2-40B4-BE49-F238E27FC236}">
                <a16:creationId xmlns:a16="http://schemas.microsoft.com/office/drawing/2014/main" id="{7E14E312-09D5-987A-9127-822535116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194768"/>
            <a:ext cx="5715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vertex 0 connect to vertex 1, 2 and 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vertex 1 connects to 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vertex 2 connects to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DCDA0AC-8C68-6026-951C-35BAF0BDAA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Graph Traversal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E39A604-1C00-D461-AA0D-EBF48EC924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599" y="1144860"/>
            <a:ext cx="8686798" cy="296994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From one vertex, list out all vertices that can be reached in graph 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Set of nodes to expand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Each node has a flag to indicate visited or not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Depth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/>
              <a:t>First Traversal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Breadth First Traversal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0A35E95-21E6-AF58-D706-150805666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Spanning Tree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9047201-AA46-B738-1D46-ED961D0A8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599" y="1075545"/>
            <a:ext cx="8686799" cy="30950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Connected subgraph that includes all vertices of the original connected graph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1100" dirty="0"/>
          </a:p>
          <a:p>
            <a:pPr eaLnBrk="1" hangingPunct="1"/>
            <a:r>
              <a:rPr lang="en-US" altLang="en-US" sz="2400" dirty="0"/>
              <a:t>Subgraph is a tree</a:t>
            </a:r>
          </a:p>
          <a:p>
            <a:pPr lvl="1" eaLnBrk="1" hangingPunct="1"/>
            <a:r>
              <a:rPr lang="en-US" altLang="en-US" sz="2000" dirty="0"/>
              <a:t>If original graph has </a:t>
            </a:r>
            <a:r>
              <a:rPr lang="en-US" altLang="en-US" sz="2000" dirty="0">
                <a:solidFill>
                  <a:srgbClr val="FF3300"/>
                </a:solidFill>
              </a:rPr>
              <a:t>n</a:t>
            </a:r>
            <a:r>
              <a:rPr lang="en-US" altLang="en-US" sz="2000" dirty="0"/>
              <a:t> vertices, the spanning tree has n vertices and </a:t>
            </a:r>
            <a:r>
              <a:rPr lang="en-US" altLang="en-US" sz="2000" dirty="0">
                <a:solidFill>
                  <a:srgbClr val="FF3300"/>
                </a:solidFill>
              </a:rPr>
              <a:t>n-1</a:t>
            </a:r>
            <a:r>
              <a:rPr lang="en-US" altLang="en-US" sz="2000" dirty="0"/>
              <a:t> edges.</a:t>
            </a:r>
          </a:p>
          <a:p>
            <a:pPr lvl="1" eaLnBrk="1" hangingPunct="1"/>
            <a:r>
              <a:rPr lang="en-US" altLang="en-US" sz="2000" dirty="0">
                <a:solidFill>
                  <a:srgbClr val="FF0000"/>
                </a:solidFill>
              </a:rPr>
              <a:t>No circle </a:t>
            </a:r>
            <a:r>
              <a:rPr lang="en-US" altLang="en-US" sz="2000" dirty="0"/>
              <a:t>in this subgraph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:a16="http://schemas.microsoft.com/office/drawing/2014/main" id="{2372E006-8C90-4B1A-156B-97D6867A50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599" y="1104900"/>
            <a:ext cx="8686798" cy="1295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Minimum number of edges to keep it connected</a:t>
            </a:r>
          </a:p>
          <a:p>
            <a:pPr eaLnBrk="1" hangingPunct="1"/>
            <a:r>
              <a:rPr lang="en-US" altLang="en-US" sz="2400" dirty="0"/>
              <a:t>If </a:t>
            </a:r>
            <a:r>
              <a:rPr lang="en-US" altLang="en-US" sz="2400" dirty="0">
                <a:solidFill>
                  <a:srgbClr val="FF3300"/>
                </a:solidFill>
              </a:rPr>
              <a:t>N</a:t>
            </a:r>
            <a:r>
              <a:rPr lang="en-US" altLang="en-US" sz="2400" dirty="0"/>
              <a:t> vertices, spanning tree has </a:t>
            </a:r>
            <a:r>
              <a:rPr lang="en-US" altLang="en-US" sz="2400" dirty="0">
                <a:solidFill>
                  <a:srgbClr val="FF3300"/>
                </a:solidFill>
              </a:rPr>
              <a:t>N-1</a:t>
            </a:r>
            <a:r>
              <a:rPr lang="en-US" altLang="en-US" sz="2400" dirty="0"/>
              <a:t> edges</a:t>
            </a:r>
          </a:p>
        </p:txBody>
      </p:sp>
      <p:sp>
        <p:nvSpPr>
          <p:cNvPr id="12305" name="Oval 4">
            <a:extLst>
              <a:ext uri="{FF2B5EF4-FFF2-40B4-BE49-F238E27FC236}">
                <a16:creationId xmlns:a16="http://schemas.microsoft.com/office/drawing/2014/main" id="{B6787985-8B15-7522-40A1-D0FC2E222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562713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06" name="Oval 5">
            <a:extLst>
              <a:ext uri="{FF2B5EF4-FFF2-40B4-BE49-F238E27FC236}">
                <a16:creationId xmlns:a16="http://schemas.microsoft.com/office/drawing/2014/main" id="{968E9FF1-4E74-742F-FB6D-147C39B99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705713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07" name="Oval 6">
            <a:extLst>
              <a:ext uri="{FF2B5EF4-FFF2-40B4-BE49-F238E27FC236}">
                <a16:creationId xmlns:a16="http://schemas.microsoft.com/office/drawing/2014/main" id="{787946D0-73A5-A550-5752-500EC2062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848713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08" name="Oval 7">
            <a:extLst>
              <a:ext uri="{FF2B5EF4-FFF2-40B4-BE49-F238E27FC236}">
                <a16:creationId xmlns:a16="http://schemas.microsoft.com/office/drawing/2014/main" id="{33AFE58F-D785-1846-EB90-AEE0E6AEE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077313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09" name="Oval 8">
            <a:extLst>
              <a:ext uri="{FF2B5EF4-FFF2-40B4-BE49-F238E27FC236}">
                <a16:creationId xmlns:a16="http://schemas.microsoft.com/office/drawing/2014/main" id="{7DCBF75B-B9F3-A428-11B9-9C5C63F25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553313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10" name="Line 9">
            <a:extLst>
              <a:ext uri="{FF2B5EF4-FFF2-40B4-BE49-F238E27FC236}">
                <a16:creationId xmlns:a16="http://schemas.microsoft.com/office/drawing/2014/main" id="{46595C17-66FB-56B7-9691-3241EE4335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096113"/>
            <a:ext cx="53340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1" name="Line 10">
            <a:extLst>
              <a:ext uri="{FF2B5EF4-FFF2-40B4-BE49-F238E27FC236}">
                <a16:creationId xmlns:a16="http://schemas.microsoft.com/office/drawing/2014/main" id="{40A9CE7D-4EA4-CE7C-2D39-DAE5020BCF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315313"/>
            <a:ext cx="7620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2" name="Line 11">
            <a:extLst>
              <a:ext uri="{FF2B5EF4-FFF2-40B4-BE49-F238E27FC236}">
                <a16:creationId xmlns:a16="http://schemas.microsoft.com/office/drawing/2014/main" id="{DDE53907-6D7F-DDEC-CD7F-4B3F6D8CE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5305913"/>
            <a:ext cx="1143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3" name="Line 12">
            <a:extLst>
              <a:ext uri="{FF2B5EF4-FFF2-40B4-BE49-F238E27FC236}">
                <a16:creationId xmlns:a16="http://schemas.microsoft.com/office/drawing/2014/main" id="{B5F26537-768D-84DE-101E-5D2D66B72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172313"/>
            <a:ext cx="914400" cy="1905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4" name="Line 13">
            <a:extLst>
              <a:ext uri="{FF2B5EF4-FFF2-40B4-BE49-F238E27FC236}">
                <a16:creationId xmlns:a16="http://schemas.microsoft.com/office/drawing/2014/main" id="{7CDC644E-92CA-DBA2-78F3-D2AC256ACD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943713"/>
            <a:ext cx="106680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5" name="Line 14">
            <a:extLst>
              <a:ext uri="{FF2B5EF4-FFF2-40B4-BE49-F238E27FC236}">
                <a16:creationId xmlns:a16="http://schemas.microsoft.com/office/drawing/2014/main" id="{7C5A9A7E-BFA9-DFA9-7C2D-D7EB94A361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4162913"/>
            <a:ext cx="304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4" name="Oval 20">
            <a:extLst>
              <a:ext uri="{FF2B5EF4-FFF2-40B4-BE49-F238E27FC236}">
                <a16:creationId xmlns:a16="http://schemas.microsoft.com/office/drawing/2014/main" id="{5BFF7D21-F188-3066-8927-D132F1D96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5903" y="2562713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5" name="Oval 21">
            <a:extLst>
              <a:ext uri="{FF2B5EF4-FFF2-40B4-BE49-F238E27FC236}">
                <a16:creationId xmlns:a16="http://schemas.microsoft.com/office/drawing/2014/main" id="{5B9FFC6E-CC6C-5F9B-7732-A94D3664C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703" y="3705713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6" name="Oval 22">
            <a:extLst>
              <a:ext uri="{FF2B5EF4-FFF2-40B4-BE49-F238E27FC236}">
                <a16:creationId xmlns:a16="http://schemas.microsoft.com/office/drawing/2014/main" id="{CB7E820D-200D-F798-A709-6ADA52156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303" y="4848713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7" name="Oval 23">
            <a:extLst>
              <a:ext uri="{FF2B5EF4-FFF2-40B4-BE49-F238E27FC236}">
                <a16:creationId xmlns:a16="http://schemas.microsoft.com/office/drawing/2014/main" id="{112A2173-DD86-36E1-030F-8ABC5B22E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703" y="5077313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8" name="Oval 24">
            <a:extLst>
              <a:ext uri="{FF2B5EF4-FFF2-40B4-BE49-F238E27FC236}">
                <a16:creationId xmlns:a16="http://schemas.microsoft.com/office/drawing/2014/main" id="{14049121-C914-6725-21C3-450E766FF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103" y="3553313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9" name="Line 25">
            <a:extLst>
              <a:ext uri="{FF2B5EF4-FFF2-40B4-BE49-F238E27FC236}">
                <a16:creationId xmlns:a16="http://schemas.microsoft.com/office/drawing/2014/main" id="{E5755F83-F262-ACDA-E61E-6DB90B1D75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4903" y="3096113"/>
            <a:ext cx="53340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0" name="Line 26">
            <a:extLst>
              <a:ext uri="{FF2B5EF4-FFF2-40B4-BE49-F238E27FC236}">
                <a16:creationId xmlns:a16="http://schemas.microsoft.com/office/drawing/2014/main" id="{E300DE05-D572-9F92-3204-6B6B5FEC9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703" y="4315313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Line 27">
            <a:extLst>
              <a:ext uri="{FF2B5EF4-FFF2-40B4-BE49-F238E27FC236}">
                <a16:creationId xmlns:a16="http://schemas.microsoft.com/office/drawing/2014/main" id="{CCB9C55B-A2D0-877F-4759-628A6FDBF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9703" y="5305913"/>
            <a:ext cx="1143000" cy="76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2" name="Line 28">
            <a:extLst>
              <a:ext uri="{FF2B5EF4-FFF2-40B4-BE49-F238E27FC236}">
                <a16:creationId xmlns:a16="http://schemas.microsoft.com/office/drawing/2014/main" id="{8424902B-26C9-EA90-5705-A14CA347A1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6903" y="3172313"/>
            <a:ext cx="914400" cy="1905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3" name="Line 29">
            <a:extLst>
              <a:ext uri="{FF2B5EF4-FFF2-40B4-BE49-F238E27FC236}">
                <a16:creationId xmlns:a16="http://schemas.microsoft.com/office/drawing/2014/main" id="{CADBDAD2-2640-0A1B-39D6-4A8F06488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5503" y="2943713"/>
            <a:ext cx="1066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4" name="Line 30">
            <a:extLst>
              <a:ext uri="{FF2B5EF4-FFF2-40B4-BE49-F238E27FC236}">
                <a16:creationId xmlns:a16="http://schemas.microsoft.com/office/drawing/2014/main" id="{3C9B3CD7-E8D0-91AB-A5F6-595126C10F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89903" y="4162913"/>
            <a:ext cx="304800" cy="990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0B8007-7D65-3CB6-3B24-CA7367BED8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599" y="210209"/>
            <a:ext cx="8686799" cy="732278"/>
          </a:xfrm>
        </p:spPr>
        <p:txBody>
          <a:bodyPr/>
          <a:lstStyle/>
          <a:p>
            <a:pPr eaLnBrk="1" hangingPunct="1"/>
            <a:r>
              <a:rPr lang="en-US" altLang="en-US" dirty="0"/>
              <a:t>Spanning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8EA73A6-0086-0437-C8B9-EF7C010E33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76" y="228600"/>
            <a:ext cx="8675648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Minimum Spanning Tree (MST)</a:t>
            </a:r>
          </a:p>
        </p:txBody>
      </p:sp>
      <p:sp>
        <p:nvSpPr>
          <p:cNvPr id="13347" name="Oval 4">
            <a:extLst>
              <a:ext uri="{FF2B5EF4-FFF2-40B4-BE49-F238E27FC236}">
                <a16:creationId xmlns:a16="http://schemas.microsoft.com/office/drawing/2014/main" id="{B428AD2D-6155-0F5D-95EA-ECA285088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490" y="1968192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48" name="Oval 5">
            <a:extLst>
              <a:ext uri="{FF2B5EF4-FFF2-40B4-BE49-F238E27FC236}">
                <a16:creationId xmlns:a16="http://schemas.microsoft.com/office/drawing/2014/main" id="{9F0483D0-9EB1-94F3-0501-7CC2BBB94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090" y="2958792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49" name="Oval 6">
            <a:extLst>
              <a:ext uri="{FF2B5EF4-FFF2-40B4-BE49-F238E27FC236}">
                <a16:creationId xmlns:a16="http://schemas.microsoft.com/office/drawing/2014/main" id="{2CF65582-9F84-6966-77C7-B2733E8AC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490" y="4330392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50" name="Oval 7">
            <a:extLst>
              <a:ext uri="{FF2B5EF4-FFF2-40B4-BE49-F238E27FC236}">
                <a16:creationId xmlns:a16="http://schemas.microsoft.com/office/drawing/2014/main" id="{940BD4D0-1096-C2FD-9120-524B8624F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090" y="5168592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51" name="Oval 8">
            <a:extLst>
              <a:ext uri="{FF2B5EF4-FFF2-40B4-BE49-F238E27FC236}">
                <a16:creationId xmlns:a16="http://schemas.microsoft.com/office/drawing/2014/main" id="{EA6B704C-14D8-7197-70F2-F1A5E8EEE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6090" y="3111192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16" name="Line 9">
            <a:extLst>
              <a:ext uri="{FF2B5EF4-FFF2-40B4-BE49-F238E27FC236}">
                <a16:creationId xmlns:a16="http://schemas.microsoft.com/office/drawing/2014/main" id="{F2908BDF-BE44-D95A-B916-F31F2CE2A7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93490" y="2501592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7" name="Line 10">
            <a:extLst>
              <a:ext uri="{FF2B5EF4-FFF2-40B4-BE49-F238E27FC236}">
                <a16:creationId xmlns:a16="http://schemas.microsoft.com/office/drawing/2014/main" id="{3E46141E-465F-783C-308A-A23205E5BA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4890" y="3568392"/>
            <a:ext cx="76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8" name="Line 11">
            <a:extLst>
              <a:ext uri="{FF2B5EF4-FFF2-40B4-BE49-F238E27FC236}">
                <a16:creationId xmlns:a16="http://schemas.microsoft.com/office/drawing/2014/main" id="{1D41B946-229A-EF02-A20E-545FA29A1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5890" y="4787592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Line 12">
            <a:extLst>
              <a:ext uri="{FF2B5EF4-FFF2-40B4-BE49-F238E27FC236}">
                <a16:creationId xmlns:a16="http://schemas.microsoft.com/office/drawing/2014/main" id="{DB912590-082C-7971-198D-907481271C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490" y="2577792"/>
            <a:ext cx="5334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Line 13">
            <a:extLst>
              <a:ext uri="{FF2B5EF4-FFF2-40B4-BE49-F238E27FC236}">
                <a16:creationId xmlns:a16="http://schemas.microsoft.com/office/drawing/2014/main" id="{EA865EE9-3285-9A8E-6523-7C98BEA4E8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7890" y="2425392"/>
            <a:ext cx="914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1" name="Line 14">
            <a:extLst>
              <a:ext uri="{FF2B5EF4-FFF2-40B4-BE49-F238E27FC236}">
                <a16:creationId xmlns:a16="http://schemas.microsoft.com/office/drawing/2014/main" id="{10E3712E-65E5-DB91-6675-66455A4D21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1290" y="3720792"/>
            <a:ext cx="5334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Rectangle 15">
            <a:extLst>
              <a:ext uri="{FF2B5EF4-FFF2-40B4-BE49-F238E27FC236}">
                <a16:creationId xmlns:a16="http://schemas.microsoft.com/office/drawing/2014/main" id="{A8A6630C-4718-3F9B-AE54-62678273E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290" y="2425392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3323" name="Rectangle 16">
            <a:extLst>
              <a:ext uri="{FF2B5EF4-FFF2-40B4-BE49-F238E27FC236}">
                <a16:creationId xmlns:a16="http://schemas.microsoft.com/office/drawing/2014/main" id="{70249887-B03D-2820-8058-94329A274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090" y="3796992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3324" name="Rectangle 17">
            <a:extLst>
              <a:ext uri="{FF2B5EF4-FFF2-40B4-BE49-F238E27FC236}">
                <a16:creationId xmlns:a16="http://schemas.microsoft.com/office/drawing/2014/main" id="{A61F021A-18A5-24E3-A5CE-BAB9D70CF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3090" y="3644592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325" name="Rectangle 18">
            <a:extLst>
              <a:ext uri="{FF2B5EF4-FFF2-40B4-BE49-F238E27FC236}">
                <a16:creationId xmlns:a16="http://schemas.microsoft.com/office/drawing/2014/main" id="{FC9933E3-A54A-FA9A-75F3-710AE0221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090" y="4939992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326" name="Rectangle 19">
            <a:extLst>
              <a:ext uri="{FF2B5EF4-FFF2-40B4-BE49-F238E27FC236}">
                <a16:creationId xmlns:a16="http://schemas.microsoft.com/office/drawing/2014/main" id="{ABE394A2-304B-004E-33DA-51D9E2CB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090" y="2501592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3327" name="Rectangle 20">
            <a:extLst>
              <a:ext uri="{FF2B5EF4-FFF2-40B4-BE49-F238E27FC236}">
                <a16:creationId xmlns:a16="http://schemas.microsoft.com/office/drawing/2014/main" id="{5D34B222-D672-E152-509C-B125B5C88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6090" y="4254192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13330" name="Line 22">
            <a:extLst>
              <a:ext uri="{FF2B5EF4-FFF2-40B4-BE49-F238E27FC236}">
                <a16:creationId xmlns:a16="http://schemas.microsoft.com/office/drawing/2014/main" id="{F9BA4157-C9A2-9833-A550-71C24B5D2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490" y="3720792"/>
            <a:ext cx="533400" cy="0"/>
          </a:xfrm>
          <a:prstGeom prst="line">
            <a:avLst/>
          </a:prstGeom>
          <a:noFill/>
          <a:ln w="76200">
            <a:solidFill>
              <a:srgbClr val="7030A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2" name="Oval 26">
            <a:extLst>
              <a:ext uri="{FF2B5EF4-FFF2-40B4-BE49-F238E27FC236}">
                <a16:creationId xmlns:a16="http://schemas.microsoft.com/office/drawing/2014/main" id="{3C1B196C-D764-6DA9-08A2-BF68F54BD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090" y="1815792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43" name="Oval 27">
            <a:extLst>
              <a:ext uri="{FF2B5EF4-FFF2-40B4-BE49-F238E27FC236}">
                <a16:creationId xmlns:a16="http://schemas.microsoft.com/office/drawing/2014/main" id="{09B0E4E7-3D0B-E233-A720-C51BC83E5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8690" y="2806392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44" name="Oval 28">
            <a:extLst>
              <a:ext uri="{FF2B5EF4-FFF2-40B4-BE49-F238E27FC236}">
                <a16:creationId xmlns:a16="http://schemas.microsoft.com/office/drawing/2014/main" id="{2A788CBF-6B86-635C-CFD4-8BBA96661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090" y="4177992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45" name="Oval 29">
            <a:extLst>
              <a:ext uri="{FF2B5EF4-FFF2-40B4-BE49-F238E27FC236}">
                <a16:creationId xmlns:a16="http://schemas.microsoft.com/office/drawing/2014/main" id="{C5FAE720-A497-6A47-91AF-629DF49F2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2690" y="5016192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46" name="Oval 30">
            <a:extLst>
              <a:ext uri="{FF2B5EF4-FFF2-40B4-BE49-F238E27FC236}">
                <a16:creationId xmlns:a16="http://schemas.microsoft.com/office/drawing/2014/main" id="{4D97BEBE-69A9-09DC-60C6-33AA9BD80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4690" y="2958792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38" name="Line 31">
            <a:extLst>
              <a:ext uri="{FF2B5EF4-FFF2-40B4-BE49-F238E27FC236}">
                <a16:creationId xmlns:a16="http://schemas.microsoft.com/office/drawing/2014/main" id="{9CFF17C0-F105-4617-CC3B-B9F829591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4090" y="2425392"/>
            <a:ext cx="5334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9" name="Line 32">
            <a:extLst>
              <a:ext uri="{FF2B5EF4-FFF2-40B4-BE49-F238E27FC236}">
                <a16:creationId xmlns:a16="http://schemas.microsoft.com/office/drawing/2014/main" id="{9544D4EB-EA73-8CA3-F550-18CDB2152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32090" y="2349192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0" name="Line 33">
            <a:extLst>
              <a:ext uri="{FF2B5EF4-FFF2-40B4-BE49-F238E27FC236}">
                <a16:creationId xmlns:a16="http://schemas.microsoft.com/office/drawing/2014/main" id="{A4109FF6-5C13-BDD3-0FB7-8BFA747D59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6490" y="2349192"/>
            <a:ext cx="914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1" name="Line 34">
            <a:extLst>
              <a:ext uri="{FF2B5EF4-FFF2-40B4-BE49-F238E27FC236}">
                <a16:creationId xmlns:a16="http://schemas.microsoft.com/office/drawing/2014/main" id="{15A284DA-65CE-C34E-A7AC-F11463F4E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4490" y="4635192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3" name="Rectangle 35">
            <a:extLst>
              <a:ext uri="{FF2B5EF4-FFF2-40B4-BE49-F238E27FC236}">
                <a16:creationId xmlns:a16="http://schemas.microsoft.com/office/drawing/2014/main" id="{80BD235C-4559-541E-7037-07222F4A6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5890" y="2272992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3334" name="Rectangle 36">
            <a:extLst>
              <a:ext uri="{FF2B5EF4-FFF2-40B4-BE49-F238E27FC236}">
                <a16:creationId xmlns:a16="http://schemas.microsoft.com/office/drawing/2014/main" id="{337E9223-D30E-CDF2-2B7F-27FA998FF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490" y="2425392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3335" name="Rectangle 37">
            <a:extLst>
              <a:ext uri="{FF2B5EF4-FFF2-40B4-BE49-F238E27FC236}">
                <a16:creationId xmlns:a16="http://schemas.microsoft.com/office/drawing/2014/main" id="{88316427-5ED1-9F49-A065-7F15FB403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1690" y="3415992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336" name="Rectangle 38">
            <a:extLst>
              <a:ext uri="{FF2B5EF4-FFF2-40B4-BE49-F238E27FC236}">
                <a16:creationId xmlns:a16="http://schemas.microsoft.com/office/drawing/2014/main" id="{9FE90E3F-804E-DADD-D344-BB018DEE5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690" y="4787592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329" name="Text Box 39">
            <a:extLst>
              <a:ext uri="{FF2B5EF4-FFF2-40B4-BE49-F238E27FC236}">
                <a16:creationId xmlns:a16="http://schemas.microsoft.com/office/drawing/2014/main" id="{EF2988C8-52EA-1F98-B9C8-691C34C58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628" y="1071253"/>
            <a:ext cx="86421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omic Sans MS" panose="030F0902030302020204" pitchFamily="66" charset="0"/>
              </a:rPr>
              <a:t>Spanning tree with minimum weight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0EB18B6-6A33-4D59-8B99-EC8A2B29BB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304800"/>
            <a:ext cx="8664497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Prim’s Algorithm For Finding MST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E6A4F8B-4BCA-8767-E1A1-BA59085AA6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5326" y="1152293"/>
            <a:ext cx="8787161" cy="3821151"/>
          </a:xfrm>
        </p:spPr>
        <p:txBody>
          <a:bodyPr>
            <a:normAutofit lnSpcReduction="10000"/>
          </a:bodyPr>
          <a:lstStyle/>
          <a:p>
            <a:pPr marL="533400" indent="-533400" eaLnBrk="1" hangingPunct="1">
              <a:buFontTx/>
              <a:buAutoNum type="arabicPeriod"/>
            </a:pPr>
            <a:r>
              <a:rPr lang="en-US" altLang="en-US" sz="2400" dirty="0"/>
              <a:t>All nodes are unselected, mark node v selected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sz="2400" dirty="0"/>
              <a:t>For each node of graph,</a:t>
            </a:r>
          </a:p>
          <a:p>
            <a:pPr marL="533400" indent="-533400" eaLnBrk="1" hangingPunct="1">
              <a:buFont typeface="Wingdings" pitchFamily="2" charset="2"/>
              <a:buNone/>
            </a:pPr>
            <a:r>
              <a:rPr lang="en-US" altLang="en-US" sz="2400" dirty="0"/>
              <a:t>     {</a:t>
            </a:r>
          </a:p>
          <a:p>
            <a:pPr marL="533400" indent="-533400" eaLnBrk="1" hangingPunct="1">
              <a:buFont typeface="Wingdings" pitchFamily="2" charset="2"/>
              <a:buNone/>
            </a:pPr>
            <a:r>
              <a:rPr lang="en-US" altLang="en-US" sz="2400" dirty="0"/>
              <a:t>	Find the edge with minimum weight that connects an unselected node with a selected node</a:t>
            </a:r>
          </a:p>
          <a:p>
            <a:pPr marL="533400" indent="-533400" eaLnBrk="1" hangingPunct="1">
              <a:buFont typeface="Wingdings" pitchFamily="2" charset="2"/>
              <a:buNone/>
            </a:pPr>
            <a:endParaRPr lang="en-US" altLang="en-US" sz="800" dirty="0"/>
          </a:p>
          <a:p>
            <a:pPr marL="533400" indent="-533400" eaLnBrk="1" hangingPunct="1">
              <a:buFont typeface="Wingdings" pitchFamily="2" charset="2"/>
              <a:buNone/>
            </a:pPr>
            <a:r>
              <a:rPr lang="en-US" altLang="en-US" sz="2400" dirty="0"/>
              <a:t>	Mark this unselected node as selected</a:t>
            </a:r>
          </a:p>
          <a:p>
            <a:pPr marL="533400" indent="-533400" eaLnBrk="1" hangingPunct="1">
              <a:buFont typeface="Wingdings" pitchFamily="2" charset="2"/>
              <a:buNone/>
            </a:pPr>
            <a:r>
              <a:rPr lang="en-US" altLang="en-US" sz="2400" dirty="0"/>
              <a:t>    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8532A4A-2CCD-529D-819D-9972F490CC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1873" y="152400"/>
            <a:ext cx="8697951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Example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3D4D85A-D5A6-BCBF-4D15-D2001E4A0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1347" y="1082598"/>
            <a:ext cx="7772400" cy="533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Find the MST of the following graph</a:t>
            </a:r>
          </a:p>
        </p:txBody>
      </p:sp>
      <p:sp>
        <p:nvSpPr>
          <p:cNvPr id="15364" name="Oval 4">
            <a:extLst>
              <a:ext uri="{FF2B5EF4-FFF2-40B4-BE49-F238E27FC236}">
                <a16:creationId xmlns:a16="http://schemas.microsoft.com/office/drawing/2014/main" id="{C4827B80-E001-EF5F-FA69-C55E18DD8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953" y="1784196"/>
            <a:ext cx="533400" cy="53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5365" name="Oval 5">
            <a:extLst>
              <a:ext uri="{FF2B5EF4-FFF2-40B4-BE49-F238E27FC236}">
                <a16:creationId xmlns:a16="http://schemas.microsoft.com/office/drawing/2014/main" id="{E03582B3-4E9C-1BDC-8A57-5578C6D01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753" y="3612996"/>
            <a:ext cx="533400" cy="53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5366" name="Oval 6">
            <a:extLst>
              <a:ext uri="{FF2B5EF4-FFF2-40B4-BE49-F238E27FC236}">
                <a16:creationId xmlns:a16="http://schemas.microsoft.com/office/drawing/2014/main" id="{4C4E3180-0968-933F-E7E7-4F3753420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53" y="5136996"/>
            <a:ext cx="533400" cy="53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5367" name="Oval 7">
            <a:extLst>
              <a:ext uri="{FF2B5EF4-FFF2-40B4-BE49-F238E27FC236}">
                <a16:creationId xmlns:a16="http://schemas.microsoft.com/office/drawing/2014/main" id="{51D8BD43-7894-975F-2348-9F597905D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353" y="3231996"/>
            <a:ext cx="533400" cy="53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5368" name="Line 8">
            <a:extLst>
              <a:ext uri="{FF2B5EF4-FFF2-40B4-BE49-F238E27FC236}">
                <a16:creationId xmlns:a16="http://schemas.microsoft.com/office/drawing/2014/main" id="{95A22B08-6C25-A6C8-E040-81C9A1A45B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7753" y="2241396"/>
            <a:ext cx="914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9" name="Line 9">
            <a:extLst>
              <a:ext uri="{FF2B5EF4-FFF2-40B4-BE49-F238E27FC236}">
                <a16:creationId xmlns:a16="http://schemas.microsoft.com/office/drawing/2014/main" id="{0A221641-8560-CAFA-9D7C-F9EA359280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3953" y="4070196"/>
            <a:ext cx="1295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Line 10">
            <a:extLst>
              <a:ext uri="{FF2B5EF4-FFF2-40B4-BE49-F238E27FC236}">
                <a16:creationId xmlns:a16="http://schemas.microsoft.com/office/drawing/2014/main" id="{F4293646-DFA4-E1F1-4765-7347CD1579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9353" y="2165196"/>
            <a:ext cx="1600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1" name="Line 11">
            <a:extLst>
              <a:ext uri="{FF2B5EF4-FFF2-40B4-BE49-F238E27FC236}">
                <a16:creationId xmlns:a16="http://schemas.microsoft.com/office/drawing/2014/main" id="{67D2987B-3C39-E55E-6D34-933A7DFB08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40353" y="3689196"/>
            <a:ext cx="1219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2" name="Line 12">
            <a:extLst>
              <a:ext uri="{FF2B5EF4-FFF2-40B4-BE49-F238E27FC236}">
                <a16:creationId xmlns:a16="http://schemas.microsoft.com/office/drawing/2014/main" id="{E735B693-C04B-2ADD-F4A1-30A95F9B3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0753" y="2317596"/>
            <a:ext cx="381000" cy="281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3" name="Rectangle 13">
            <a:extLst>
              <a:ext uri="{FF2B5EF4-FFF2-40B4-BE49-F238E27FC236}">
                <a16:creationId xmlns:a16="http://schemas.microsoft.com/office/drawing/2014/main" id="{30E1FC09-CC4D-8C8B-04D6-EFAF0F4F9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53" y="2698596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374" name="Rectangle 14">
            <a:extLst>
              <a:ext uri="{FF2B5EF4-FFF2-40B4-BE49-F238E27FC236}">
                <a16:creationId xmlns:a16="http://schemas.microsoft.com/office/drawing/2014/main" id="{078A6D1B-07C8-C677-D3B6-2FD63DE8E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953" y="2393796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375" name="Rectangle 15">
            <a:extLst>
              <a:ext uri="{FF2B5EF4-FFF2-40B4-BE49-F238E27FC236}">
                <a16:creationId xmlns:a16="http://schemas.microsoft.com/office/drawing/2014/main" id="{38E0A391-2254-611A-AC4E-EDCF624C3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53" y="3231996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5376" name="Rectangle 16">
            <a:extLst>
              <a:ext uri="{FF2B5EF4-FFF2-40B4-BE49-F238E27FC236}">
                <a16:creationId xmlns:a16="http://schemas.microsoft.com/office/drawing/2014/main" id="{63279B2C-B7C6-A197-2758-B7A92F812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53" y="4451196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5377" name="Rectangle 17">
            <a:extLst>
              <a:ext uri="{FF2B5EF4-FFF2-40B4-BE49-F238E27FC236}">
                <a16:creationId xmlns:a16="http://schemas.microsoft.com/office/drawing/2014/main" id="{48A83929-243F-D5D3-6281-AE7772241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3753" y="4374996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5378" name="Line 18">
            <a:extLst>
              <a:ext uri="{FF2B5EF4-FFF2-40B4-BE49-F238E27FC236}">
                <a16:creationId xmlns:a16="http://schemas.microsoft.com/office/drawing/2014/main" id="{69F64EB4-6167-DAF8-01D3-9B195ECF79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9353" y="2165196"/>
            <a:ext cx="1600200" cy="1143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9" name="Line 19">
            <a:extLst>
              <a:ext uri="{FF2B5EF4-FFF2-40B4-BE49-F238E27FC236}">
                <a16:creationId xmlns:a16="http://schemas.microsoft.com/office/drawing/2014/main" id="{E7297D44-BC0B-B088-A192-6105A15FE0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7753" y="2241396"/>
            <a:ext cx="914400" cy="13716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0" name="Line 20">
            <a:extLst>
              <a:ext uri="{FF2B5EF4-FFF2-40B4-BE49-F238E27FC236}">
                <a16:creationId xmlns:a16="http://schemas.microsoft.com/office/drawing/2014/main" id="{A7D8E44C-06AA-E516-AD6F-68F7EE9E96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3953" y="4070196"/>
            <a:ext cx="1295400" cy="1143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6A220A7-962C-C6A3-EB26-D8AF577DF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478" y="152400"/>
            <a:ext cx="8653346" cy="784302"/>
          </a:xfrm>
        </p:spPr>
        <p:txBody>
          <a:bodyPr/>
          <a:lstStyle/>
          <a:p>
            <a:pPr eaLnBrk="1" hangingPunct="1"/>
            <a:r>
              <a:rPr lang="en-US" altLang="en-US" dirty="0"/>
              <a:t>Demos of Prim’s Algorithm 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5C3738E-F3D5-64C6-DD99-9F75FC9E77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6478" y="1079807"/>
            <a:ext cx="77724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Step 1: mark vertex </a:t>
            </a:r>
            <a:r>
              <a:rPr lang="en-US" altLang="en-US" sz="2400" dirty="0">
                <a:solidFill>
                  <a:srgbClr val="FF3300"/>
                </a:solidFill>
              </a:rPr>
              <a:t>A</a:t>
            </a:r>
            <a:r>
              <a:rPr lang="en-US" altLang="en-US" sz="2400" dirty="0"/>
              <a:t> as selected</a:t>
            </a:r>
          </a:p>
        </p:txBody>
      </p:sp>
      <p:sp>
        <p:nvSpPr>
          <p:cNvPr id="16388" name="Oval 4">
            <a:extLst>
              <a:ext uri="{FF2B5EF4-FFF2-40B4-BE49-F238E27FC236}">
                <a16:creationId xmlns:a16="http://schemas.microsoft.com/office/drawing/2014/main" id="{21F5CD1E-36E6-F20C-B344-B4B9D2AAC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362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>
            <a:extLst>
              <a:ext uri="{FF2B5EF4-FFF2-40B4-BE49-F238E27FC236}">
                <a16:creationId xmlns:a16="http://schemas.microsoft.com/office/drawing/2014/main" id="{F5862520-53E6-DD00-4627-FF8C816934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176" y="1077952"/>
            <a:ext cx="3962400" cy="250344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Step 2: find the minimum weighted edge connected to vertex A, and mark the other vertex on this edge as selected.</a:t>
            </a:r>
          </a:p>
        </p:txBody>
      </p:sp>
      <p:sp>
        <p:nvSpPr>
          <p:cNvPr id="17412" name="Oval 4">
            <a:extLst>
              <a:ext uri="{FF2B5EF4-FFF2-40B4-BE49-F238E27FC236}">
                <a16:creationId xmlns:a16="http://schemas.microsoft.com/office/drawing/2014/main" id="{953BAFC5-280E-17B7-26F1-6DD05FB2B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1336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7413" name="Oval 7">
            <a:extLst>
              <a:ext uri="{FF2B5EF4-FFF2-40B4-BE49-F238E27FC236}">
                <a16:creationId xmlns:a16="http://schemas.microsoft.com/office/drawing/2014/main" id="{4999DA39-2EA2-F6B7-EB32-B506F5FAB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581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7414" name="Line 10">
            <a:extLst>
              <a:ext uri="{FF2B5EF4-FFF2-40B4-BE49-F238E27FC236}">
                <a16:creationId xmlns:a16="http://schemas.microsoft.com/office/drawing/2014/main" id="{46CC3C57-B003-3D24-CD60-52C6187C9E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14600"/>
            <a:ext cx="1600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5" name="Rectangle 14">
            <a:extLst>
              <a:ext uri="{FF2B5EF4-FFF2-40B4-BE49-F238E27FC236}">
                <a16:creationId xmlns:a16="http://schemas.microsoft.com/office/drawing/2014/main" id="{A541122E-107A-32D3-42E6-5F2AD0E2E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7432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416" name="Line 18">
            <a:extLst>
              <a:ext uri="{FF2B5EF4-FFF2-40B4-BE49-F238E27FC236}">
                <a16:creationId xmlns:a16="http://schemas.microsoft.com/office/drawing/2014/main" id="{9ED08482-5910-AED3-97D6-3FD8E4C60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14600"/>
            <a:ext cx="1600200" cy="1143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D44E074-1239-2B91-551A-35C069C78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478" y="152400"/>
            <a:ext cx="8653346" cy="784302"/>
          </a:xfrm>
        </p:spPr>
        <p:txBody>
          <a:bodyPr/>
          <a:lstStyle/>
          <a:p>
            <a:pPr eaLnBrk="1" hangingPunct="1"/>
            <a:r>
              <a:rPr lang="en-US" altLang="en-US" dirty="0"/>
              <a:t>Demos of Prim’s Algorithm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852F9DBA-47D9-9A87-0E0E-D567CE3F3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6478" y="1098396"/>
            <a:ext cx="44196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Step 3: find the minimum weighted edge connected to vertices set { A, D } , and mark the other vertex on this edge as selected.</a:t>
            </a:r>
          </a:p>
        </p:txBody>
      </p:sp>
      <p:sp>
        <p:nvSpPr>
          <p:cNvPr id="18436" name="Oval 4">
            <a:extLst>
              <a:ext uri="{FF2B5EF4-FFF2-40B4-BE49-F238E27FC236}">
                <a16:creationId xmlns:a16="http://schemas.microsoft.com/office/drawing/2014/main" id="{1A3CB4ED-782C-451C-A7AD-0828F5F35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676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8437" name="Oval 5">
            <a:extLst>
              <a:ext uri="{FF2B5EF4-FFF2-40B4-BE49-F238E27FC236}">
                <a16:creationId xmlns:a16="http://schemas.microsoft.com/office/drawing/2014/main" id="{5B0BFDE8-C50C-2426-01DC-184232366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505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8438" name="Oval 7">
            <a:extLst>
              <a:ext uri="{FF2B5EF4-FFF2-40B4-BE49-F238E27FC236}">
                <a16:creationId xmlns:a16="http://schemas.microsoft.com/office/drawing/2014/main" id="{59E5A6B1-9D40-D3AE-9AD6-3C6730584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124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8439" name="Line 8">
            <a:extLst>
              <a:ext uri="{FF2B5EF4-FFF2-40B4-BE49-F238E27FC236}">
                <a16:creationId xmlns:a16="http://schemas.microsoft.com/office/drawing/2014/main" id="{CEE7DB4E-3161-B7E4-55F8-3B6E1D6325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2133600"/>
            <a:ext cx="914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0" name="Line 10">
            <a:extLst>
              <a:ext uri="{FF2B5EF4-FFF2-40B4-BE49-F238E27FC236}">
                <a16:creationId xmlns:a16="http://schemas.microsoft.com/office/drawing/2014/main" id="{0776A308-4CCE-455A-FEA1-64579F6D4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057400"/>
            <a:ext cx="1600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1" name="Rectangle 13">
            <a:extLst>
              <a:ext uri="{FF2B5EF4-FFF2-40B4-BE49-F238E27FC236}">
                <a16:creationId xmlns:a16="http://schemas.microsoft.com/office/drawing/2014/main" id="{DF853A49-A8E3-E381-B32E-7AD1C2B69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5908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8442" name="Rectangle 14">
            <a:extLst>
              <a:ext uri="{FF2B5EF4-FFF2-40B4-BE49-F238E27FC236}">
                <a16:creationId xmlns:a16="http://schemas.microsoft.com/office/drawing/2014/main" id="{7D345A58-66DF-EEFB-890D-3FA6D0CC3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2860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43" name="Line 18">
            <a:extLst>
              <a:ext uri="{FF2B5EF4-FFF2-40B4-BE49-F238E27FC236}">
                <a16:creationId xmlns:a16="http://schemas.microsoft.com/office/drawing/2014/main" id="{15352E58-E791-1FFA-468C-C36699A934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057400"/>
            <a:ext cx="1600200" cy="1143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19">
            <a:extLst>
              <a:ext uri="{FF2B5EF4-FFF2-40B4-BE49-F238E27FC236}">
                <a16:creationId xmlns:a16="http://schemas.microsoft.com/office/drawing/2014/main" id="{AFC1AA42-2FE2-B078-52BB-F9431DC284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2133600"/>
            <a:ext cx="914400" cy="1371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2D53DD-E55A-FD6B-E313-A50DADFE6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478" y="152400"/>
            <a:ext cx="8653346" cy="784302"/>
          </a:xfrm>
        </p:spPr>
        <p:txBody>
          <a:bodyPr/>
          <a:lstStyle/>
          <a:p>
            <a:pPr eaLnBrk="1" hangingPunct="1"/>
            <a:r>
              <a:rPr lang="en-US" altLang="en-US" dirty="0"/>
              <a:t>Demos of Prim’s Algorithm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0C7C81E5-B027-7FCD-8782-A37DFF4A3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6478" y="1093749"/>
            <a:ext cx="4191000" cy="4343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Step 4: find the minimum weighted edge connected to vertices set { A, D, B} , and mark the other vertex on this edge as selected.</a:t>
            </a:r>
          </a:p>
          <a:p>
            <a:pPr eaLnBrk="1" hangingPunct="1"/>
            <a:endParaRPr lang="en-US" altLang="en-US" sz="2400" dirty="0"/>
          </a:p>
        </p:txBody>
      </p:sp>
      <p:sp>
        <p:nvSpPr>
          <p:cNvPr id="19460" name="Oval 4">
            <a:extLst>
              <a:ext uri="{FF2B5EF4-FFF2-40B4-BE49-F238E27FC236}">
                <a16:creationId xmlns:a16="http://schemas.microsoft.com/office/drawing/2014/main" id="{64382165-4E8C-F84A-11CB-8563AA368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7526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9461" name="Oval 5">
            <a:extLst>
              <a:ext uri="{FF2B5EF4-FFF2-40B4-BE49-F238E27FC236}">
                <a16:creationId xmlns:a16="http://schemas.microsoft.com/office/drawing/2014/main" id="{1F19A72F-A5A8-1C38-0AA0-1D472CB12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581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9462" name="Oval 6">
            <a:extLst>
              <a:ext uri="{FF2B5EF4-FFF2-40B4-BE49-F238E27FC236}">
                <a16:creationId xmlns:a16="http://schemas.microsoft.com/office/drawing/2014/main" id="{EB5439C1-848B-AB8A-EDBD-EBE1BB5C0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105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9463" name="Oval 7">
            <a:extLst>
              <a:ext uri="{FF2B5EF4-FFF2-40B4-BE49-F238E27FC236}">
                <a16:creationId xmlns:a16="http://schemas.microsoft.com/office/drawing/2014/main" id="{F56F4B74-706B-9663-0D2B-605EE3EF3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200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9464" name="Line 8">
            <a:extLst>
              <a:ext uri="{FF2B5EF4-FFF2-40B4-BE49-F238E27FC236}">
                <a16:creationId xmlns:a16="http://schemas.microsoft.com/office/drawing/2014/main" id="{67259A46-AFC8-F5ED-FAD5-DE49634A54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2209800"/>
            <a:ext cx="914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5" name="Line 9">
            <a:extLst>
              <a:ext uri="{FF2B5EF4-FFF2-40B4-BE49-F238E27FC236}">
                <a16:creationId xmlns:a16="http://schemas.microsoft.com/office/drawing/2014/main" id="{EF6218EF-8A89-F53A-F047-BCC179AF5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038600"/>
            <a:ext cx="1295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Line 10">
            <a:extLst>
              <a:ext uri="{FF2B5EF4-FFF2-40B4-BE49-F238E27FC236}">
                <a16:creationId xmlns:a16="http://schemas.microsoft.com/office/drawing/2014/main" id="{15D0A0D6-C227-987F-29F4-24463B46C4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133600"/>
            <a:ext cx="1600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Rectangle 13">
            <a:extLst>
              <a:ext uri="{FF2B5EF4-FFF2-40B4-BE49-F238E27FC236}">
                <a16:creationId xmlns:a16="http://schemas.microsoft.com/office/drawing/2014/main" id="{57B3666A-05D7-ED2A-BDF4-190B40146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6670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9468" name="Rectangle 14">
            <a:extLst>
              <a:ext uri="{FF2B5EF4-FFF2-40B4-BE49-F238E27FC236}">
                <a16:creationId xmlns:a16="http://schemas.microsoft.com/office/drawing/2014/main" id="{087A1C36-7D55-92CD-A890-5AA9F10FA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3622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9469" name="Rectangle 16">
            <a:extLst>
              <a:ext uri="{FF2B5EF4-FFF2-40B4-BE49-F238E27FC236}">
                <a16:creationId xmlns:a16="http://schemas.microsoft.com/office/drawing/2014/main" id="{41A3FA9D-C8B0-05B7-7937-7F6C9CB7B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4196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9470" name="Line 18">
            <a:extLst>
              <a:ext uri="{FF2B5EF4-FFF2-40B4-BE49-F238E27FC236}">
                <a16:creationId xmlns:a16="http://schemas.microsoft.com/office/drawing/2014/main" id="{4EF66308-4DE4-A2A8-1B0C-5F3653451B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133600"/>
            <a:ext cx="1600200" cy="1143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1" name="Line 19">
            <a:extLst>
              <a:ext uri="{FF2B5EF4-FFF2-40B4-BE49-F238E27FC236}">
                <a16:creationId xmlns:a16="http://schemas.microsoft.com/office/drawing/2014/main" id="{37CD89D0-C68E-FDBE-017F-F1F2FAACF4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2209800"/>
            <a:ext cx="914400" cy="1371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2" name="Line 20">
            <a:extLst>
              <a:ext uri="{FF2B5EF4-FFF2-40B4-BE49-F238E27FC236}">
                <a16:creationId xmlns:a16="http://schemas.microsoft.com/office/drawing/2014/main" id="{BAF6A75F-EC2E-31A6-CA21-9E39FD9A5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038600"/>
            <a:ext cx="1295400" cy="1143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2A897B-09E8-7EEC-55F8-F8A5A2C4C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478" y="152400"/>
            <a:ext cx="8653346" cy="784302"/>
          </a:xfrm>
        </p:spPr>
        <p:txBody>
          <a:bodyPr/>
          <a:lstStyle/>
          <a:p>
            <a:pPr eaLnBrk="1" hangingPunct="1"/>
            <a:r>
              <a:rPr lang="en-US" altLang="en-US" dirty="0"/>
              <a:t>Demos of Prim’s Algorithm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21380D9A-B3FA-8782-BC8A-F61B358DBB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6477" y="1071447"/>
            <a:ext cx="8653345" cy="990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Step 5: All vertex are marked as selected, So we find the minimum spanning tree</a:t>
            </a:r>
          </a:p>
        </p:txBody>
      </p:sp>
      <p:sp>
        <p:nvSpPr>
          <p:cNvPr id="20484" name="Oval 4">
            <a:extLst>
              <a:ext uri="{FF2B5EF4-FFF2-40B4-BE49-F238E27FC236}">
                <a16:creationId xmlns:a16="http://schemas.microsoft.com/office/drawing/2014/main" id="{7BDE21EF-F80C-1B52-72C5-F885FBA05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5146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0485" name="Oval 5">
            <a:extLst>
              <a:ext uri="{FF2B5EF4-FFF2-40B4-BE49-F238E27FC236}">
                <a16:creationId xmlns:a16="http://schemas.microsoft.com/office/drawing/2014/main" id="{7EB91AE0-D8AD-7207-D6F6-344782625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343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0486" name="Oval 6">
            <a:extLst>
              <a:ext uri="{FF2B5EF4-FFF2-40B4-BE49-F238E27FC236}">
                <a16:creationId xmlns:a16="http://schemas.microsoft.com/office/drawing/2014/main" id="{C1D4E82D-7CB9-8E87-7FB6-09D0DFE93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867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0487" name="Oval 7">
            <a:extLst>
              <a:ext uri="{FF2B5EF4-FFF2-40B4-BE49-F238E27FC236}">
                <a16:creationId xmlns:a16="http://schemas.microsoft.com/office/drawing/2014/main" id="{BFE2D0F6-A089-EA50-0C20-A40698B1E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962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0488" name="Line 8">
            <a:extLst>
              <a:ext uri="{FF2B5EF4-FFF2-40B4-BE49-F238E27FC236}">
                <a16:creationId xmlns:a16="http://schemas.microsoft.com/office/drawing/2014/main" id="{2124D2FE-4332-7271-0E85-C1C35FAA58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2971800"/>
            <a:ext cx="914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Line 9">
            <a:extLst>
              <a:ext uri="{FF2B5EF4-FFF2-40B4-BE49-F238E27FC236}">
                <a16:creationId xmlns:a16="http://schemas.microsoft.com/office/drawing/2014/main" id="{000B89F8-0628-FBBC-0847-948A2AF9D7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1295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Line 10">
            <a:extLst>
              <a:ext uri="{FF2B5EF4-FFF2-40B4-BE49-F238E27FC236}">
                <a16:creationId xmlns:a16="http://schemas.microsoft.com/office/drawing/2014/main" id="{ACE885B7-A8D0-67DA-7449-87AA7F7AA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895600"/>
            <a:ext cx="1600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Rectangle 13">
            <a:extLst>
              <a:ext uri="{FF2B5EF4-FFF2-40B4-BE49-F238E27FC236}">
                <a16:creationId xmlns:a16="http://schemas.microsoft.com/office/drawing/2014/main" id="{FA3DBF0C-61FE-38F2-01E3-C09FDBBD1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4290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492" name="Rectangle 14">
            <a:extLst>
              <a:ext uri="{FF2B5EF4-FFF2-40B4-BE49-F238E27FC236}">
                <a16:creationId xmlns:a16="http://schemas.microsoft.com/office/drawing/2014/main" id="{BCCAF9FE-8C54-A51C-4250-71BC87C79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1242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493" name="Rectangle 16">
            <a:extLst>
              <a:ext uri="{FF2B5EF4-FFF2-40B4-BE49-F238E27FC236}">
                <a16:creationId xmlns:a16="http://schemas.microsoft.com/office/drawing/2014/main" id="{70C4F409-1081-7B90-4812-B56999D15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1816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0494" name="Line 18">
            <a:extLst>
              <a:ext uri="{FF2B5EF4-FFF2-40B4-BE49-F238E27FC236}">
                <a16:creationId xmlns:a16="http://schemas.microsoft.com/office/drawing/2014/main" id="{C65E4F63-6A64-B0C3-B942-36D86CC6A0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895600"/>
            <a:ext cx="1600200" cy="1143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5" name="Line 19">
            <a:extLst>
              <a:ext uri="{FF2B5EF4-FFF2-40B4-BE49-F238E27FC236}">
                <a16:creationId xmlns:a16="http://schemas.microsoft.com/office/drawing/2014/main" id="{E2DB1C7B-B92D-A978-68B7-1BADFA8BEF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2971800"/>
            <a:ext cx="914400" cy="1371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6" name="Line 20">
            <a:extLst>
              <a:ext uri="{FF2B5EF4-FFF2-40B4-BE49-F238E27FC236}">
                <a16:creationId xmlns:a16="http://schemas.microsoft.com/office/drawing/2014/main" id="{FDC4939F-2EA7-5A04-D86C-887019B75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1295400" cy="1143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40F3488-2F9C-89D3-62DD-6F8F75C85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478" y="152400"/>
            <a:ext cx="8653346" cy="784302"/>
          </a:xfrm>
        </p:spPr>
        <p:txBody>
          <a:bodyPr/>
          <a:lstStyle/>
          <a:p>
            <a:pPr eaLnBrk="1" hangingPunct="1"/>
            <a:r>
              <a:rPr lang="en-US" altLang="en-US" dirty="0"/>
              <a:t>Demos of Prim’s Algorithm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F5EBE21-AE58-8726-C141-FBDAB90B7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Pseudo code for Prim’s Alg.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1A21455-3C90-4405-7BE3-D450420C0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599" y="1064396"/>
            <a:ext cx="8686800" cy="528064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Minimum-Spanning-Tree-by-Prim (G, weight-function, source)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marL="448056" lvl="1" indent="0" eaLnBrk="1" hangingPunct="1">
              <a:lnSpc>
                <a:spcPct val="90000"/>
              </a:lnSpc>
              <a:buNone/>
            </a:pPr>
            <a:r>
              <a:rPr lang="en-US" altLang="en-US" sz="2000" b="1" dirty="0"/>
              <a:t>for each</a:t>
            </a:r>
            <a:r>
              <a:rPr lang="en-US" altLang="en-US" sz="2000" dirty="0"/>
              <a:t> vertex </a:t>
            </a:r>
            <a:r>
              <a:rPr lang="en-US" altLang="en-US" sz="2000" i="1" dirty="0"/>
              <a:t>u</a:t>
            </a:r>
            <a:r>
              <a:rPr lang="en-US" altLang="en-US" sz="2000" dirty="0"/>
              <a:t> </a:t>
            </a:r>
            <a:r>
              <a:rPr lang="en-US" altLang="en-US" sz="2000" b="1" dirty="0"/>
              <a:t>in</a:t>
            </a:r>
            <a:r>
              <a:rPr lang="en-US" altLang="en-US" sz="2000" dirty="0"/>
              <a:t> graph </a:t>
            </a:r>
            <a:r>
              <a:rPr lang="en-US" altLang="en-US" sz="2000" b="1" dirty="0"/>
              <a:t>G</a:t>
            </a:r>
            <a:r>
              <a:rPr lang="en-US" altLang="en-US" sz="2000" dirty="0"/>
              <a:t> </a:t>
            </a:r>
          </a:p>
          <a:p>
            <a:pPr marL="996696" lvl="4" indent="0">
              <a:lnSpc>
                <a:spcPct val="90000"/>
              </a:lnSpc>
              <a:buNone/>
            </a:pPr>
            <a:r>
              <a:rPr lang="en-US" altLang="en-US" sz="1600" b="1" dirty="0"/>
              <a:t>     set</a:t>
            </a:r>
            <a:r>
              <a:rPr lang="en-US" altLang="en-US" sz="1600" dirty="0"/>
              <a:t> key </a:t>
            </a:r>
            <a:r>
              <a:rPr lang="en-US" altLang="en-US" sz="1600" b="1" dirty="0"/>
              <a:t>of</a:t>
            </a:r>
            <a:r>
              <a:rPr lang="en-US" altLang="en-US" sz="1600" dirty="0"/>
              <a:t> </a:t>
            </a:r>
            <a:r>
              <a:rPr lang="en-US" altLang="en-US" sz="1600" i="1" dirty="0"/>
              <a:t>u</a:t>
            </a:r>
            <a:r>
              <a:rPr lang="en-US" altLang="en-US" sz="1600" dirty="0"/>
              <a:t> </a:t>
            </a:r>
            <a:r>
              <a:rPr lang="en-US" altLang="en-US" sz="1600" b="1" dirty="0"/>
              <a:t>to</a:t>
            </a:r>
            <a:r>
              <a:rPr lang="en-US" altLang="en-US" sz="1600" dirty="0"/>
              <a:t> ∞ </a:t>
            </a:r>
          </a:p>
          <a:p>
            <a:pPr marL="996696" lvl="4" indent="0">
              <a:lnSpc>
                <a:spcPct val="90000"/>
              </a:lnSpc>
              <a:buNone/>
            </a:pPr>
            <a:r>
              <a:rPr lang="en-US" altLang="en-US" sz="1600" dirty="0"/>
              <a:t>     s</a:t>
            </a:r>
            <a:r>
              <a:rPr lang="en-US" altLang="en-US" sz="1600" b="1" dirty="0"/>
              <a:t>et</a:t>
            </a:r>
            <a:r>
              <a:rPr lang="en-US" altLang="en-US" sz="1600" dirty="0"/>
              <a:t> parent </a:t>
            </a:r>
            <a:r>
              <a:rPr lang="en-US" altLang="en-US" sz="1600" b="1" dirty="0"/>
              <a:t>of</a:t>
            </a:r>
            <a:r>
              <a:rPr lang="en-US" altLang="en-US" sz="1600" dirty="0"/>
              <a:t> </a:t>
            </a:r>
            <a:r>
              <a:rPr lang="en-US" altLang="en-US" sz="1600" i="1" dirty="0"/>
              <a:t>u</a:t>
            </a:r>
            <a:r>
              <a:rPr lang="en-US" altLang="en-US" sz="1600" dirty="0"/>
              <a:t> </a:t>
            </a:r>
            <a:r>
              <a:rPr lang="en-US" altLang="en-US" sz="1600" b="1" dirty="0"/>
              <a:t>to</a:t>
            </a:r>
            <a:r>
              <a:rPr lang="en-US" altLang="en-US" sz="1600" dirty="0"/>
              <a:t> </a:t>
            </a:r>
            <a:r>
              <a:rPr lang="en-US" altLang="en-US" sz="1600" i="1" dirty="0"/>
              <a:t>nil</a:t>
            </a:r>
            <a:r>
              <a:rPr lang="en-US" altLang="en-US" sz="1600" dirty="0"/>
              <a:t> </a:t>
            </a:r>
          </a:p>
          <a:p>
            <a:pPr marL="448056" lvl="1" indent="0" eaLnBrk="1" hangingPunct="1">
              <a:lnSpc>
                <a:spcPct val="90000"/>
              </a:lnSpc>
              <a:buNone/>
            </a:pPr>
            <a:r>
              <a:rPr lang="en-US" altLang="en-US" sz="2000" b="1" dirty="0"/>
              <a:t>set</a:t>
            </a:r>
            <a:r>
              <a:rPr lang="en-US" altLang="en-US" sz="2000" dirty="0"/>
              <a:t> key </a:t>
            </a:r>
            <a:r>
              <a:rPr lang="en-US" altLang="en-US" sz="2000" b="1" dirty="0"/>
              <a:t>of</a:t>
            </a:r>
            <a:r>
              <a:rPr lang="en-US" altLang="en-US" sz="2000" dirty="0"/>
              <a:t> source vertex </a:t>
            </a:r>
            <a:r>
              <a:rPr lang="en-US" altLang="en-US" sz="2000" b="1" dirty="0"/>
              <a:t>to</a:t>
            </a:r>
            <a:r>
              <a:rPr lang="en-US" altLang="en-US" sz="2000" dirty="0"/>
              <a:t> </a:t>
            </a:r>
            <a:r>
              <a:rPr lang="en-US" altLang="en-US" sz="2000" i="1" dirty="0"/>
              <a:t>zero</a:t>
            </a:r>
            <a:r>
              <a:rPr lang="en-US" altLang="en-US" sz="2000" dirty="0"/>
              <a:t> </a:t>
            </a:r>
          </a:p>
          <a:p>
            <a:pPr marL="448056" lvl="1" indent="0" eaLnBrk="1" hangingPunct="1">
              <a:lnSpc>
                <a:spcPct val="90000"/>
              </a:lnSpc>
              <a:buNone/>
            </a:pPr>
            <a:r>
              <a:rPr lang="en-US" altLang="en-US" sz="2000" b="1" dirty="0"/>
              <a:t>enqueue all vertices to</a:t>
            </a:r>
            <a:r>
              <a:rPr lang="en-US" altLang="en-US" sz="2000" dirty="0"/>
              <a:t> </a:t>
            </a:r>
            <a:r>
              <a:rPr lang="en-US" altLang="en-US" sz="2000" b="1" dirty="0"/>
              <a:t>Q</a:t>
            </a:r>
            <a:endParaRPr lang="en-US" altLang="en-US" sz="2000" dirty="0"/>
          </a:p>
          <a:p>
            <a:pPr marL="448056" lvl="1" indent="0" eaLnBrk="1" hangingPunct="1">
              <a:lnSpc>
                <a:spcPct val="90000"/>
              </a:lnSpc>
              <a:buNone/>
            </a:pPr>
            <a:r>
              <a:rPr lang="en-US" altLang="en-US" sz="2000" b="1" dirty="0"/>
              <a:t>while</a:t>
            </a:r>
            <a:r>
              <a:rPr lang="en-US" altLang="en-US" sz="2000" dirty="0"/>
              <a:t> </a:t>
            </a:r>
            <a:r>
              <a:rPr lang="en-US" altLang="en-US" sz="2000" b="1" dirty="0"/>
              <a:t>Q</a:t>
            </a:r>
            <a:r>
              <a:rPr lang="en-US" altLang="en-US" sz="2000" dirty="0"/>
              <a:t> is not </a:t>
            </a:r>
            <a:r>
              <a:rPr lang="en-US" altLang="en-US" sz="2000" i="1" dirty="0"/>
              <a:t>empty</a:t>
            </a:r>
            <a:r>
              <a:rPr lang="en-US" altLang="en-US" sz="2000" dirty="0"/>
              <a:t> </a:t>
            </a:r>
          </a:p>
          <a:p>
            <a:pPr marL="905256" lvl="2" indent="0" eaLnBrk="1" hangingPunct="1">
              <a:lnSpc>
                <a:spcPct val="90000"/>
              </a:lnSpc>
              <a:buNone/>
            </a:pPr>
            <a:r>
              <a:rPr lang="en-US" altLang="en-US" sz="1600" b="1" dirty="0"/>
              <a:t>extract</a:t>
            </a:r>
            <a:r>
              <a:rPr lang="en-US" altLang="en-US" sz="1600" dirty="0"/>
              <a:t> vertex </a:t>
            </a:r>
            <a:r>
              <a:rPr lang="en-US" altLang="en-US" sz="1600" i="1" dirty="0"/>
              <a:t>u</a:t>
            </a:r>
            <a:r>
              <a:rPr lang="en-US" altLang="en-US" sz="1600" dirty="0"/>
              <a:t> from </a:t>
            </a:r>
            <a:r>
              <a:rPr lang="en-US" altLang="en-US" sz="1600" b="1" dirty="0"/>
              <a:t>Q</a:t>
            </a:r>
            <a:r>
              <a:rPr lang="en-US" altLang="en-US" sz="1600" dirty="0"/>
              <a:t>  </a:t>
            </a:r>
            <a:r>
              <a:rPr lang="en-US" altLang="en-US" sz="1600" i="1" dirty="0">
                <a:solidFill>
                  <a:schemeClr val="accent6">
                    <a:lumMod val="75000"/>
                  </a:schemeClr>
                </a:solidFill>
              </a:rPr>
              <a:t>// u is the vertex with the lowest key that is in Q</a:t>
            </a:r>
            <a:r>
              <a:rPr lang="en-US" altLang="en-US" sz="16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marL="905256" lvl="2" indent="0" eaLnBrk="1" hangingPunct="1">
              <a:lnSpc>
                <a:spcPct val="90000"/>
              </a:lnSpc>
              <a:buNone/>
            </a:pPr>
            <a:r>
              <a:rPr lang="en-US" altLang="en-US" sz="1600" b="1" dirty="0"/>
              <a:t>for each</a:t>
            </a:r>
            <a:r>
              <a:rPr lang="en-US" altLang="en-US" sz="1600" dirty="0"/>
              <a:t> adjacent vertex </a:t>
            </a:r>
            <a:r>
              <a:rPr lang="en-US" altLang="en-US" sz="1600" i="1" dirty="0"/>
              <a:t>v</a:t>
            </a:r>
            <a:r>
              <a:rPr lang="en-US" altLang="en-US" sz="1600" dirty="0"/>
              <a:t> </a:t>
            </a:r>
            <a:r>
              <a:rPr lang="en-US" altLang="en-US" sz="1600" b="1" dirty="0"/>
              <a:t>of</a:t>
            </a:r>
            <a:r>
              <a:rPr lang="en-US" altLang="en-US" sz="1600" dirty="0"/>
              <a:t> </a:t>
            </a:r>
            <a:r>
              <a:rPr lang="en-US" altLang="en-US" sz="1600" i="1" dirty="0"/>
              <a:t>u</a:t>
            </a:r>
            <a:r>
              <a:rPr lang="en-US" altLang="en-US" sz="1600" dirty="0"/>
              <a:t> </a:t>
            </a:r>
            <a:r>
              <a:rPr lang="en-US" altLang="en-US" sz="1600" b="1" dirty="0"/>
              <a:t>do</a:t>
            </a:r>
            <a:r>
              <a:rPr lang="en-US" altLang="en-US" sz="1600" dirty="0"/>
              <a:t> </a:t>
            </a:r>
          </a:p>
          <a:p>
            <a:pPr marL="1545336" lvl="4" indent="0">
              <a:lnSpc>
                <a:spcPct val="90000"/>
              </a:lnSpc>
              <a:buNone/>
            </a:pPr>
            <a:r>
              <a:rPr lang="en-US" altLang="en-US" sz="1600" b="1" dirty="0"/>
              <a:t>if</a:t>
            </a:r>
            <a:r>
              <a:rPr lang="en-US" altLang="en-US" sz="1600" dirty="0"/>
              <a:t> (</a:t>
            </a:r>
            <a:r>
              <a:rPr lang="en-US" altLang="en-US" sz="1600" i="1" dirty="0"/>
              <a:t>v</a:t>
            </a:r>
            <a:r>
              <a:rPr lang="en-US" altLang="en-US" sz="1600" dirty="0"/>
              <a:t> is </a:t>
            </a:r>
            <a:r>
              <a:rPr lang="en-US" altLang="en-US" sz="1600" i="1" dirty="0"/>
              <a:t>still</a:t>
            </a:r>
            <a:r>
              <a:rPr lang="en-US" altLang="en-US" sz="1600" dirty="0"/>
              <a:t> in </a:t>
            </a:r>
            <a:r>
              <a:rPr lang="en-US" altLang="en-US" sz="1600" b="1" dirty="0"/>
              <a:t>Q</a:t>
            </a:r>
            <a:r>
              <a:rPr lang="en-US" altLang="en-US" sz="1600" dirty="0"/>
              <a:t>) and (weight-function(u, v) &lt; key of </a:t>
            </a:r>
            <a:r>
              <a:rPr lang="en-US" altLang="en-US" sz="1600" i="1" dirty="0"/>
              <a:t>v</a:t>
            </a:r>
            <a:r>
              <a:rPr lang="en-US" altLang="en-US" sz="1600" dirty="0"/>
              <a:t>) </a:t>
            </a:r>
            <a:r>
              <a:rPr lang="en-US" altLang="en-US" sz="1600" b="1" dirty="0"/>
              <a:t>then</a:t>
            </a:r>
            <a:r>
              <a:rPr lang="en-US" altLang="en-US" sz="1600" dirty="0"/>
              <a:t> </a:t>
            </a:r>
          </a:p>
          <a:p>
            <a:pPr marL="1545336" lvl="4" indent="0">
              <a:lnSpc>
                <a:spcPct val="90000"/>
              </a:lnSpc>
              <a:buNone/>
            </a:pPr>
            <a:r>
              <a:rPr lang="en-US" altLang="en-US" sz="1600" b="1" dirty="0"/>
              <a:t>	   set</a:t>
            </a:r>
            <a:r>
              <a:rPr lang="en-US" altLang="en-US" sz="1600" dirty="0"/>
              <a:t> </a:t>
            </a:r>
            <a:r>
              <a:rPr lang="en-US" altLang="en-US" sz="1600" i="1" dirty="0"/>
              <a:t>u</a:t>
            </a:r>
            <a:r>
              <a:rPr lang="en-US" altLang="en-US" sz="1600" dirty="0"/>
              <a:t> </a:t>
            </a:r>
            <a:r>
              <a:rPr lang="en-US" altLang="en-US" sz="1600" b="1" dirty="0"/>
              <a:t>to</a:t>
            </a:r>
            <a:r>
              <a:rPr lang="en-US" altLang="en-US" sz="1600" dirty="0"/>
              <a:t> be parent </a:t>
            </a:r>
            <a:r>
              <a:rPr lang="en-US" altLang="en-US" sz="1600" b="1" dirty="0"/>
              <a:t>of</a:t>
            </a:r>
            <a:r>
              <a:rPr lang="en-US" altLang="en-US" sz="1600" dirty="0"/>
              <a:t> </a:t>
            </a:r>
            <a:r>
              <a:rPr lang="en-US" altLang="en-US" sz="1600" i="1" dirty="0"/>
              <a:t>v</a:t>
            </a:r>
            <a:r>
              <a:rPr lang="en-US" altLang="en-US" sz="1600" dirty="0"/>
              <a:t>    </a:t>
            </a:r>
            <a:r>
              <a:rPr lang="en-US" altLang="en-US" sz="1600" i="1" dirty="0">
                <a:solidFill>
                  <a:schemeClr val="accent6">
                    <a:lumMod val="75000"/>
                  </a:schemeClr>
                </a:solidFill>
              </a:rPr>
              <a:t>// in minimum-spanning-tree</a:t>
            </a:r>
            <a:r>
              <a:rPr lang="en-US" altLang="en-US" sz="16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marL="1545336" lvl="4" indent="0">
              <a:lnSpc>
                <a:spcPct val="90000"/>
              </a:lnSpc>
              <a:buNone/>
            </a:pPr>
            <a:r>
              <a:rPr lang="en-US" altLang="en-US" sz="1600" dirty="0"/>
              <a:t>	   update </a:t>
            </a:r>
            <a:r>
              <a:rPr lang="en-US" altLang="en-US" sz="1600" i="1" dirty="0"/>
              <a:t>v'</a:t>
            </a:r>
            <a:r>
              <a:rPr lang="en-US" altLang="en-US" sz="1600" dirty="0"/>
              <a:t>s key to equal weight-function(u, v) 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2EE85C3-B6AF-E7C9-7EA2-A7BDB5790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023" y="278780"/>
            <a:ext cx="8709103" cy="669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Kruskal’s Algorithm For Finding MST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1017636-B81B-B274-FDD7-C489962625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023" y="1063084"/>
            <a:ext cx="8709102" cy="5638800"/>
          </a:xfrm>
        </p:spPr>
        <p:txBody>
          <a:bodyPr>
            <a:normAutofit/>
          </a:bodyPr>
          <a:lstStyle/>
          <a:p>
            <a:pPr marL="533400" indent="-533400" eaLnBrk="1" hangingPunct="1">
              <a:spcAft>
                <a:spcPts val="0"/>
              </a:spcAft>
              <a:buFontTx/>
              <a:buAutoNum type="arabicPeriod"/>
            </a:pPr>
            <a:r>
              <a:rPr lang="en-US" altLang="en-US" sz="2400" dirty="0"/>
              <a:t>All edges are unselected </a:t>
            </a:r>
          </a:p>
          <a:p>
            <a:pPr marL="533400" indent="-533400" eaLnBrk="1" hangingPunct="1">
              <a:spcAft>
                <a:spcPts val="0"/>
              </a:spcAft>
              <a:buFontTx/>
              <a:buAutoNum type="arabicPeriod"/>
            </a:pPr>
            <a:r>
              <a:rPr lang="en-US" altLang="en-US" sz="2400" dirty="0"/>
              <a:t>Sort all edges and store them in set S</a:t>
            </a:r>
          </a:p>
          <a:p>
            <a:pPr marL="533400" indent="-533400" eaLnBrk="1" hangingPunct="1">
              <a:spcAft>
                <a:spcPts val="0"/>
              </a:spcAft>
              <a:buFontTx/>
              <a:buAutoNum type="arabicPeriod"/>
            </a:pPr>
            <a:r>
              <a:rPr lang="en-US" altLang="en-US" sz="2400" dirty="0"/>
              <a:t>For each edge in S</a:t>
            </a:r>
          </a:p>
          <a:p>
            <a:pPr marL="533400" indent="-533400" eaLnBrk="1" hangingPunct="1">
              <a:spcAft>
                <a:spcPts val="0"/>
              </a:spcAft>
              <a:buFont typeface="Wingdings" pitchFamily="2" charset="2"/>
              <a:buNone/>
            </a:pPr>
            <a:r>
              <a:rPr lang="en-US" altLang="en-US" sz="2400" dirty="0"/>
              <a:t>     {</a:t>
            </a:r>
          </a:p>
          <a:p>
            <a:pPr marL="533400" indent="-533400" eaLnBrk="1" hangingPunct="1">
              <a:spcAft>
                <a:spcPts val="0"/>
              </a:spcAft>
              <a:buFont typeface="Wingdings" pitchFamily="2" charset="2"/>
              <a:buNone/>
            </a:pPr>
            <a:r>
              <a:rPr lang="en-US" altLang="en-US" sz="2400" dirty="0"/>
              <a:t>	If adding the edge to MST does not form a 	circle, add this edge to MST;</a:t>
            </a:r>
          </a:p>
          <a:p>
            <a:pPr marL="533400" indent="-533400" eaLnBrk="1" hangingPunct="1">
              <a:spcAft>
                <a:spcPts val="0"/>
              </a:spcAft>
              <a:buFont typeface="Wingdings" pitchFamily="2" charset="2"/>
              <a:buNone/>
            </a:pPr>
            <a:r>
              <a:rPr lang="en-US" altLang="en-US" sz="2400" dirty="0"/>
              <a:t>      Delete this edge from S;</a:t>
            </a:r>
            <a:endParaRPr lang="en-US" altLang="en-US" sz="900" dirty="0"/>
          </a:p>
          <a:p>
            <a:pPr marL="533400" indent="-533400" eaLnBrk="1" hangingPunct="1">
              <a:spcAft>
                <a:spcPts val="0"/>
              </a:spcAft>
              <a:buFont typeface="Wingdings" pitchFamily="2" charset="2"/>
              <a:buNone/>
            </a:pPr>
            <a:r>
              <a:rPr lang="en-US" altLang="en-US" sz="2400" dirty="0"/>
              <a:t>	If |edges in MST|=|nodes in graph|-1, exit;</a:t>
            </a:r>
          </a:p>
          <a:p>
            <a:pPr marL="533400" indent="-533400" eaLnBrk="1" hangingPunct="1">
              <a:spcAft>
                <a:spcPts val="0"/>
              </a:spcAft>
              <a:buFont typeface="Wingdings" pitchFamily="2" charset="2"/>
              <a:buNone/>
            </a:pPr>
            <a:r>
              <a:rPr lang="en-US" altLang="en-US" sz="2400" dirty="0"/>
              <a:t>    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8CEA045-6348-09F2-C983-8822C8890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382000" cy="1143000"/>
          </a:xfrm>
        </p:spPr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F300FF9-381C-AE92-55DD-552485340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052" y="1066800"/>
            <a:ext cx="8577147" cy="533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Find the MST of the following graph</a:t>
            </a:r>
          </a:p>
        </p:txBody>
      </p:sp>
      <p:sp>
        <p:nvSpPr>
          <p:cNvPr id="23556" name="Oval 4">
            <a:extLst>
              <a:ext uri="{FF2B5EF4-FFF2-40B4-BE49-F238E27FC236}">
                <a16:creationId xmlns:a16="http://schemas.microsoft.com/office/drawing/2014/main" id="{C58F2D0A-CFB7-EC50-C222-D68B12A98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161" y="1644804"/>
            <a:ext cx="533400" cy="53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3557" name="Oval 5">
            <a:extLst>
              <a:ext uri="{FF2B5EF4-FFF2-40B4-BE49-F238E27FC236}">
                <a16:creationId xmlns:a16="http://schemas.microsoft.com/office/drawing/2014/main" id="{2095B6CD-8055-2774-D554-36357C1E6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961" y="3473604"/>
            <a:ext cx="533400" cy="53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3558" name="Oval 6">
            <a:extLst>
              <a:ext uri="{FF2B5EF4-FFF2-40B4-BE49-F238E27FC236}">
                <a16:creationId xmlns:a16="http://schemas.microsoft.com/office/drawing/2014/main" id="{230BD6B7-D138-B411-3B1F-DD63BC692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361" y="4997604"/>
            <a:ext cx="533400" cy="53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3559" name="Oval 7">
            <a:extLst>
              <a:ext uri="{FF2B5EF4-FFF2-40B4-BE49-F238E27FC236}">
                <a16:creationId xmlns:a16="http://schemas.microsoft.com/office/drawing/2014/main" id="{4BA1538E-31CF-4A7B-118F-B66B11983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2561" y="3092604"/>
            <a:ext cx="533400" cy="53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3560" name="Line 8">
            <a:extLst>
              <a:ext uri="{FF2B5EF4-FFF2-40B4-BE49-F238E27FC236}">
                <a16:creationId xmlns:a16="http://schemas.microsoft.com/office/drawing/2014/main" id="{97751795-50CC-2DDA-5550-36AB7B21B3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76961" y="2102004"/>
            <a:ext cx="914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1" name="Line 9">
            <a:extLst>
              <a:ext uri="{FF2B5EF4-FFF2-40B4-BE49-F238E27FC236}">
                <a16:creationId xmlns:a16="http://schemas.microsoft.com/office/drawing/2014/main" id="{66E7E33C-2901-013D-14F2-B32360003A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3161" y="3930804"/>
            <a:ext cx="1295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2" name="Line 10">
            <a:extLst>
              <a:ext uri="{FF2B5EF4-FFF2-40B4-BE49-F238E27FC236}">
                <a16:creationId xmlns:a16="http://schemas.microsoft.com/office/drawing/2014/main" id="{C723864E-DE32-B73A-C5AF-182F536F2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8561" y="2025804"/>
            <a:ext cx="1600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3" name="Line 11">
            <a:extLst>
              <a:ext uri="{FF2B5EF4-FFF2-40B4-BE49-F238E27FC236}">
                <a16:creationId xmlns:a16="http://schemas.microsoft.com/office/drawing/2014/main" id="{1EC541C6-E97E-0987-8A50-04551C5F3F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9561" y="3549804"/>
            <a:ext cx="1219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4" name="Line 12">
            <a:extLst>
              <a:ext uri="{FF2B5EF4-FFF2-40B4-BE49-F238E27FC236}">
                <a16:creationId xmlns:a16="http://schemas.microsoft.com/office/drawing/2014/main" id="{300514DA-EBDA-F2FF-58D1-B0D05270EF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9961" y="2178204"/>
            <a:ext cx="381000" cy="281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5" name="Rectangle 13">
            <a:extLst>
              <a:ext uri="{FF2B5EF4-FFF2-40B4-BE49-F238E27FC236}">
                <a16:creationId xmlns:a16="http://schemas.microsoft.com/office/drawing/2014/main" id="{EC811E0D-330F-EB11-154E-007671367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561" y="2559204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3566" name="Rectangle 14">
            <a:extLst>
              <a:ext uri="{FF2B5EF4-FFF2-40B4-BE49-F238E27FC236}">
                <a16:creationId xmlns:a16="http://schemas.microsoft.com/office/drawing/2014/main" id="{C966800F-F36E-E09D-CD81-30DC34567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161" y="2254404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567" name="Rectangle 15">
            <a:extLst>
              <a:ext uri="{FF2B5EF4-FFF2-40B4-BE49-F238E27FC236}">
                <a16:creationId xmlns:a16="http://schemas.microsoft.com/office/drawing/2014/main" id="{AB966D0F-89FD-3C0D-94F5-7B4FD8C38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6161" y="3092604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3568" name="Rectangle 16">
            <a:extLst>
              <a:ext uri="{FF2B5EF4-FFF2-40B4-BE49-F238E27FC236}">
                <a16:creationId xmlns:a16="http://schemas.microsoft.com/office/drawing/2014/main" id="{C0B8E465-5F84-2C2D-6CCE-C6E04430E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361" y="4311804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3569" name="Rectangle 17">
            <a:extLst>
              <a:ext uri="{FF2B5EF4-FFF2-40B4-BE49-F238E27FC236}">
                <a16:creationId xmlns:a16="http://schemas.microsoft.com/office/drawing/2014/main" id="{69477186-C12E-EF68-BDFC-998E60D13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961" y="4235604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3570" name="Line 18">
            <a:extLst>
              <a:ext uri="{FF2B5EF4-FFF2-40B4-BE49-F238E27FC236}">
                <a16:creationId xmlns:a16="http://schemas.microsoft.com/office/drawing/2014/main" id="{82120987-8F6E-6ADD-03A1-A6A3AF03E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8561" y="2025804"/>
            <a:ext cx="1600200" cy="1143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1" name="Line 19">
            <a:extLst>
              <a:ext uri="{FF2B5EF4-FFF2-40B4-BE49-F238E27FC236}">
                <a16:creationId xmlns:a16="http://schemas.microsoft.com/office/drawing/2014/main" id="{C9B84363-F19C-FC68-0911-0777496C49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76961" y="2102004"/>
            <a:ext cx="914400" cy="13716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2" name="Line 20">
            <a:extLst>
              <a:ext uri="{FF2B5EF4-FFF2-40B4-BE49-F238E27FC236}">
                <a16:creationId xmlns:a16="http://schemas.microsoft.com/office/drawing/2014/main" id="{D44C9145-CB0B-E8B6-4CE7-8ABBF3C29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3161" y="3930804"/>
            <a:ext cx="1295400" cy="1143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52D7412-8AC7-903F-0153-25546A59B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76" y="152400"/>
            <a:ext cx="8675648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Demos of Kruskal’s Algorithm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D718155-1ACF-9544-D50A-3AB3FEAD56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175" y="1154113"/>
            <a:ext cx="8675647" cy="560387"/>
          </a:xfrm>
        </p:spPr>
        <p:txBody>
          <a:bodyPr/>
          <a:lstStyle/>
          <a:p>
            <a:pPr eaLnBrk="1" hangingPunct="1"/>
            <a:r>
              <a:rPr lang="en-US" altLang="en-US" dirty="0"/>
              <a:t>Step 1: Initialize S and empty MST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8A4D4368-4DF3-C189-536C-A5DAF6AB3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361" y="1907420"/>
            <a:ext cx="3481388" cy="80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S={(A,D)=1, (B,C=)2, (C,D)=6, (A,B)=7, (A,C)=10 }</a:t>
            </a:r>
          </a:p>
        </p:txBody>
      </p:sp>
      <p:sp>
        <p:nvSpPr>
          <p:cNvPr id="24581" name="Oval 4">
            <a:extLst>
              <a:ext uri="{FF2B5EF4-FFF2-40B4-BE49-F238E27FC236}">
                <a16:creationId xmlns:a16="http://schemas.microsoft.com/office/drawing/2014/main" id="{0AE3F8CD-C379-7271-0996-5E8A834D3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308225"/>
            <a:ext cx="533400" cy="53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4582" name="Oval 5">
            <a:extLst>
              <a:ext uri="{FF2B5EF4-FFF2-40B4-BE49-F238E27FC236}">
                <a16:creationId xmlns:a16="http://schemas.microsoft.com/office/drawing/2014/main" id="{4C488ECC-9DDA-154E-F13E-E518C4653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137025"/>
            <a:ext cx="533400" cy="53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4583" name="Oval 6">
            <a:extLst>
              <a:ext uri="{FF2B5EF4-FFF2-40B4-BE49-F238E27FC236}">
                <a16:creationId xmlns:a16="http://schemas.microsoft.com/office/drawing/2014/main" id="{E115BECA-38F3-BB81-3216-067D8EF9F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661025"/>
            <a:ext cx="533400" cy="53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4584" name="Oval 7">
            <a:extLst>
              <a:ext uri="{FF2B5EF4-FFF2-40B4-BE49-F238E27FC236}">
                <a16:creationId xmlns:a16="http://schemas.microsoft.com/office/drawing/2014/main" id="{D32E414B-0AE3-52D5-D119-3EA5A29CC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756025"/>
            <a:ext cx="533400" cy="53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BFE6D8E-544F-B977-2327-92084A55B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382000" cy="1143000"/>
          </a:xfrm>
        </p:spPr>
        <p:txBody>
          <a:bodyPr/>
          <a:lstStyle/>
          <a:p>
            <a:pPr eaLnBrk="1" hangingPunct="1"/>
            <a:r>
              <a:rPr lang="en-US" altLang="en-US"/>
              <a:t>Demos of Kruskal’s Algorithm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3278F43-00AD-F82D-FE00-C291D1793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1347" y="1110688"/>
            <a:ext cx="8683082" cy="88423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Step 2: Add AD to MST, and delete it edge from S.</a:t>
            </a:r>
          </a:p>
        </p:txBody>
      </p:sp>
      <p:sp>
        <p:nvSpPr>
          <p:cNvPr id="25604" name="Oval 4">
            <a:extLst>
              <a:ext uri="{FF2B5EF4-FFF2-40B4-BE49-F238E27FC236}">
                <a16:creationId xmlns:a16="http://schemas.microsoft.com/office/drawing/2014/main" id="{B7A603B7-4B49-C499-84A7-E5AF81B0A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1336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5605" name="Oval 7">
            <a:extLst>
              <a:ext uri="{FF2B5EF4-FFF2-40B4-BE49-F238E27FC236}">
                <a16:creationId xmlns:a16="http://schemas.microsoft.com/office/drawing/2014/main" id="{EFE9A215-CBAF-2B4B-FA29-A9A4745AF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581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5606" name="Line 10">
            <a:extLst>
              <a:ext uri="{FF2B5EF4-FFF2-40B4-BE49-F238E27FC236}">
                <a16:creationId xmlns:a16="http://schemas.microsoft.com/office/drawing/2014/main" id="{79F7C00E-3E86-27C8-1DC7-BA13F85FC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14600"/>
            <a:ext cx="1600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7" name="Rectangle 14">
            <a:extLst>
              <a:ext uri="{FF2B5EF4-FFF2-40B4-BE49-F238E27FC236}">
                <a16:creationId xmlns:a16="http://schemas.microsoft.com/office/drawing/2014/main" id="{6E301AE2-2715-356B-106A-D0A474079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7432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5608" name="Line 18">
            <a:extLst>
              <a:ext uri="{FF2B5EF4-FFF2-40B4-BE49-F238E27FC236}">
                <a16:creationId xmlns:a16="http://schemas.microsoft.com/office/drawing/2014/main" id="{DE7B8B77-E649-B871-2BDA-8F7219AAC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14600"/>
            <a:ext cx="1600200" cy="1143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9" name="Rectangle 3">
            <a:extLst>
              <a:ext uri="{FF2B5EF4-FFF2-40B4-BE49-F238E27FC236}">
                <a16:creationId xmlns:a16="http://schemas.microsoft.com/office/drawing/2014/main" id="{59BC5C49-DADE-08A0-8862-8FEA6456A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01" y="1740161"/>
            <a:ext cx="3482975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S={(B,C=)2, (C,D)=6, (A,B)=7, (A,C)=10 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FB76BD5-DAF9-25EF-590F-B4338C1638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954" y="152400"/>
            <a:ext cx="8665446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Demos of Kruskal’s Algorithm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FAAA859C-C5BC-45C1-C897-C9B3F5DDEB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9954" y="1100253"/>
            <a:ext cx="8665446" cy="533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Step 3: Add BC to MST, and delete it from S.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BF81216E-C0E9-421C-F19B-93A610373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3" y="1601129"/>
            <a:ext cx="402748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S={(C,D)=6, (A,B)=7, (A,C)=10 }</a:t>
            </a:r>
          </a:p>
        </p:txBody>
      </p:sp>
      <p:sp>
        <p:nvSpPr>
          <p:cNvPr id="26629" name="Oval 4">
            <a:extLst>
              <a:ext uri="{FF2B5EF4-FFF2-40B4-BE49-F238E27FC236}">
                <a16:creationId xmlns:a16="http://schemas.microsoft.com/office/drawing/2014/main" id="{A76830E3-24E9-72B6-09E7-5C3B07CF2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7526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6630" name="Oval 5">
            <a:extLst>
              <a:ext uri="{FF2B5EF4-FFF2-40B4-BE49-F238E27FC236}">
                <a16:creationId xmlns:a16="http://schemas.microsoft.com/office/drawing/2014/main" id="{F50C310C-F241-27DA-60A0-E4F83D11A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581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6631" name="Oval 6">
            <a:extLst>
              <a:ext uri="{FF2B5EF4-FFF2-40B4-BE49-F238E27FC236}">
                <a16:creationId xmlns:a16="http://schemas.microsoft.com/office/drawing/2014/main" id="{282F47BE-15D3-8F2A-3596-50AAC9CCA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105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6632" name="Oval 7">
            <a:extLst>
              <a:ext uri="{FF2B5EF4-FFF2-40B4-BE49-F238E27FC236}">
                <a16:creationId xmlns:a16="http://schemas.microsoft.com/office/drawing/2014/main" id="{C0AB12AA-4724-3683-C776-5492089B8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200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6633" name="Line 9">
            <a:extLst>
              <a:ext uri="{FF2B5EF4-FFF2-40B4-BE49-F238E27FC236}">
                <a16:creationId xmlns:a16="http://schemas.microsoft.com/office/drawing/2014/main" id="{7898C9E0-CAE4-147B-612B-537280CD74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4038600"/>
            <a:ext cx="1295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4" name="Line 10">
            <a:extLst>
              <a:ext uri="{FF2B5EF4-FFF2-40B4-BE49-F238E27FC236}">
                <a16:creationId xmlns:a16="http://schemas.microsoft.com/office/drawing/2014/main" id="{95341805-B295-24B1-4FD0-BD1B32FB12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133600"/>
            <a:ext cx="1600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5" name="Rectangle 14">
            <a:extLst>
              <a:ext uri="{FF2B5EF4-FFF2-40B4-BE49-F238E27FC236}">
                <a16:creationId xmlns:a16="http://schemas.microsoft.com/office/drawing/2014/main" id="{6A0D1AA7-8632-973D-F64A-99AD3A576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3622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36" name="Rectangle 16">
            <a:extLst>
              <a:ext uri="{FF2B5EF4-FFF2-40B4-BE49-F238E27FC236}">
                <a16:creationId xmlns:a16="http://schemas.microsoft.com/office/drawing/2014/main" id="{0A5A69AC-91B9-F4AF-EE28-981774F6C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4196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37" name="Line 18">
            <a:extLst>
              <a:ext uri="{FF2B5EF4-FFF2-40B4-BE49-F238E27FC236}">
                <a16:creationId xmlns:a16="http://schemas.microsoft.com/office/drawing/2014/main" id="{6553A5BD-DE6A-724B-AAD6-28C7C005DE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133600"/>
            <a:ext cx="1600200" cy="1143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8" name="Line 20">
            <a:extLst>
              <a:ext uri="{FF2B5EF4-FFF2-40B4-BE49-F238E27FC236}">
                <a16:creationId xmlns:a16="http://schemas.microsoft.com/office/drawing/2014/main" id="{01E1E6E7-4CEA-2212-FFC9-E5627C249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4038600"/>
            <a:ext cx="1295400" cy="1143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DA45630-5B00-482C-BAE1-D24E6E02D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751" y="152400"/>
            <a:ext cx="8703527" cy="800100"/>
          </a:xfrm>
        </p:spPr>
        <p:txBody>
          <a:bodyPr/>
          <a:lstStyle/>
          <a:p>
            <a:pPr eaLnBrk="1" hangingPunct="1"/>
            <a:r>
              <a:rPr lang="en-US" altLang="en-US" dirty="0"/>
              <a:t>Demos of Kruskal’s Algorithm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B878F81-E3D7-E189-D92E-12B2F1152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51" y="1066800"/>
            <a:ext cx="8703527" cy="457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Step 4: Add CD to MST, and delete it from S</a:t>
            </a:r>
          </a:p>
        </p:txBody>
      </p:sp>
      <p:sp>
        <p:nvSpPr>
          <p:cNvPr id="27652" name="Oval 4">
            <a:extLst>
              <a:ext uri="{FF2B5EF4-FFF2-40B4-BE49-F238E27FC236}">
                <a16:creationId xmlns:a16="http://schemas.microsoft.com/office/drawing/2014/main" id="{49CF7E2A-2A86-3B13-AF3E-E34F4B6B9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7526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7653" name="Oval 5">
            <a:extLst>
              <a:ext uri="{FF2B5EF4-FFF2-40B4-BE49-F238E27FC236}">
                <a16:creationId xmlns:a16="http://schemas.microsoft.com/office/drawing/2014/main" id="{E69DA73A-2CD2-E00E-8447-F89C2B02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581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7654" name="Oval 6">
            <a:extLst>
              <a:ext uri="{FF2B5EF4-FFF2-40B4-BE49-F238E27FC236}">
                <a16:creationId xmlns:a16="http://schemas.microsoft.com/office/drawing/2014/main" id="{7AA612E0-9DB8-9026-71F7-153B0906C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105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7655" name="Oval 7">
            <a:extLst>
              <a:ext uri="{FF2B5EF4-FFF2-40B4-BE49-F238E27FC236}">
                <a16:creationId xmlns:a16="http://schemas.microsoft.com/office/drawing/2014/main" id="{523750AA-3EDD-C498-5C9F-3D67D281C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200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7656" name="Line 9">
            <a:extLst>
              <a:ext uri="{FF2B5EF4-FFF2-40B4-BE49-F238E27FC236}">
                <a16:creationId xmlns:a16="http://schemas.microsoft.com/office/drawing/2014/main" id="{BF60921B-FD46-6E15-A59E-8B7624F4D3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038600"/>
            <a:ext cx="1295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7" name="Line 10">
            <a:extLst>
              <a:ext uri="{FF2B5EF4-FFF2-40B4-BE49-F238E27FC236}">
                <a16:creationId xmlns:a16="http://schemas.microsoft.com/office/drawing/2014/main" id="{1BA59715-338D-52B4-BDB7-61167358A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133600"/>
            <a:ext cx="1600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8" name="Rectangle 14">
            <a:extLst>
              <a:ext uri="{FF2B5EF4-FFF2-40B4-BE49-F238E27FC236}">
                <a16:creationId xmlns:a16="http://schemas.microsoft.com/office/drawing/2014/main" id="{209C7F68-5106-A85F-2FF2-C4D14C382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3622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659" name="Rectangle 16">
            <a:extLst>
              <a:ext uri="{FF2B5EF4-FFF2-40B4-BE49-F238E27FC236}">
                <a16:creationId xmlns:a16="http://schemas.microsoft.com/office/drawing/2014/main" id="{B8A2A2FC-26A8-36FD-81F2-83702F944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4196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7660" name="Line 18">
            <a:extLst>
              <a:ext uri="{FF2B5EF4-FFF2-40B4-BE49-F238E27FC236}">
                <a16:creationId xmlns:a16="http://schemas.microsoft.com/office/drawing/2014/main" id="{71A6C352-3E56-9DC4-8947-5282A35DF5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133600"/>
            <a:ext cx="1600200" cy="1143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1" name="Line 20">
            <a:extLst>
              <a:ext uri="{FF2B5EF4-FFF2-40B4-BE49-F238E27FC236}">
                <a16:creationId xmlns:a16="http://schemas.microsoft.com/office/drawing/2014/main" id="{7CC3FF93-19EC-F3F4-B1AA-FF535AB96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038600"/>
            <a:ext cx="1295400" cy="1143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2" name="Rectangle 3">
            <a:extLst>
              <a:ext uri="{FF2B5EF4-FFF2-40B4-BE49-F238E27FC236}">
                <a16:creationId xmlns:a16="http://schemas.microsoft.com/office/drawing/2014/main" id="{08599F65-92D3-B5FF-26CE-45FE02C7A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38300"/>
            <a:ext cx="34829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S={(A,B)=7, (A,C)=10}</a:t>
            </a:r>
          </a:p>
        </p:txBody>
      </p:sp>
      <p:sp>
        <p:nvSpPr>
          <p:cNvPr id="27663" name="Line 18">
            <a:extLst>
              <a:ext uri="{FF2B5EF4-FFF2-40B4-BE49-F238E27FC236}">
                <a16:creationId xmlns:a16="http://schemas.microsoft.com/office/drawing/2014/main" id="{8472169A-FAF4-C3C6-FA0F-9DD2CCE41E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657600"/>
            <a:ext cx="1295400" cy="1524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4" name="Rectangle 16">
            <a:extLst>
              <a:ext uri="{FF2B5EF4-FFF2-40B4-BE49-F238E27FC236}">
                <a16:creationId xmlns:a16="http://schemas.microsoft.com/office/drawing/2014/main" id="{93A005B6-D19E-9D2D-D5BC-3C6D01053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3434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2BE44B6-B235-6F5B-43FE-FF6C1D6BE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045" y="152400"/>
            <a:ext cx="8683082" cy="806605"/>
          </a:xfrm>
        </p:spPr>
        <p:txBody>
          <a:bodyPr/>
          <a:lstStyle/>
          <a:p>
            <a:pPr eaLnBrk="1" hangingPunct="1"/>
            <a:r>
              <a:rPr lang="en-US" altLang="en-US" dirty="0"/>
              <a:t>Demos of Kruskal’s Algorithm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E32F39F-B47D-34C5-E2B0-43471EBDD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9045" y="1089103"/>
            <a:ext cx="8683082" cy="990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Step 5: Satisfy the exiting condition, So we find the minimum spanning tree</a:t>
            </a:r>
          </a:p>
        </p:txBody>
      </p:sp>
      <p:sp>
        <p:nvSpPr>
          <p:cNvPr id="28676" name="Oval 4">
            <a:extLst>
              <a:ext uri="{FF2B5EF4-FFF2-40B4-BE49-F238E27FC236}">
                <a16:creationId xmlns:a16="http://schemas.microsoft.com/office/drawing/2014/main" id="{B1AE7546-780C-09D1-A12A-2635975F8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882697"/>
            <a:ext cx="533400" cy="505523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8677" name="Oval 5">
            <a:extLst>
              <a:ext uri="{FF2B5EF4-FFF2-40B4-BE49-F238E27FC236}">
                <a16:creationId xmlns:a16="http://schemas.microsoft.com/office/drawing/2014/main" id="{E7246E3C-D121-AB0E-A14A-965F1F8CB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11497"/>
            <a:ext cx="533400" cy="505523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8678" name="Oval 6">
            <a:extLst>
              <a:ext uri="{FF2B5EF4-FFF2-40B4-BE49-F238E27FC236}">
                <a16:creationId xmlns:a16="http://schemas.microsoft.com/office/drawing/2014/main" id="{B08F2DAE-69D4-8B4C-E476-B0C4D0C69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235497"/>
            <a:ext cx="533400" cy="505523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8679" name="Oval 7">
            <a:extLst>
              <a:ext uri="{FF2B5EF4-FFF2-40B4-BE49-F238E27FC236}">
                <a16:creationId xmlns:a16="http://schemas.microsoft.com/office/drawing/2014/main" id="{1FABEB58-EBD9-C7B5-7EED-3CD962B9D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330497"/>
            <a:ext cx="533400" cy="505523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8680" name="Line 9">
            <a:extLst>
              <a:ext uri="{FF2B5EF4-FFF2-40B4-BE49-F238E27FC236}">
                <a16:creationId xmlns:a16="http://schemas.microsoft.com/office/drawing/2014/main" id="{FAAE9665-1C9D-FD99-A887-1B5DB41E88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168697"/>
            <a:ext cx="1295400" cy="1083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1" name="Line 10">
            <a:extLst>
              <a:ext uri="{FF2B5EF4-FFF2-40B4-BE49-F238E27FC236}">
                <a16:creationId xmlns:a16="http://schemas.microsoft.com/office/drawing/2014/main" id="{5090FB9A-93C9-6CD1-264F-685DBDD26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263697"/>
            <a:ext cx="1600200" cy="1083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2" name="Rectangle 14">
            <a:extLst>
              <a:ext uri="{FF2B5EF4-FFF2-40B4-BE49-F238E27FC236}">
                <a16:creationId xmlns:a16="http://schemas.microsoft.com/office/drawing/2014/main" id="{BA904547-5457-67FA-D54D-CE18A2221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492297"/>
            <a:ext cx="609600" cy="36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683" name="Rectangle 16">
            <a:extLst>
              <a:ext uri="{FF2B5EF4-FFF2-40B4-BE49-F238E27FC236}">
                <a16:creationId xmlns:a16="http://schemas.microsoft.com/office/drawing/2014/main" id="{59C8229B-8FD5-1FA8-3F18-170ECAE64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549697"/>
            <a:ext cx="609600" cy="36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8684" name="Line 18">
            <a:extLst>
              <a:ext uri="{FF2B5EF4-FFF2-40B4-BE49-F238E27FC236}">
                <a16:creationId xmlns:a16="http://schemas.microsoft.com/office/drawing/2014/main" id="{1378A14D-34ED-4D3C-E981-2FC06F32A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263697"/>
            <a:ext cx="1600200" cy="1083264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5" name="Line 20">
            <a:extLst>
              <a:ext uri="{FF2B5EF4-FFF2-40B4-BE49-F238E27FC236}">
                <a16:creationId xmlns:a16="http://schemas.microsoft.com/office/drawing/2014/main" id="{6812ED05-4354-9BD6-1B22-32800BF7F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168697"/>
            <a:ext cx="1295400" cy="1083264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6" name="Line 18">
            <a:extLst>
              <a:ext uri="{FF2B5EF4-FFF2-40B4-BE49-F238E27FC236}">
                <a16:creationId xmlns:a16="http://schemas.microsoft.com/office/drawing/2014/main" id="{8C334878-1E8B-2A3F-CB77-9C200F8176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787697"/>
            <a:ext cx="1295400" cy="1444351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7" name="Rectangle 16">
            <a:extLst>
              <a:ext uri="{FF2B5EF4-FFF2-40B4-BE49-F238E27FC236}">
                <a16:creationId xmlns:a16="http://schemas.microsoft.com/office/drawing/2014/main" id="{BD0CBF2F-24EF-4F3C-D176-026F777D0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473497"/>
            <a:ext cx="609600" cy="36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0338560-0B05-8D9E-814D-D532EFCB1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Shortest Path Problem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401EBF4-4681-EC77-2D45-28CD74CF5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971" y="1096307"/>
            <a:ext cx="8229600" cy="431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Weight: cost, distance, travel time, hop …</a:t>
            </a:r>
          </a:p>
        </p:txBody>
      </p:sp>
      <p:sp>
        <p:nvSpPr>
          <p:cNvPr id="29700" name="Rectangle 28">
            <a:extLst>
              <a:ext uri="{FF2B5EF4-FFF2-40B4-BE49-F238E27FC236}">
                <a16:creationId xmlns:a16="http://schemas.microsoft.com/office/drawing/2014/main" id="{18ECD610-5C40-F724-8810-85DBB3A8A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960754"/>
            <a:ext cx="533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9702" name="Oval 4">
            <a:extLst>
              <a:ext uri="{FF2B5EF4-FFF2-40B4-BE49-F238E27FC236}">
                <a16:creationId xmlns:a16="http://schemas.microsoft.com/office/drawing/2014/main" id="{AA753BDF-1019-CFBA-8BA0-6CBF613F9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7671" y="1938452"/>
            <a:ext cx="481106" cy="476655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9703" name="Oval 5">
            <a:extLst>
              <a:ext uri="{FF2B5EF4-FFF2-40B4-BE49-F238E27FC236}">
                <a16:creationId xmlns:a16="http://schemas.microsoft.com/office/drawing/2014/main" id="{4A2FFFCB-DFB4-0170-0E33-5E57CE9D8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459" y="2687482"/>
            <a:ext cx="481106" cy="476655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9704" name="Oval 6">
            <a:extLst>
              <a:ext uri="{FF2B5EF4-FFF2-40B4-BE49-F238E27FC236}">
                <a16:creationId xmlns:a16="http://schemas.microsoft.com/office/drawing/2014/main" id="{E1993D3C-4CA7-C395-37A1-442B0AE09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459" y="3913167"/>
            <a:ext cx="481106" cy="476655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9705" name="Oval 7">
            <a:extLst>
              <a:ext uri="{FF2B5EF4-FFF2-40B4-BE49-F238E27FC236}">
                <a16:creationId xmlns:a16="http://schemas.microsoft.com/office/drawing/2014/main" id="{0818A3F6-6881-4E7B-1503-17BB987F8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0047" y="4662197"/>
            <a:ext cx="481106" cy="476655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9706" name="Oval 8">
            <a:extLst>
              <a:ext uri="{FF2B5EF4-FFF2-40B4-BE49-F238E27FC236}">
                <a16:creationId xmlns:a16="http://schemas.microsoft.com/office/drawing/2014/main" id="{892E9E21-4DAD-8945-DD50-2566F9D56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551295"/>
            <a:ext cx="481106" cy="476655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9707" name="Oval 9">
            <a:extLst>
              <a:ext uri="{FF2B5EF4-FFF2-40B4-BE49-F238E27FC236}">
                <a16:creationId xmlns:a16="http://schemas.microsoft.com/office/drawing/2014/main" id="{70EFEA9A-3194-3658-AFB8-9B1AFCE98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718" y="3776980"/>
            <a:ext cx="481106" cy="47665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9708" name="Line 10">
            <a:extLst>
              <a:ext uri="{FF2B5EF4-FFF2-40B4-BE49-F238E27FC236}">
                <a16:creationId xmlns:a16="http://schemas.microsoft.com/office/drawing/2014/main" id="{5CE89C82-3272-BA26-6DE4-9CD34B6F5E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66565" y="2347014"/>
            <a:ext cx="549835" cy="4766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9" name="Line 11">
            <a:extLst>
              <a:ext uri="{FF2B5EF4-FFF2-40B4-BE49-F238E27FC236}">
                <a16:creationId xmlns:a16="http://schemas.microsoft.com/office/drawing/2014/main" id="{B73BC022-DA27-F46C-EE15-B67970EBE0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1647" y="3164137"/>
            <a:ext cx="0" cy="7490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0" name="Line 12">
            <a:extLst>
              <a:ext uri="{FF2B5EF4-FFF2-40B4-BE49-F238E27FC236}">
                <a16:creationId xmlns:a16="http://schemas.microsoft.com/office/drawing/2014/main" id="{6EC60539-315C-C8A2-ADAB-BD728FFC8B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835" y="4321729"/>
            <a:ext cx="962212" cy="5447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1" name="Line 13">
            <a:extLst>
              <a:ext uri="{FF2B5EF4-FFF2-40B4-BE49-F238E27FC236}">
                <a16:creationId xmlns:a16="http://schemas.microsoft.com/office/drawing/2014/main" id="{73AB9942-4CE7-2B33-7CC4-E07DD0DBAC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72424" y="4185541"/>
            <a:ext cx="756024" cy="5447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2" name="Line 14">
            <a:extLst>
              <a:ext uri="{FF2B5EF4-FFF2-40B4-BE49-F238E27FC236}">
                <a16:creationId xmlns:a16="http://schemas.microsoft.com/office/drawing/2014/main" id="{7C50F400-6E17-6D55-7503-311B62FAA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8447" y="3027950"/>
            <a:ext cx="137459" cy="7490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3" name="Line 15">
            <a:extLst>
              <a:ext uri="{FF2B5EF4-FFF2-40B4-BE49-F238E27FC236}">
                <a16:creationId xmlns:a16="http://schemas.microsoft.com/office/drawing/2014/main" id="{86CF82E8-E2B6-422E-31FE-8D1067C0D7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8776" y="2278920"/>
            <a:ext cx="756024" cy="408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4" name="Line 16">
            <a:extLst>
              <a:ext uri="{FF2B5EF4-FFF2-40B4-BE49-F238E27FC236}">
                <a16:creationId xmlns:a16="http://schemas.microsoft.com/office/drawing/2014/main" id="{EAD309C7-EAA0-05AE-7DC4-123458C739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0047" y="2347014"/>
            <a:ext cx="1168400" cy="14980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5" name="Line 17">
            <a:extLst>
              <a:ext uri="{FF2B5EF4-FFF2-40B4-BE49-F238E27FC236}">
                <a16:creationId xmlns:a16="http://schemas.microsoft.com/office/drawing/2014/main" id="{6F6410C7-F46B-1953-E352-351FC37AF4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835" y="3096043"/>
            <a:ext cx="1030941" cy="16342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6" name="Line 18">
            <a:extLst>
              <a:ext uri="{FF2B5EF4-FFF2-40B4-BE49-F238E27FC236}">
                <a16:creationId xmlns:a16="http://schemas.microsoft.com/office/drawing/2014/main" id="{2612D90A-A866-727F-3A7B-3588DDA687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97835" y="2415107"/>
            <a:ext cx="756024" cy="15661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7" name="Rectangle 19">
            <a:extLst>
              <a:ext uri="{FF2B5EF4-FFF2-40B4-BE49-F238E27FC236}">
                <a16:creationId xmlns:a16="http://schemas.microsoft.com/office/drawing/2014/main" id="{C2E5F689-ADA7-D807-F1F0-A305A1EFC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4965" y="2891763"/>
            <a:ext cx="481106" cy="54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18" name="Rectangle 20">
            <a:extLst>
              <a:ext uri="{FF2B5EF4-FFF2-40B4-BE49-F238E27FC236}">
                <a16:creationId xmlns:a16="http://schemas.microsoft.com/office/drawing/2014/main" id="{115325DC-53DE-8A62-621D-87A19C243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294" y="2619388"/>
            <a:ext cx="481106" cy="54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9719" name="Rectangle 21">
            <a:extLst>
              <a:ext uri="{FF2B5EF4-FFF2-40B4-BE49-F238E27FC236}">
                <a16:creationId xmlns:a16="http://schemas.microsoft.com/office/drawing/2014/main" id="{0B801459-88C3-F16D-8D13-330E65E4D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835" y="2210826"/>
            <a:ext cx="481106" cy="54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20" name="Rectangle 22">
            <a:extLst>
              <a:ext uri="{FF2B5EF4-FFF2-40B4-BE49-F238E27FC236}">
                <a16:creationId xmlns:a16="http://schemas.microsoft.com/office/drawing/2014/main" id="{F5D7480E-5C68-4721-3950-1692B1469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694" y="2074639"/>
            <a:ext cx="481106" cy="54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9721" name="Rectangle 23">
            <a:extLst>
              <a:ext uri="{FF2B5EF4-FFF2-40B4-BE49-F238E27FC236}">
                <a16:creationId xmlns:a16="http://schemas.microsoft.com/office/drawing/2014/main" id="{CA13E21A-9A8E-75AD-D8FD-EB023E307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718" y="3096043"/>
            <a:ext cx="481106" cy="54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9722" name="Rectangle 24">
            <a:extLst>
              <a:ext uri="{FF2B5EF4-FFF2-40B4-BE49-F238E27FC236}">
                <a16:creationId xmlns:a16="http://schemas.microsoft.com/office/drawing/2014/main" id="{B15200BD-055B-6A17-CB9F-8B387A3E1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8612" y="4321729"/>
            <a:ext cx="481106" cy="54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9723" name="Rectangle 25">
            <a:extLst>
              <a:ext uri="{FF2B5EF4-FFF2-40B4-BE49-F238E27FC236}">
                <a16:creationId xmlns:a16="http://schemas.microsoft.com/office/drawing/2014/main" id="{5E516ACB-F740-6950-A5D2-FBCAC9179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7671" y="3708886"/>
            <a:ext cx="481106" cy="54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24" name="Rectangle 26">
            <a:extLst>
              <a:ext uri="{FF2B5EF4-FFF2-40B4-BE49-F238E27FC236}">
                <a16:creationId xmlns:a16="http://schemas.microsoft.com/office/drawing/2014/main" id="{4A1E0FFC-C63B-A343-12F6-D7505A7FB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32231"/>
            <a:ext cx="481106" cy="54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9725" name="Rectangle 27">
            <a:extLst>
              <a:ext uri="{FF2B5EF4-FFF2-40B4-BE49-F238E27FC236}">
                <a16:creationId xmlns:a16="http://schemas.microsoft.com/office/drawing/2014/main" id="{60D91B16-E4E3-8B0A-DB6A-8EE64FAD1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6565" y="4389822"/>
            <a:ext cx="481106" cy="54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9726" name="Rectangle 29">
            <a:extLst>
              <a:ext uri="{FF2B5EF4-FFF2-40B4-BE49-F238E27FC236}">
                <a16:creationId xmlns:a16="http://schemas.microsoft.com/office/drawing/2014/main" id="{57F29801-6ED6-7ABB-777F-B051791BA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094" y="3776980"/>
            <a:ext cx="481106" cy="54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v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CB3793D-1856-B996-AD9E-EF0283F7FC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23024"/>
            <a:ext cx="8675649" cy="6802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Single Source Shortest Path Problem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08D2C8B-9D04-7C29-8646-C92DCA5CA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5327" y="1089103"/>
            <a:ext cx="7883912" cy="3886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Single source shortest path problem</a:t>
            </a:r>
          </a:p>
          <a:p>
            <a:pPr lvl="1" eaLnBrk="1" hangingPunct="1"/>
            <a:r>
              <a:rPr lang="en-US" altLang="en-US" sz="2000" dirty="0"/>
              <a:t>Find the shortest path to all other nodes</a:t>
            </a:r>
          </a:p>
          <a:p>
            <a:pPr eaLnBrk="1" hangingPunct="1"/>
            <a:r>
              <a:rPr lang="en-US" altLang="en-US" sz="2400" dirty="0"/>
              <a:t>Dijkstra’s shortest path algorithm</a:t>
            </a:r>
          </a:p>
          <a:p>
            <a:pPr lvl="1" eaLnBrk="1" hangingPunct="1"/>
            <a:r>
              <a:rPr lang="en-US" altLang="en-US" sz="2000" dirty="0"/>
              <a:t>Find shortest path greedily by updating distance to all other nodes</a:t>
            </a:r>
          </a:p>
          <a:p>
            <a:pPr lvl="1" eaLnBrk="1" hangingPunct="1"/>
            <a:r>
              <a:rPr lang="en-US" altLang="en-US" sz="2000" dirty="0"/>
              <a:t>Not applicable for negative weights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0F9CE67-F676-77CE-C4F2-1FF670118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024" y="304800"/>
            <a:ext cx="8686800" cy="598449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– Dijkstra Algorithm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0EC8A0A-0509-3055-D4F3-786F78EDF1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2412" y="1071486"/>
            <a:ext cx="7772400" cy="106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Greedy 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Assume all weight of edge &gt;0</a:t>
            </a:r>
          </a:p>
        </p:txBody>
      </p:sp>
      <p:sp>
        <p:nvSpPr>
          <p:cNvPr id="31790" name="Oval 4">
            <a:extLst>
              <a:ext uri="{FF2B5EF4-FFF2-40B4-BE49-F238E27FC236}">
                <a16:creationId xmlns:a16="http://schemas.microsoft.com/office/drawing/2014/main" id="{00511102-DB18-185D-F676-EE1FE98736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3888" y="3875088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1791" name="Oval 5">
            <a:extLst>
              <a:ext uri="{FF2B5EF4-FFF2-40B4-BE49-F238E27FC236}">
                <a16:creationId xmlns:a16="http://schemas.microsoft.com/office/drawing/2014/main" id="{71AA26F3-8E84-FFE7-29A6-21651FC9A1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5313" y="3151188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1 </a:t>
            </a:r>
          </a:p>
        </p:txBody>
      </p:sp>
      <p:sp>
        <p:nvSpPr>
          <p:cNvPr id="31792" name="Oval 6">
            <a:extLst>
              <a:ext uri="{FF2B5EF4-FFF2-40B4-BE49-F238E27FC236}">
                <a16:creationId xmlns:a16="http://schemas.microsoft.com/office/drawing/2014/main" id="{B1212DF3-D77F-6D58-F7B1-B3568B5794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9763" y="4805363"/>
            <a:ext cx="322263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31793" name="Oval 7">
            <a:extLst>
              <a:ext uri="{FF2B5EF4-FFF2-40B4-BE49-F238E27FC236}">
                <a16:creationId xmlns:a16="http://schemas.microsoft.com/office/drawing/2014/main" id="{4AFA82EA-1ABD-E534-1925-62F82153C9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151188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 </a:t>
            </a:r>
          </a:p>
        </p:txBody>
      </p:sp>
      <p:sp>
        <p:nvSpPr>
          <p:cNvPr id="31794" name="Oval 8">
            <a:extLst>
              <a:ext uri="{FF2B5EF4-FFF2-40B4-BE49-F238E27FC236}">
                <a16:creationId xmlns:a16="http://schemas.microsoft.com/office/drawing/2014/main" id="{F62B3D94-2B3B-026D-9F51-BDC2E27630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8275" y="4805363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 </a:t>
            </a:r>
          </a:p>
        </p:txBody>
      </p:sp>
      <p:sp>
        <p:nvSpPr>
          <p:cNvPr id="31795" name="Line 9">
            <a:extLst>
              <a:ext uri="{FF2B5EF4-FFF2-40B4-BE49-F238E27FC236}">
                <a16:creationId xmlns:a16="http://schemas.microsoft.com/office/drawing/2014/main" id="{12F34D51-D15A-2D31-70FE-59D3FD12B0F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900113" y="4184650"/>
            <a:ext cx="1009650" cy="723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6" name="Line 10">
            <a:extLst>
              <a:ext uri="{FF2B5EF4-FFF2-40B4-BE49-F238E27FC236}">
                <a16:creationId xmlns:a16="http://schemas.microsoft.com/office/drawing/2014/main" id="{1DE3163F-C0B8-7F57-D56C-12482AE81044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900113" y="3409950"/>
            <a:ext cx="965200" cy="515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7" name="Line 11">
            <a:extLst>
              <a:ext uri="{FF2B5EF4-FFF2-40B4-BE49-F238E27FC236}">
                <a16:creationId xmlns:a16="http://schemas.microsoft.com/office/drawing/2014/main" id="{952176D1-6BA6-6E0E-5345-331D03643B0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85988" y="3357563"/>
            <a:ext cx="1700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8" name="Line 12">
            <a:extLst>
              <a:ext uri="{FF2B5EF4-FFF2-40B4-BE49-F238E27FC236}">
                <a16:creationId xmlns:a16="http://schemas.microsoft.com/office/drawing/2014/main" id="{FCC73A45-25C4-64AE-2018-0197FA53BB9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232025" y="5011738"/>
            <a:ext cx="174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9" name="Line 13">
            <a:extLst>
              <a:ext uri="{FF2B5EF4-FFF2-40B4-BE49-F238E27FC236}">
                <a16:creationId xmlns:a16="http://schemas.microsoft.com/office/drawing/2014/main" id="{2CFB5C2B-666E-CF23-811D-52EA9D14271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024313" y="3513138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0" name="Line 14">
            <a:extLst>
              <a:ext uri="{FF2B5EF4-FFF2-40B4-BE49-F238E27FC236}">
                <a16:creationId xmlns:a16="http://schemas.microsoft.com/office/drawing/2014/main" id="{DD66B566-D967-012E-EE4A-950DC3835334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4114800" y="3460750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1" name="Line 15">
            <a:extLst>
              <a:ext uri="{FF2B5EF4-FFF2-40B4-BE49-F238E27FC236}">
                <a16:creationId xmlns:a16="http://schemas.microsoft.com/office/drawing/2014/main" id="{E7E82CC4-6863-73C5-C6E9-D39A70A88F8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55800" y="3513138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2" name="Line 16">
            <a:extLst>
              <a:ext uri="{FF2B5EF4-FFF2-40B4-BE49-F238E27FC236}">
                <a16:creationId xmlns:a16="http://schemas.microsoft.com/office/drawing/2014/main" id="{1878691D-DBD4-6B2B-CB88-FA1820EA932E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093913" y="3513138"/>
            <a:ext cx="0" cy="1292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3" name="Line 17">
            <a:extLst>
              <a:ext uri="{FF2B5EF4-FFF2-40B4-BE49-F238E27FC236}">
                <a16:creationId xmlns:a16="http://schemas.microsoft.com/office/drawing/2014/main" id="{3CA9F526-6D61-38A1-B7D5-7209661C9B0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85988" y="3460750"/>
            <a:ext cx="174625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4" name="Line 18">
            <a:extLst>
              <a:ext uri="{FF2B5EF4-FFF2-40B4-BE49-F238E27FC236}">
                <a16:creationId xmlns:a16="http://schemas.microsoft.com/office/drawing/2014/main" id="{8E641B2B-2112-C594-C0AA-E8707C7E020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946150" y="4081463"/>
            <a:ext cx="3032125" cy="82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5" name="Rectangle 19">
            <a:extLst>
              <a:ext uri="{FF2B5EF4-FFF2-40B4-BE49-F238E27FC236}">
                <a16:creationId xmlns:a16="http://schemas.microsoft.com/office/drawing/2014/main" id="{F5644A70-0216-2001-8B04-B1B61CE922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30300" y="4495800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1806" name="Rectangle 20">
            <a:extLst>
              <a:ext uri="{FF2B5EF4-FFF2-40B4-BE49-F238E27FC236}">
                <a16:creationId xmlns:a16="http://schemas.microsoft.com/office/drawing/2014/main" id="{FA73C756-82BF-2D1A-9EB6-ABBC9D24F4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30300" y="3409950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1807" name="Rectangle 21">
            <a:extLst>
              <a:ext uri="{FF2B5EF4-FFF2-40B4-BE49-F238E27FC236}">
                <a16:creationId xmlns:a16="http://schemas.microsoft.com/office/drawing/2014/main" id="{0EF3B9A2-8F14-FCC4-5EEC-69E63F0BAB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35125" y="3719513"/>
            <a:ext cx="41275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808" name="Rectangle 22">
            <a:extLst>
              <a:ext uri="{FF2B5EF4-FFF2-40B4-BE49-F238E27FC236}">
                <a16:creationId xmlns:a16="http://schemas.microsoft.com/office/drawing/2014/main" id="{AA8E8237-1855-D83D-A628-67EC16C335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01838" y="3719513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1809" name="Rectangle 23">
            <a:extLst>
              <a:ext uri="{FF2B5EF4-FFF2-40B4-BE49-F238E27FC236}">
                <a16:creationId xmlns:a16="http://schemas.microsoft.com/office/drawing/2014/main" id="{F3048976-F717-D4FF-FDD8-958BB13A64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82888" y="3048000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810" name="Rectangle 24">
            <a:extLst>
              <a:ext uri="{FF2B5EF4-FFF2-40B4-BE49-F238E27FC236}">
                <a16:creationId xmlns:a16="http://schemas.microsoft.com/office/drawing/2014/main" id="{1E780F4D-F21C-606B-579F-259168EF1E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74963" y="4960938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811" name="Rectangle 25">
            <a:extLst>
              <a:ext uri="{FF2B5EF4-FFF2-40B4-BE49-F238E27FC236}">
                <a16:creationId xmlns:a16="http://schemas.microsoft.com/office/drawing/2014/main" id="{7B59EE07-84D4-1D2A-E6D1-504CA114B0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9113" y="4443413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1812" name="Rectangle 26">
            <a:extLst>
              <a:ext uri="{FF2B5EF4-FFF2-40B4-BE49-F238E27FC236}">
                <a16:creationId xmlns:a16="http://schemas.microsoft.com/office/drawing/2014/main" id="{4C150D92-4CA5-3702-B5B9-F58D9B7929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02050" y="3875088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1813" name="Rectangle 27">
            <a:extLst>
              <a:ext uri="{FF2B5EF4-FFF2-40B4-BE49-F238E27FC236}">
                <a16:creationId xmlns:a16="http://schemas.microsoft.com/office/drawing/2014/main" id="{22B191F9-99A0-0CCD-FD26-65171D712F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74963" y="3822700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1814" name="Rectangle 28">
            <a:extLst>
              <a:ext uri="{FF2B5EF4-FFF2-40B4-BE49-F238E27FC236}">
                <a16:creationId xmlns:a16="http://schemas.microsoft.com/office/drawing/2014/main" id="{8962E8A5-4221-6CB2-48BD-BD9A74FF54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8275" y="3875088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1815" name="Rectangle 29">
            <a:extLst>
              <a:ext uri="{FF2B5EF4-FFF2-40B4-BE49-F238E27FC236}">
                <a16:creationId xmlns:a16="http://schemas.microsoft.com/office/drawing/2014/main" id="{AA5EB4E9-5370-259A-7DE9-5DF163562F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4267200"/>
            <a:ext cx="50482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source</a:t>
            </a:r>
          </a:p>
        </p:txBody>
      </p:sp>
      <p:graphicFrame>
        <p:nvGraphicFramePr>
          <p:cNvPr id="224327" name="Group 71">
            <a:extLst>
              <a:ext uri="{FF2B5EF4-FFF2-40B4-BE49-F238E27FC236}">
                <a16:creationId xmlns:a16="http://schemas.microsoft.com/office/drawing/2014/main" id="{EF598803-4CC9-669E-CAFF-170E49796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53080"/>
              </p:ext>
            </p:extLst>
          </p:nvPr>
        </p:nvGraphicFramePr>
        <p:xfrm>
          <a:off x="4564063" y="2121102"/>
          <a:ext cx="4191000" cy="4259262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2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node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from node 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to other nodes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best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>
            <a:extLst>
              <a:ext uri="{FF2B5EF4-FFF2-40B4-BE49-F238E27FC236}">
                <a16:creationId xmlns:a16="http://schemas.microsoft.com/office/drawing/2014/main" id="{510BCD1F-58A1-AE05-A353-F297E9AA05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055669"/>
            <a:ext cx="8686800" cy="106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step 1: find the shortest path to node 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node 2 is selected</a:t>
            </a:r>
          </a:p>
        </p:txBody>
      </p:sp>
      <p:sp>
        <p:nvSpPr>
          <p:cNvPr id="32772" name="Oval 4">
            <a:extLst>
              <a:ext uri="{FF2B5EF4-FFF2-40B4-BE49-F238E27FC236}">
                <a16:creationId xmlns:a16="http://schemas.microsoft.com/office/drawing/2014/main" id="{75059DD8-AFD3-129A-F5C9-37BDFFAD83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263" y="3722688"/>
            <a:ext cx="322262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773" name="Oval 5">
            <a:extLst>
              <a:ext uri="{FF2B5EF4-FFF2-40B4-BE49-F238E27FC236}">
                <a16:creationId xmlns:a16="http://schemas.microsoft.com/office/drawing/2014/main" id="{0E483905-5169-763D-EA37-DF2ACC8130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7688" y="2998788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1 </a:t>
            </a:r>
          </a:p>
        </p:txBody>
      </p:sp>
      <p:sp>
        <p:nvSpPr>
          <p:cNvPr id="32774" name="Oval 6">
            <a:extLst>
              <a:ext uri="{FF2B5EF4-FFF2-40B4-BE49-F238E27FC236}">
                <a16:creationId xmlns:a16="http://schemas.microsoft.com/office/drawing/2014/main" id="{8042A1EA-38D7-61FF-3C7C-91E89787A6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2138" y="4652963"/>
            <a:ext cx="322262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32775" name="Oval 7">
            <a:extLst>
              <a:ext uri="{FF2B5EF4-FFF2-40B4-BE49-F238E27FC236}">
                <a16:creationId xmlns:a16="http://schemas.microsoft.com/office/drawing/2014/main" id="{638EE4D0-001A-7832-2EDE-4688785156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38575" y="2998788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3 </a:t>
            </a:r>
          </a:p>
        </p:txBody>
      </p:sp>
      <p:sp>
        <p:nvSpPr>
          <p:cNvPr id="32776" name="Oval 8">
            <a:extLst>
              <a:ext uri="{FF2B5EF4-FFF2-40B4-BE49-F238E27FC236}">
                <a16:creationId xmlns:a16="http://schemas.microsoft.com/office/drawing/2014/main" id="{551BA3FB-C9BE-1221-EBA2-146F13D5E6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4652963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4 </a:t>
            </a:r>
          </a:p>
        </p:txBody>
      </p:sp>
      <p:sp>
        <p:nvSpPr>
          <p:cNvPr id="32777" name="Line 9">
            <a:extLst>
              <a:ext uri="{FF2B5EF4-FFF2-40B4-BE49-F238E27FC236}">
                <a16:creationId xmlns:a16="http://schemas.microsoft.com/office/drawing/2014/main" id="{9EA20176-9207-3E07-C09D-9D7153CF9E4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52488" y="4032250"/>
            <a:ext cx="1009650" cy="723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Line 10">
            <a:extLst>
              <a:ext uri="{FF2B5EF4-FFF2-40B4-BE49-F238E27FC236}">
                <a16:creationId xmlns:a16="http://schemas.microsoft.com/office/drawing/2014/main" id="{1EEDE7E6-DB95-7B76-013B-5F643120506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52488" y="3257550"/>
            <a:ext cx="965200" cy="515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Line 11">
            <a:extLst>
              <a:ext uri="{FF2B5EF4-FFF2-40B4-BE49-F238E27FC236}">
                <a16:creationId xmlns:a16="http://schemas.microsoft.com/office/drawing/2014/main" id="{D43A6608-6DE5-3906-43EE-E9510D46759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38363" y="3205163"/>
            <a:ext cx="17002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Line 12">
            <a:extLst>
              <a:ext uri="{FF2B5EF4-FFF2-40B4-BE49-F238E27FC236}">
                <a16:creationId xmlns:a16="http://schemas.microsoft.com/office/drawing/2014/main" id="{0E11C0F1-C3FF-4B1C-6AB0-2862C099BF9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84400" y="4859338"/>
            <a:ext cx="174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Line 13">
            <a:extLst>
              <a:ext uri="{FF2B5EF4-FFF2-40B4-BE49-F238E27FC236}">
                <a16:creationId xmlns:a16="http://schemas.microsoft.com/office/drawing/2014/main" id="{81A4FE21-E179-394E-064F-F81AE129E8B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76688" y="3360738"/>
            <a:ext cx="0" cy="1344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Line 14">
            <a:extLst>
              <a:ext uri="{FF2B5EF4-FFF2-40B4-BE49-F238E27FC236}">
                <a16:creationId xmlns:a16="http://schemas.microsoft.com/office/drawing/2014/main" id="{8C8C7632-3BEC-18E5-E5E9-7C6BAF4D0785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4067175" y="3308350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3" name="Line 15">
            <a:extLst>
              <a:ext uri="{FF2B5EF4-FFF2-40B4-BE49-F238E27FC236}">
                <a16:creationId xmlns:a16="http://schemas.microsoft.com/office/drawing/2014/main" id="{25A52FC8-EBC0-E44F-B071-D2E5F06E5AE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08175" y="3360738"/>
            <a:ext cx="0" cy="1344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4" name="Line 16">
            <a:extLst>
              <a:ext uri="{FF2B5EF4-FFF2-40B4-BE49-F238E27FC236}">
                <a16:creationId xmlns:a16="http://schemas.microsoft.com/office/drawing/2014/main" id="{4D168145-D15E-087B-A58E-CCC54991727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046288" y="3360738"/>
            <a:ext cx="0" cy="1292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5" name="Line 17">
            <a:extLst>
              <a:ext uri="{FF2B5EF4-FFF2-40B4-BE49-F238E27FC236}">
                <a16:creationId xmlns:a16="http://schemas.microsoft.com/office/drawing/2014/main" id="{DD1DFA98-A832-C1B1-E328-22FD7ABCEE0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38363" y="3308350"/>
            <a:ext cx="174625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6" name="Line 18">
            <a:extLst>
              <a:ext uri="{FF2B5EF4-FFF2-40B4-BE49-F238E27FC236}">
                <a16:creationId xmlns:a16="http://schemas.microsoft.com/office/drawing/2014/main" id="{E219D0EB-7384-8C3C-BF8A-DD09B8E2F77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98525" y="3929063"/>
            <a:ext cx="3032125" cy="827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7" name="Rectangle 19">
            <a:extLst>
              <a:ext uri="{FF2B5EF4-FFF2-40B4-BE49-F238E27FC236}">
                <a16:creationId xmlns:a16="http://schemas.microsoft.com/office/drawing/2014/main" id="{22943E6E-F930-0D82-038A-9B8ABD83D5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4343400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2788" name="Rectangle 20">
            <a:extLst>
              <a:ext uri="{FF2B5EF4-FFF2-40B4-BE49-F238E27FC236}">
                <a16:creationId xmlns:a16="http://schemas.microsoft.com/office/drawing/2014/main" id="{2E94BD63-C9F0-6E56-065F-6F9BC17C99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3257550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2789" name="Rectangle 21">
            <a:extLst>
              <a:ext uri="{FF2B5EF4-FFF2-40B4-BE49-F238E27FC236}">
                <a16:creationId xmlns:a16="http://schemas.microsoft.com/office/drawing/2014/main" id="{5BC13EB7-B497-3A8C-53BB-907AEEC070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87500" y="3567113"/>
            <a:ext cx="41275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790" name="Rectangle 22">
            <a:extLst>
              <a:ext uri="{FF2B5EF4-FFF2-40B4-BE49-F238E27FC236}">
                <a16:creationId xmlns:a16="http://schemas.microsoft.com/office/drawing/2014/main" id="{FDCCBB55-CD08-DEED-8B24-DFE9B15DBC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4213" y="3567113"/>
            <a:ext cx="414337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791" name="Rectangle 23">
            <a:extLst>
              <a:ext uri="{FF2B5EF4-FFF2-40B4-BE49-F238E27FC236}">
                <a16:creationId xmlns:a16="http://schemas.microsoft.com/office/drawing/2014/main" id="{1D2EB104-0DDA-472B-4283-0A781D244C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2895600"/>
            <a:ext cx="414337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792" name="Rectangle 24">
            <a:extLst>
              <a:ext uri="{FF2B5EF4-FFF2-40B4-BE49-F238E27FC236}">
                <a16:creationId xmlns:a16="http://schemas.microsoft.com/office/drawing/2014/main" id="{7CA03E2B-040F-7D86-8C43-2BED2F1B25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4808538"/>
            <a:ext cx="414337" cy="3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793" name="Rectangle 25">
            <a:extLst>
              <a:ext uri="{FF2B5EF4-FFF2-40B4-BE49-F238E27FC236}">
                <a16:creationId xmlns:a16="http://schemas.microsoft.com/office/drawing/2014/main" id="{261BB846-BA34-9D98-79D6-BE735A21E5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11488" y="4291013"/>
            <a:ext cx="412750" cy="3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2794" name="Rectangle 26">
            <a:extLst>
              <a:ext uri="{FF2B5EF4-FFF2-40B4-BE49-F238E27FC236}">
                <a16:creationId xmlns:a16="http://schemas.microsoft.com/office/drawing/2014/main" id="{EF972570-FD88-1913-53A5-8AFC72EE8C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54425" y="3722688"/>
            <a:ext cx="412750" cy="3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795" name="Rectangle 27">
            <a:extLst>
              <a:ext uri="{FF2B5EF4-FFF2-40B4-BE49-F238E27FC236}">
                <a16:creationId xmlns:a16="http://schemas.microsoft.com/office/drawing/2014/main" id="{B6875C00-E4F3-D503-B585-0C151CDDF9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3670300"/>
            <a:ext cx="414337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2796" name="Rectangle 28">
            <a:extLst>
              <a:ext uri="{FF2B5EF4-FFF2-40B4-BE49-F238E27FC236}">
                <a16:creationId xmlns:a16="http://schemas.microsoft.com/office/drawing/2014/main" id="{1A053F5A-4659-CA80-B4A2-DAEFAD61F9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3722688"/>
            <a:ext cx="412750" cy="3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2797" name="Rectangle 29">
            <a:extLst>
              <a:ext uri="{FF2B5EF4-FFF2-40B4-BE49-F238E27FC236}">
                <a16:creationId xmlns:a16="http://schemas.microsoft.com/office/drawing/2014/main" id="{859C832F-653C-268E-4181-2BDD55DD39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" y="4114800"/>
            <a:ext cx="50482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source</a:t>
            </a:r>
          </a:p>
        </p:txBody>
      </p:sp>
      <p:graphicFrame>
        <p:nvGraphicFramePr>
          <p:cNvPr id="225310" name="Group 30">
            <a:extLst>
              <a:ext uri="{FF2B5EF4-FFF2-40B4-BE49-F238E27FC236}">
                <a16:creationId xmlns:a16="http://schemas.microsoft.com/office/drawing/2014/main" id="{CCA6A87E-9407-89D8-B76D-99D83BDC8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100151"/>
              </p:ext>
            </p:extLst>
          </p:nvPr>
        </p:nvGraphicFramePr>
        <p:xfrm>
          <a:off x="4724400" y="2048115"/>
          <a:ext cx="4114800" cy="4295774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2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node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from node 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to other nodes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best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85A712F6-FCF0-7D5B-F852-ACE8064C7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024" y="304800"/>
            <a:ext cx="8686800" cy="598449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– Dijkstra Algorithm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>
            <a:extLst>
              <a:ext uri="{FF2B5EF4-FFF2-40B4-BE49-F238E27FC236}">
                <a16:creationId xmlns:a16="http://schemas.microsoft.com/office/drawing/2014/main" id="{28532AD5-144E-24D3-A9CE-82C669175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39" y="1062831"/>
            <a:ext cx="8681185" cy="106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step 2: recalculate the path to all other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find the shortest path to node 0. Node 4 is selected</a:t>
            </a:r>
          </a:p>
        </p:txBody>
      </p:sp>
      <p:sp>
        <p:nvSpPr>
          <p:cNvPr id="33838" name="Oval 4">
            <a:extLst>
              <a:ext uri="{FF2B5EF4-FFF2-40B4-BE49-F238E27FC236}">
                <a16:creationId xmlns:a16="http://schemas.microsoft.com/office/drawing/2014/main" id="{2F1CC7A7-0AE3-B442-E93F-3F1702B6CA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263" y="4624388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3839" name="Oval 5">
            <a:extLst>
              <a:ext uri="{FF2B5EF4-FFF2-40B4-BE49-F238E27FC236}">
                <a16:creationId xmlns:a16="http://schemas.microsoft.com/office/drawing/2014/main" id="{DB6CF5D4-3F4E-44F4-40E9-7675675C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7688" y="3900488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 </a:t>
            </a:r>
          </a:p>
        </p:txBody>
      </p:sp>
      <p:sp>
        <p:nvSpPr>
          <p:cNvPr id="33840" name="Oval 6">
            <a:extLst>
              <a:ext uri="{FF2B5EF4-FFF2-40B4-BE49-F238E27FC236}">
                <a16:creationId xmlns:a16="http://schemas.microsoft.com/office/drawing/2014/main" id="{A8FD5514-4CBE-50D2-0157-2547CB1513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2138" y="5554663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33841" name="Oval 7">
            <a:extLst>
              <a:ext uri="{FF2B5EF4-FFF2-40B4-BE49-F238E27FC236}">
                <a16:creationId xmlns:a16="http://schemas.microsoft.com/office/drawing/2014/main" id="{926A1B49-AD71-A2D3-EFBC-3EE6A641FB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38575" y="3900488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 </a:t>
            </a:r>
          </a:p>
        </p:txBody>
      </p:sp>
      <p:sp>
        <p:nvSpPr>
          <p:cNvPr id="33842" name="Oval 8">
            <a:extLst>
              <a:ext uri="{FF2B5EF4-FFF2-40B4-BE49-F238E27FC236}">
                <a16:creationId xmlns:a16="http://schemas.microsoft.com/office/drawing/2014/main" id="{15911673-2671-2AF3-079E-DCCD7E86BE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5554663"/>
            <a:ext cx="320675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4 </a:t>
            </a:r>
          </a:p>
        </p:txBody>
      </p:sp>
      <p:sp>
        <p:nvSpPr>
          <p:cNvPr id="33843" name="Line 9">
            <a:extLst>
              <a:ext uri="{FF2B5EF4-FFF2-40B4-BE49-F238E27FC236}">
                <a16:creationId xmlns:a16="http://schemas.microsoft.com/office/drawing/2014/main" id="{7FEAE33C-8E28-C21B-8A07-379B0EA6ECA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52488" y="4933950"/>
            <a:ext cx="1009650" cy="723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4" name="Line 10">
            <a:extLst>
              <a:ext uri="{FF2B5EF4-FFF2-40B4-BE49-F238E27FC236}">
                <a16:creationId xmlns:a16="http://schemas.microsoft.com/office/drawing/2014/main" id="{0F9D7D96-8C5C-DF43-1770-EBD26C802DC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52488" y="4159250"/>
            <a:ext cx="965200" cy="515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5" name="Line 11">
            <a:extLst>
              <a:ext uri="{FF2B5EF4-FFF2-40B4-BE49-F238E27FC236}">
                <a16:creationId xmlns:a16="http://schemas.microsoft.com/office/drawing/2014/main" id="{ABAB7DFC-636E-C058-6046-4CAB61C9C7B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38363" y="4106863"/>
            <a:ext cx="1700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6" name="Line 12">
            <a:extLst>
              <a:ext uri="{FF2B5EF4-FFF2-40B4-BE49-F238E27FC236}">
                <a16:creationId xmlns:a16="http://schemas.microsoft.com/office/drawing/2014/main" id="{FB93804C-6A46-7571-7F9C-4BA9DE6FF05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84400" y="5761038"/>
            <a:ext cx="174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7" name="Line 13">
            <a:extLst>
              <a:ext uri="{FF2B5EF4-FFF2-40B4-BE49-F238E27FC236}">
                <a16:creationId xmlns:a16="http://schemas.microsoft.com/office/drawing/2014/main" id="{371A1885-0D70-1591-2D7F-D12777ECEF7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76688" y="4262438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8" name="Line 14">
            <a:extLst>
              <a:ext uri="{FF2B5EF4-FFF2-40B4-BE49-F238E27FC236}">
                <a16:creationId xmlns:a16="http://schemas.microsoft.com/office/drawing/2014/main" id="{C456CE50-7410-666B-3B8F-4FF2BCD303B5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4067175" y="4210050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9" name="Line 15">
            <a:extLst>
              <a:ext uri="{FF2B5EF4-FFF2-40B4-BE49-F238E27FC236}">
                <a16:creationId xmlns:a16="http://schemas.microsoft.com/office/drawing/2014/main" id="{3DDA7225-E091-0A95-6082-2E291F25BDB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08175" y="4262438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0" name="Line 16">
            <a:extLst>
              <a:ext uri="{FF2B5EF4-FFF2-40B4-BE49-F238E27FC236}">
                <a16:creationId xmlns:a16="http://schemas.microsoft.com/office/drawing/2014/main" id="{3298423F-3632-2C09-B2C3-4ABD13852F7E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046288" y="4262438"/>
            <a:ext cx="0" cy="1292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1" name="Line 17">
            <a:extLst>
              <a:ext uri="{FF2B5EF4-FFF2-40B4-BE49-F238E27FC236}">
                <a16:creationId xmlns:a16="http://schemas.microsoft.com/office/drawing/2014/main" id="{2C21E8C6-8EF4-4D22-BCF1-DE2D0D8D2C33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38363" y="4210050"/>
            <a:ext cx="174625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2" name="Line 18">
            <a:extLst>
              <a:ext uri="{FF2B5EF4-FFF2-40B4-BE49-F238E27FC236}">
                <a16:creationId xmlns:a16="http://schemas.microsoft.com/office/drawing/2014/main" id="{ADDE1877-64BE-FC5C-5A5A-BB8B67B089B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98525" y="4830763"/>
            <a:ext cx="3032125" cy="82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3" name="Rectangle 19">
            <a:extLst>
              <a:ext uri="{FF2B5EF4-FFF2-40B4-BE49-F238E27FC236}">
                <a16:creationId xmlns:a16="http://schemas.microsoft.com/office/drawing/2014/main" id="{79562F0A-1323-EC8D-2354-3F28ED6F17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5245100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3854" name="Rectangle 20">
            <a:extLst>
              <a:ext uri="{FF2B5EF4-FFF2-40B4-BE49-F238E27FC236}">
                <a16:creationId xmlns:a16="http://schemas.microsoft.com/office/drawing/2014/main" id="{34A94194-A072-68BC-D968-02865789E5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4159250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3855" name="Rectangle 21">
            <a:extLst>
              <a:ext uri="{FF2B5EF4-FFF2-40B4-BE49-F238E27FC236}">
                <a16:creationId xmlns:a16="http://schemas.microsoft.com/office/drawing/2014/main" id="{B39156B6-03A1-A287-7095-55BA5DCBDC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87500" y="4468813"/>
            <a:ext cx="41275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856" name="Rectangle 22">
            <a:extLst>
              <a:ext uri="{FF2B5EF4-FFF2-40B4-BE49-F238E27FC236}">
                <a16:creationId xmlns:a16="http://schemas.microsoft.com/office/drawing/2014/main" id="{254E8F10-22FE-0037-88F6-6A8BA8581D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4213" y="4468813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857" name="Rectangle 23">
            <a:extLst>
              <a:ext uri="{FF2B5EF4-FFF2-40B4-BE49-F238E27FC236}">
                <a16:creationId xmlns:a16="http://schemas.microsoft.com/office/drawing/2014/main" id="{81D334A2-24C1-0D85-CC5C-B4FFF488D7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3797300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858" name="Rectangle 24">
            <a:extLst>
              <a:ext uri="{FF2B5EF4-FFF2-40B4-BE49-F238E27FC236}">
                <a16:creationId xmlns:a16="http://schemas.microsoft.com/office/drawing/2014/main" id="{C655ADD7-4125-3D29-08EA-52A217AF29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5710238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859" name="Rectangle 25">
            <a:extLst>
              <a:ext uri="{FF2B5EF4-FFF2-40B4-BE49-F238E27FC236}">
                <a16:creationId xmlns:a16="http://schemas.microsoft.com/office/drawing/2014/main" id="{45E3581B-689D-08B8-0387-6C564CA3D5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11488" y="5192713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3860" name="Rectangle 26">
            <a:extLst>
              <a:ext uri="{FF2B5EF4-FFF2-40B4-BE49-F238E27FC236}">
                <a16:creationId xmlns:a16="http://schemas.microsoft.com/office/drawing/2014/main" id="{0C3CFA8A-1634-F645-58DD-3EF3E1AD3A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54425" y="4624388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61" name="Rectangle 27">
            <a:extLst>
              <a:ext uri="{FF2B5EF4-FFF2-40B4-BE49-F238E27FC236}">
                <a16:creationId xmlns:a16="http://schemas.microsoft.com/office/drawing/2014/main" id="{1DDC808E-38C6-C820-4E12-A5D8691E75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4572000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3862" name="Rectangle 28">
            <a:extLst>
              <a:ext uri="{FF2B5EF4-FFF2-40B4-BE49-F238E27FC236}">
                <a16:creationId xmlns:a16="http://schemas.microsoft.com/office/drawing/2014/main" id="{2FE576A6-BF05-D0E5-1F52-A3101CA74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4624388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3863" name="Rectangle 29">
            <a:extLst>
              <a:ext uri="{FF2B5EF4-FFF2-40B4-BE49-F238E27FC236}">
                <a16:creationId xmlns:a16="http://schemas.microsoft.com/office/drawing/2014/main" id="{CCFCC078-87D0-989F-8CAE-1BF0C66B4C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" y="5016500"/>
            <a:ext cx="50482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source</a:t>
            </a:r>
          </a:p>
        </p:txBody>
      </p:sp>
      <p:graphicFrame>
        <p:nvGraphicFramePr>
          <p:cNvPr id="226375" name="Group 71">
            <a:extLst>
              <a:ext uri="{FF2B5EF4-FFF2-40B4-BE49-F238E27FC236}">
                <a16:creationId xmlns:a16="http://schemas.microsoft.com/office/drawing/2014/main" id="{54E0AD21-4DB5-A6F0-1892-65F2451FA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505333"/>
              </p:ext>
            </p:extLst>
          </p:nvPr>
        </p:nvGraphicFramePr>
        <p:xfrm>
          <a:off x="4495800" y="2072274"/>
          <a:ext cx="4114800" cy="4295774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2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node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from node 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to other nodes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best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D0F0062F-44C4-BD3E-FAAD-84290CF92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024" y="304800"/>
            <a:ext cx="8686800" cy="598449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– Dijkstra Algorithm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5088EF23-9D2C-741C-8D4D-ACDC58629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024" y="1071447"/>
            <a:ext cx="8686800" cy="106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step 2: recalculate the path to all other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find the shortest path to node 0. Node 4 is selected</a:t>
            </a:r>
          </a:p>
        </p:txBody>
      </p:sp>
      <p:sp>
        <p:nvSpPr>
          <p:cNvPr id="34862" name="Oval 4">
            <a:extLst>
              <a:ext uri="{FF2B5EF4-FFF2-40B4-BE49-F238E27FC236}">
                <a16:creationId xmlns:a16="http://schemas.microsoft.com/office/drawing/2014/main" id="{1D04CD68-DD45-C0C4-3DA5-30AC765AD0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263" y="4624388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4863" name="Oval 5">
            <a:extLst>
              <a:ext uri="{FF2B5EF4-FFF2-40B4-BE49-F238E27FC236}">
                <a16:creationId xmlns:a16="http://schemas.microsoft.com/office/drawing/2014/main" id="{DB212810-85EF-1A39-65EB-35C4E2DE46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7688" y="3900488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 </a:t>
            </a:r>
          </a:p>
        </p:txBody>
      </p:sp>
      <p:sp>
        <p:nvSpPr>
          <p:cNvPr id="34864" name="Oval 6">
            <a:extLst>
              <a:ext uri="{FF2B5EF4-FFF2-40B4-BE49-F238E27FC236}">
                <a16:creationId xmlns:a16="http://schemas.microsoft.com/office/drawing/2014/main" id="{4D6B164D-B814-B254-89BB-E7AB796DD6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2138" y="5554663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34865" name="Oval 7">
            <a:extLst>
              <a:ext uri="{FF2B5EF4-FFF2-40B4-BE49-F238E27FC236}">
                <a16:creationId xmlns:a16="http://schemas.microsoft.com/office/drawing/2014/main" id="{4CC6EE0F-E96B-93B9-A914-7B58D6BB0E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38575" y="3900488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 </a:t>
            </a:r>
          </a:p>
        </p:txBody>
      </p:sp>
      <p:sp>
        <p:nvSpPr>
          <p:cNvPr id="34866" name="Oval 8">
            <a:extLst>
              <a:ext uri="{FF2B5EF4-FFF2-40B4-BE49-F238E27FC236}">
                <a16:creationId xmlns:a16="http://schemas.microsoft.com/office/drawing/2014/main" id="{7B43C9F3-BD3A-4F53-37C4-E37F9FF9B9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5554663"/>
            <a:ext cx="320675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4 </a:t>
            </a:r>
          </a:p>
        </p:txBody>
      </p:sp>
      <p:sp>
        <p:nvSpPr>
          <p:cNvPr id="34867" name="Line 9">
            <a:extLst>
              <a:ext uri="{FF2B5EF4-FFF2-40B4-BE49-F238E27FC236}">
                <a16:creationId xmlns:a16="http://schemas.microsoft.com/office/drawing/2014/main" id="{3A955567-C676-9EE9-326D-6E12F18BE7C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52488" y="4933950"/>
            <a:ext cx="1009650" cy="723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8" name="Line 10">
            <a:extLst>
              <a:ext uri="{FF2B5EF4-FFF2-40B4-BE49-F238E27FC236}">
                <a16:creationId xmlns:a16="http://schemas.microsoft.com/office/drawing/2014/main" id="{3295127C-C45B-CB4D-C08B-B96F89FE4CC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52488" y="4159250"/>
            <a:ext cx="965200" cy="515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9" name="Line 11">
            <a:extLst>
              <a:ext uri="{FF2B5EF4-FFF2-40B4-BE49-F238E27FC236}">
                <a16:creationId xmlns:a16="http://schemas.microsoft.com/office/drawing/2014/main" id="{F4B0DE6A-858F-68AB-7F75-10C9EB719AA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38363" y="4106863"/>
            <a:ext cx="1700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0" name="Line 12">
            <a:extLst>
              <a:ext uri="{FF2B5EF4-FFF2-40B4-BE49-F238E27FC236}">
                <a16:creationId xmlns:a16="http://schemas.microsoft.com/office/drawing/2014/main" id="{DA30ADB3-6837-A409-C025-112D296721D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84400" y="5761038"/>
            <a:ext cx="174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1" name="Line 13">
            <a:extLst>
              <a:ext uri="{FF2B5EF4-FFF2-40B4-BE49-F238E27FC236}">
                <a16:creationId xmlns:a16="http://schemas.microsoft.com/office/drawing/2014/main" id="{CC2E0CD6-28CB-DD87-3332-17544CFC032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76688" y="4262438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2" name="Line 14">
            <a:extLst>
              <a:ext uri="{FF2B5EF4-FFF2-40B4-BE49-F238E27FC236}">
                <a16:creationId xmlns:a16="http://schemas.microsoft.com/office/drawing/2014/main" id="{C1FBF670-8984-4A81-45ED-C8405957875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4067175" y="4210050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3" name="Line 15">
            <a:extLst>
              <a:ext uri="{FF2B5EF4-FFF2-40B4-BE49-F238E27FC236}">
                <a16:creationId xmlns:a16="http://schemas.microsoft.com/office/drawing/2014/main" id="{FFC129C8-8A53-4C00-7F6B-7C39FEABD14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08175" y="4262438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4" name="Line 16">
            <a:extLst>
              <a:ext uri="{FF2B5EF4-FFF2-40B4-BE49-F238E27FC236}">
                <a16:creationId xmlns:a16="http://schemas.microsoft.com/office/drawing/2014/main" id="{5F4A4586-0014-B8E5-E435-8710A3DA0709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046288" y="4262438"/>
            <a:ext cx="0" cy="1292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5" name="Line 17">
            <a:extLst>
              <a:ext uri="{FF2B5EF4-FFF2-40B4-BE49-F238E27FC236}">
                <a16:creationId xmlns:a16="http://schemas.microsoft.com/office/drawing/2014/main" id="{1FF53F50-BA2E-9B0D-44C2-BB71C675CF09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38363" y="4210050"/>
            <a:ext cx="174625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6" name="Line 18">
            <a:extLst>
              <a:ext uri="{FF2B5EF4-FFF2-40B4-BE49-F238E27FC236}">
                <a16:creationId xmlns:a16="http://schemas.microsoft.com/office/drawing/2014/main" id="{E54007D2-10E3-E9E6-14C2-406A84B4268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98525" y="4830763"/>
            <a:ext cx="3032125" cy="82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7" name="Rectangle 19">
            <a:extLst>
              <a:ext uri="{FF2B5EF4-FFF2-40B4-BE49-F238E27FC236}">
                <a16:creationId xmlns:a16="http://schemas.microsoft.com/office/drawing/2014/main" id="{6FD197B6-2BC6-A7A1-BFF2-17AFB81AC4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5245100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878" name="Rectangle 20">
            <a:extLst>
              <a:ext uri="{FF2B5EF4-FFF2-40B4-BE49-F238E27FC236}">
                <a16:creationId xmlns:a16="http://schemas.microsoft.com/office/drawing/2014/main" id="{64440C15-1CCB-DF8C-B2B4-39773717BC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4159250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4879" name="Rectangle 21">
            <a:extLst>
              <a:ext uri="{FF2B5EF4-FFF2-40B4-BE49-F238E27FC236}">
                <a16:creationId xmlns:a16="http://schemas.microsoft.com/office/drawing/2014/main" id="{0775F2A2-7417-609D-E5A7-8A33860FBA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87500" y="4468813"/>
            <a:ext cx="41275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880" name="Rectangle 22">
            <a:extLst>
              <a:ext uri="{FF2B5EF4-FFF2-40B4-BE49-F238E27FC236}">
                <a16:creationId xmlns:a16="http://schemas.microsoft.com/office/drawing/2014/main" id="{31074986-52AF-77FA-C336-DB205E09D3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4213" y="4468813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881" name="Rectangle 23">
            <a:extLst>
              <a:ext uri="{FF2B5EF4-FFF2-40B4-BE49-F238E27FC236}">
                <a16:creationId xmlns:a16="http://schemas.microsoft.com/office/drawing/2014/main" id="{A1B7DA5F-A351-187F-997B-12F4C0D9FF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3797300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82" name="Rectangle 24">
            <a:extLst>
              <a:ext uri="{FF2B5EF4-FFF2-40B4-BE49-F238E27FC236}">
                <a16:creationId xmlns:a16="http://schemas.microsoft.com/office/drawing/2014/main" id="{F8C58CAA-2071-3B7F-BD2A-9F2E241D2B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5710238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883" name="Rectangle 25">
            <a:extLst>
              <a:ext uri="{FF2B5EF4-FFF2-40B4-BE49-F238E27FC236}">
                <a16:creationId xmlns:a16="http://schemas.microsoft.com/office/drawing/2014/main" id="{BBEAF194-9B3F-824E-7D23-3972B85608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11488" y="5192713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4884" name="Rectangle 26">
            <a:extLst>
              <a:ext uri="{FF2B5EF4-FFF2-40B4-BE49-F238E27FC236}">
                <a16:creationId xmlns:a16="http://schemas.microsoft.com/office/drawing/2014/main" id="{22FAE585-CF85-74E2-97AC-3F3F4D341D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54425" y="4624388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85" name="Rectangle 27">
            <a:extLst>
              <a:ext uri="{FF2B5EF4-FFF2-40B4-BE49-F238E27FC236}">
                <a16:creationId xmlns:a16="http://schemas.microsoft.com/office/drawing/2014/main" id="{CAD3F360-08F0-9AA2-2643-DF17182333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4572000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4886" name="Rectangle 28">
            <a:extLst>
              <a:ext uri="{FF2B5EF4-FFF2-40B4-BE49-F238E27FC236}">
                <a16:creationId xmlns:a16="http://schemas.microsoft.com/office/drawing/2014/main" id="{D700CABF-913F-E4B0-F5BC-625B81CC7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4624388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4887" name="Rectangle 29">
            <a:extLst>
              <a:ext uri="{FF2B5EF4-FFF2-40B4-BE49-F238E27FC236}">
                <a16:creationId xmlns:a16="http://schemas.microsoft.com/office/drawing/2014/main" id="{14659AD0-35E8-1B4F-2984-3C71D6D89E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" y="5016500"/>
            <a:ext cx="50482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source</a:t>
            </a:r>
          </a:p>
        </p:txBody>
      </p:sp>
      <p:graphicFrame>
        <p:nvGraphicFramePr>
          <p:cNvPr id="226375" name="Group 71">
            <a:extLst>
              <a:ext uri="{FF2B5EF4-FFF2-40B4-BE49-F238E27FC236}">
                <a16:creationId xmlns:a16="http://schemas.microsoft.com/office/drawing/2014/main" id="{E71414BB-C88C-E27D-5115-9FF4C9323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402547"/>
              </p:ext>
            </p:extLst>
          </p:nvPr>
        </p:nvGraphicFramePr>
        <p:xfrm>
          <a:off x="4648200" y="2062163"/>
          <a:ext cx="4114800" cy="4295774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2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node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from node 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to other nodes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best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65CDB063-8E30-5884-2120-17A787D7C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024" y="304800"/>
            <a:ext cx="8686800" cy="598449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– Dijkstra Algorithm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>
            <a:extLst>
              <a:ext uri="{FF2B5EF4-FFF2-40B4-BE49-F238E27FC236}">
                <a16:creationId xmlns:a16="http://schemas.microsoft.com/office/drawing/2014/main" id="{EDBB9186-C09C-F368-3807-DB69785872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385" y="1062831"/>
            <a:ext cx="8667439" cy="106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step 3: recalculate the path to all other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find the shortest path to node 0. node 1 is selected</a:t>
            </a:r>
          </a:p>
        </p:txBody>
      </p:sp>
      <p:sp>
        <p:nvSpPr>
          <p:cNvPr id="35886" name="Oval 4">
            <a:extLst>
              <a:ext uri="{FF2B5EF4-FFF2-40B4-BE49-F238E27FC236}">
                <a16:creationId xmlns:a16="http://schemas.microsoft.com/office/drawing/2014/main" id="{727ECBBE-B3E7-6341-AB53-A0CC1FD07D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263" y="4406901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5887" name="Oval 5">
            <a:extLst>
              <a:ext uri="{FF2B5EF4-FFF2-40B4-BE49-F238E27FC236}">
                <a16:creationId xmlns:a16="http://schemas.microsoft.com/office/drawing/2014/main" id="{2B6A0288-E2A9-7C39-CBC0-9E1EF88A46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7688" y="3683001"/>
            <a:ext cx="320675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1 </a:t>
            </a:r>
          </a:p>
        </p:txBody>
      </p:sp>
      <p:sp>
        <p:nvSpPr>
          <p:cNvPr id="35888" name="Oval 6">
            <a:extLst>
              <a:ext uri="{FF2B5EF4-FFF2-40B4-BE49-F238E27FC236}">
                <a16:creationId xmlns:a16="http://schemas.microsoft.com/office/drawing/2014/main" id="{7E15AFD0-4358-0C96-E3E9-175C13A021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2138" y="5337176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35889" name="Oval 7">
            <a:extLst>
              <a:ext uri="{FF2B5EF4-FFF2-40B4-BE49-F238E27FC236}">
                <a16:creationId xmlns:a16="http://schemas.microsoft.com/office/drawing/2014/main" id="{673BE3B0-0161-824C-D89E-2C39EF70BE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38575" y="3683001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 </a:t>
            </a:r>
          </a:p>
        </p:txBody>
      </p:sp>
      <p:sp>
        <p:nvSpPr>
          <p:cNvPr id="35890" name="Oval 8">
            <a:extLst>
              <a:ext uri="{FF2B5EF4-FFF2-40B4-BE49-F238E27FC236}">
                <a16:creationId xmlns:a16="http://schemas.microsoft.com/office/drawing/2014/main" id="{F427322E-4E41-070E-A163-5E72C9870C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5337176"/>
            <a:ext cx="320675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4 </a:t>
            </a:r>
          </a:p>
        </p:txBody>
      </p:sp>
      <p:sp>
        <p:nvSpPr>
          <p:cNvPr id="35891" name="Line 9">
            <a:extLst>
              <a:ext uri="{FF2B5EF4-FFF2-40B4-BE49-F238E27FC236}">
                <a16:creationId xmlns:a16="http://schemas.microsoft.com/office/drawing/2014/main" id="{DC362068-CB74-3FEF-F0A1-D01AFCE2CAD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52488" y="4716463"/>
            <a:ext cx="1009650" cy="723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2" name="Line 10">
            <a:extLst>
              <a:ext uri="{FF2B5EF4-FFF2-40B4-BE49-F238E27FC236}">
                <a16:creationId xmlns:a16="http://schemas.microsoft.com/office/drawing/2014/main" id="{649AC2EC-7673-070D-66EF-EB4EDC468C1E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52488" y="3941763"/>
            <a:ext cx="965200" cy="515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3" name="Line 11">
            <a:extLst>
              <a:ext uri="{FF2B5EF4-FFF2-40B4-BE49-F238E27FC236}">
                <a16:creationId xmlns:a16="http://schemas.microsoft.com/office/drawing/2014/main" id="{A90719C4-F182-2800-9E1A-578D54DC6F1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38363" y="3889376"/>
            <a:ext cx="1700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4" name="Line 12">
            <a:extLst>
              <a:ext uri="{FF2B5EF4-FFF2-40B4-BE49-F238E27FC236}">
                <a16:creationId xmlns:a16="http://schemas.microsoft.com/office/drawing/2014/main" id="{5C96AFF9-C299-BFC2-E805-5D44A1ACD05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84400" y="5543551"/>
            <a:ext cx="174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5" name="Line 13">
            <a:extLst>
              <a:ext uri="{FF2B5EF4-FFF2-40B4-BE49-F238E27FC236}">
                <a16:creationId xmlns:a16="http://schemas.microsoft.com/office/drawing/2014/main" id="{C501A2D3-2E9F-0856-D1F5-601EB20EE40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76688" y="4044951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6" name="Line 14">
            <a:extLst>
              <a:ext uri="{FF2B5EF4-FFF2-40B4-BE49-F238E27FC236}">
                <a16:creationId xmlns:a16="http://schemas.microsoft.com/office/drawing/2014/main" id="{787C6974-07AB-1EFC-7667-BF726F83528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4067175" y="3992563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7" name="Line 15">
            <a:extLst>
              <a:ext uri="{FF2B5EF4-FFF2-40B4-BE49-F238E27FC236}">
                <a16:creationId xmlns:a16="http://schemas.microsoft.com/office/drawing/2014/main" id="{2AC65D84-DD84-F225-7B97-A84F6CA8FB3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08175" y="4044951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8" name="Line 16">
            <a:extLst>
              <a:ext uri="{FF2B5EF4-FFF2-40B4-BE49-F238E27FC236}">
                <a16:creationId xmlns:a16="http://schemas.microsoft.com/office/drawing/2014/main" id="{CB9FD1DB-1A1E-5ADA-4D07-F90648ED2ACC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046288" y="4044951"/>
            <a:ext cx="0" cy="1292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9" name="Line 17">
            <a:extLst>
              <a:ext uri="{FF2B5EF4-FFF2-40B4-BE49-F238E27FC236}">
                <a16:creationId xmlns:a16="http://schemas.microsoft.com/office/drawing/2014/main" id="{3DC0CEEB-2856-9760-C2C5-F62A505F802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38363" y="3992563"/>
            <a:ext cx="174625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0" name="Line 18">
            <a:extLst>
              <a:ext uri="{FF2B5EF4-FFF2-40B4-BE49-F238E27FC236}">
                <a16:creationId xmlns:a16="http://schemas.microsoft.com/office/drawing/2014/main" id="{8084AAAC-177B-5AEC-D2A1-17588C13175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98525" y="4613276"/>
            <a:ext cx="3032125" cy="82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1" name="Rectangle 19">
            <a:extLst>
              <a:ext uri="{FF2B5EF4-FFF2-40B4-BE49-F238E27FC236}">
                <a16:creationId xmlns:a16="http://schemas.microsoft.com/office/drawing/2014/main" id="{FEBED548-A666-058B-4826-4CEBA75B41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5027613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5902" name="Rectangle 20">
            <a:extLst>
              <a:ext uri="{FF2B5EF4-FFF2-40B4-BE49-F238E27FC236}">
                <a16:creationId xmlns:a16="http://schemas.microsoft.com/office/drawing/2014/main" id="{A8DAE57C-FC35-9C14-877C-1DE056468B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3941763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5903" name="Rectangle 21">
            <a:extLst>
              <a:ext uri="{FF2B5EF4-FFF2-40B4-BE49-F238E27FC236}">
                <a16:creationId xmlns:a16="http://schemas.microsoft.com/office/drawing/2014/main" id="{89936878-31F7-9B28-E985-31A4A163EB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87500" y="4251326"/>
            <a:ext cx="41275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904" name="Rectangle 22">
            <a:extLst>
              <a:ext uri="{FF2B5EF4-FFF2-40B4-BE49-F238E27FC236}">
                <a16:creationId xmlns:a16="http://schemas.microsoft.com/office/drawing/2014/main" id="{8E732F1B-F7A1-8319-F3CB-840789C613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4213" y="4251326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5905" name="Rectangle 23">
            <a:extLst>
              <a:ext uri="{FF2B5EF4-FFF2-40B4-BE49-F238E27FC236}">
                <a16:creationId xmlns:a16="http://schemas.microsoft.com/office/drawing/2014/main" id="{D9DC87E6-1197-4227-F956-D39708A579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3579813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5906" name="Rectangle 24">
            <a:extLst>
              <a:ext uri="{FF2B5EF4-FFF2-40B4-BE49-F238E27FC236}">
                <a16:creationId xmlns:a16="http://schemas.microsoft.com/office/drawing/2014/main" id="{B14957B9-2CF4-7A41-1349-29DEA559C1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5492751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907" name="Rectangle 25">
            <a:extLst>
              <a:ext uri="{FF2B5EF4-FFF2-40B4-BE49-F238E27FC236}">
                <a16:creationId xmlns:a16="http://schemas.microsoft.com/office/drawing/2014/main" id="{9D7CC563-6276-EA6A-560A-C8DDE48D5B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11488" y="4975226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5908" name="Rectangle 26">
            <a:extLst>
              <a:ext uri="{FF2B5EF4-FFF2-40B4-BE49-F238E27FC236}">
                <a16:creationId xmlns:a16="http://schemas.microsoft.com/office/drawing/2014/main" id="{9C4C77F1-416B-3C0D-4499-BE4DD43736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54425" y="4406901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5909" name="Rectangle 27">
            <a:extLst>
              <a:ext uri="{FF2B5EF4-FFF2-40B4-BE49-F238E27FC236}">
                <a16:creationId xmlns:a16="http://schemas.microsoft.com/office/drawing/2014/main" id="{73F34EA4-631C-A8D4-C114-E2EE4B9D6E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4354513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5910" name="Rectangle 28">
            <a:extLst>
              <a:ext uri="{FF2B5EF4-FFF2-40B4-BE49-F238E27FC236}">
                <a16:creationId xmlns:a16="http://schemas.microsoft.com/office/drawing/2014/main" id="{322EE011-6AD5-EBFC-8963-5954F14BFE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4406901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5911" name="Rectangle 29">
            <a:extLst>
              <a:ext uri="{FF2B5EF4-FFF2-40B4-BE49-F238E27FC236}">
                <a16:creationId xmlns:a16="http://schemas.microsoft.com/office/drawing/2014/main" id="{9BE81C2C-7027-F35D-B430-1DE2CD5E12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" y="4799013"/>
            <a:ext cx="50482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source</a:t>
            </a:r>
          </a:p>
        </p:txBody>
      </p:sp>
      <p:graphicFrame>
        <p:nvGraphicFramePr>
          <p:cNvPr id="227399" name="Group 71">
            <a:extLst>
              <a:ext uri="{FF2B5EF4-FFF2-40B4-BE49-F238E27FC236}">
                <a16:creationId xmlns:a16="http://schemas.microsoft.com/office/drawing/2014/main" id="{264F8CC4-360B-6866-C55F-058193268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375316"/>
              </p:ext>
            </p:extLst>
          </p:nvPr>
        </p:nvGraphicFramePr>
        <p:xfrm>
          <a:off x="4711701" y="2051845"/>
          <a:ext cx="4114800" cy="4295774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2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node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from node 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to other nodes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best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D30CBF73-4815-15CF-6101-2528CB5E8A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024" y="304800"/>
            <a:ext cx="8686800" cy="598449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– Dijkstra Algorithm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>
            <a:extLst>
              <a:ext uri="{FF2B5EF4-FFF2-40B4-BE49-F238E27FC236}">
                <a16:creationId xmlns:a16="http://schemas.microsoft.com/office/drawing/2014/main" id="{3569F291-6190-2EAA-5DA3-6682D5E4C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024" y="1073982"/>
            <a:ext cx="8686800" cy="106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step 3: recalculate the path to all other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find the shortest path to node 0. node 1 is selected</a:t>
            </a:r>
          </a:p>
        </p:txBody>
      </p:sp>
      <p:sp>
        <p:nvSpPr>
          <p:cNvPr id="36910" name="Oval 4">
            <a:extLst>
              <a:ext uri="{FF2B5EF4-FFF2-40B4-BE49-F238E27FC236}">
                <a16:creationId xmlns:a16="http://schemas.microsoft.com/office/drawing/2014/main" id="{71525709-BFAA-1337-51D7-6B9A53A92F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263" y="4406901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911" name="Oval 5">
            <a:extLst>
              <a:ext uri="{FF2B5EF4-FFF2-40B4-BE49-F238E27FC236}">
                <a16:creationId xmlns:a16="http://schemas.microsoft.com/office/drawing/2014/main" id="{655EE738-42EA-80CD-F791-94734CF07A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7688" y="3683001"/>
            <a:ext cx="320675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1 </a:t>
            </a:r>
          </a:p>
        </p:txBody>
      </p:sp>
      <p:sp>
        <p:nvSpPr>
          <p:cNvPr id="36912" name="Oval 6">
            <a:extLst>
              <a:ext uri="{FF2B5EF4-FFF2-40B4-BE49-F238E27FC236}">
                <a16:creationId xmlns:a16="http://schemas.microsoft.com/office/drawing/2014/main" id="{3DDD57BC-64BA-C3CA-6870-E52B44DA3B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2138" y="5337176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36913" name="Oval 7">
            <a:extLst>
              <a:ext uri="{FF2B5EF4-FFF2-40B4-BE49-F238E27FC236}">
                <a16:creationId xmlns:a16="http://schemas.microsoft.com/office/drawing/2014/main" id="{00BDE914-B100-94B9-AA78-74613AF78A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38575" y="3683001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 </a:t>
            </a:r>
          </a:p>
        </p:txBody>
      </p:sp>
      <p:sp>
        <p:nvSpPr>
          <p:cNvPr id="36914" name="Oval 8">
            <a:extLst>
              <a:ext uri="{FF2B5EF4-FFF2-40B4-BE49-F238E27FC236}">
                <a16:creationId xmlns:a16="http://schemas.microsoft.com/office/drawing/2014/main" id="{1CC482E3-298F-2D04-2968-CDB5B4667B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5337176"/>
            <a:ext cx="320675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4 </a:t>
            </a:r>
          </a:p>
        </p:txBody>
      </p:sp>
      <p:sp>
        <p:nvSpPr>
          <p:cNvPr id="36915" name="Line 9">
            <a:extLst>
              <a:ext uri="{FF2B5EF4-FFF2-40B4-BE49-F238E27FC236}">
                <a16:creationId xmlns:a16="http://schemas.microsoft.com/office/drawing/2014/main" id="{3D2FED45-BBD0-CB87-5E78-3B90347524D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52488" y="4716463"/>
            <a:ext cx="1009650" cy="723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6" name="Line 10">
            <a:extLst>
              <a:ext uri="{FF2B5EF4-FFF2-40B4-BE49-F238E27FC236}">
                <a16:creationId xmlns:a16="http://schemas.microsoft.com/office/drawing/2014/main" id="{5D654087-CB22-E384-42B4-D3011CEB62E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52488" y="3941763"/>
            <a:ext cx="965200" cy="515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7" name="Line 11">
            <a:extLst>
              <a:ext uri="{FF2B5EF4-FFF2-40B4-BE49-F238E27FC236}">
                <a16:creationId xmlns:a16="http://schemas.microsoft.com/office/drawing/2014/main" id="{9BE163A0-49C7-264D-5791-3F710D27083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38363" y="3889376"/>
            <a:ext cx="1700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8" name="Line 12">
            <a:extLst>
              <a:ext uri="{FF2B5EF4-FFF2-40B4-BE49-F238E27FC236}">
                <a16:creationId xmlns:a16="http://schemas.microsoft.com/office/drawing/2014/main" id="{A72B1B70-755A-C7E6-912F-9CE267AE285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84400" y="5543551"/>
            <a:ext cx="174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9" name="Line 13">
            <a:extLst>
              <a:ext uri="{FF2B5EF4-FFF2-40B4-BE49-F238E27FC236}">
                <a16:creationId xmlns:a16="http://schemas.microsoft.com/office/drawing/2014/main" id="{4B64FEE6-05B7-5185-8FF9-D3241C99AD8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76688" y="4044951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0" name="Line 14">
            <a:extLst>
              <a:ext uri="{FF2B5EF4-FFF2-40B4-BE49-F238E27FC236}">
                <a16:creationId xmlns:a16="http://schemas.microsoft.com/office/drawing/2014/main" id="{24EF6554-E47E-1491-9606-7B4E6A924685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4067175" y="3992563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1" name="Line 15">
            <a:extLst>
              <a:ext uri="{FF2B5EF4-FFF2-40B4-BE49-F238E27FC236}">
                <a16:creationId xmlns:a16="http://schemas.microsoft.com/office/drawing/2014/main" id="{A3B7126F-A75A-7E74-344F-3850A63601F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08175" y="4044951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2" name="Line 16">
            <a:extLst>
              <a:ext uri="{FF2B5EF4-FFF2-40B4-BE49-F238E27FC236}">
                <a16:creationId xmlns:a16="http://schemas.microsoft.com/office/drawing/2014/main" id="{692232F4-6082-FA3D-0D90-8E4BE00473CC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046288" y="4044951"/>
            <a:ext cx="0" cy="1292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3" name="Line 17">
            <a:extLst>
              <a:ext uri="{FF2B5EF4-FFF2-40B4-BE49-F238E27FC236}">
                <a16:creationId xmlns:a16="http://schemas.microsoft.com/office/drawing/2014/main" id="{E25C6E69-5E20-3747-CF86-F3F0D3A45F6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38363" y="3992563"/>
            <a:ext cx="174625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4" name="Line 18">
            <a:extLst>
              <a:ext uri="{FF2B5EF4-FFF2-40B4-BE49-F238E27FC236}">
                <a16:creationId xmlns:a16="http://schemas.microsoft.com/office/drawing/2014/main" id="{E6EB11EE-8649-505C-4B71-4765270FBEB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98525" y="4613276"/>
            <a:ext cx="3032125" cy="82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5" name="Rectangle 19">
            <a:extLst>
              <a:ext uri="{FF2B5EF4-FFF2-40B4-BE49-F238E27FC236}">
                <a16:creationId xmlns:a16="http://schemas.microsoft.com/office/drawing/2014/main" id="{4A2144FA-0D3A-7674-8901-2F73021D7B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5027613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6926" name="Rectangle 20">
            <a:extLst>
              <a:ext uri="{FF2B5EF4-FFF2-40B4-BE49-F238E27FC236}">
                <a16:creationId xmlns:a16="http://schemas.microsoft.com/office/drawing/2014/main" id="{67D37A07-3B9F-D79E-46B3-D36A8FC6EB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3941763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6927" name="Rectangle 21">
            <a:extLst>
              <a:ext uri="{FF2B5EF4-FFF2-40B4-BE49-F238E27FC236}">
                <a16:creationId xmlns:a16="http://schemas.microsoft.com/office/drawing/2014/main" id="{D3E67313-AF41-86DC-FFEB-233A1E2587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87500" y="4251326"/>
            <a:ext cx="41275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928" name="Rectangle 22">
            <a:extLst>
              <a:ext uri="{FF2B5EF4-FFF2-40B4-BE49-F238E27FC236}">
                <a16:creationId xmlns:a16="http://schemas.microsoft.com/office/drawing/2014/main" id="{3B028846-1D48-A9A7-3BE9-7115787071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4213" y="4251326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6929" name="Rectangle 23">
            <a:extLst>
              <a:ext uri="{FF2B5EF4-FFF2-40B4-BE49-F238E27FC236}">
                <a16:creationId xmlns:a16="http://schemas.microsoft.com/office/drawing/2014/main" id="{281DDBEB-D129-C7EA-7DA0-9E06E1F035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3579813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30" name="Rectangle 24">
            <a:extLst>
              <a:ext uri="{FF2B5EF4-FFF2-40B4-BE49-F238E27FC236}">
                <a16:creationId xmlns:a16="http://schemas.microsoft.com/office/drawing/2014/main" id="{9300700D-3115-7BAE-FE2F-05B0C49AC5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5492751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931" name="Rectangle 25">
            <a:extLst>
              <a:ext uri="{FF2B5EF4-FFF2-40B4-BE49-F238E27FC236}">
                <a16:creationId xmlns:a16="http://schemas.microsoft.com/office/drawing/2014/main" id="{65D6BB02-12FD-4D54-A7CC-2CAAC9686C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11488" y="4975226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6932" name="Rectangle 26">
            <a:extLst>
              <a:ext uri="{FF2B5EF4-FFF2-40B4-BE49-F238E27FC236}">
                <a16:creationId xmlns:a16="http://schemas.microsoft.com/office/drawing/2014/main" id="{902FEEDD-37F0-3636-8F8F-66BBC916E7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54425" y="4406901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6933" name="Rectangle 27">
            <a:extLst>
              <a:ext uri="{FF2B5EF4-FFF2-40B4-BE49-F238E27FC236}">
                <a16:creationId xmlns:a16="http://schemas.microsoft.com/office/drawing/2014/main" id="{A5256BD3-87A0-5766-D223-48E4E0858E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4354513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6934" name="Rectangle 28">
            <a:extLst>
              <a:ext uri="{FF2B5EF4-FFF2-40B4-BE49-F238E27FC236}">
                <a16:creationId xmlns:a16="http://schemas.microsoft.com/office/drawing/2014/main" id="{BD931DC1-9419-6625-7096-3DA20F9496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4406901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6935" name="Rectangle 29">
            <a:extLst>
              <a:ext uri="{FF2B5EF4-FFF2-40B4-BE49-F238E27FC236}">
                <a16:creationId xmlns:a16="http://schemas.microsoft.com/office/drawing/2014/main" id="{7D92DAA1-55AC-BB80-E183-C5C4289B5B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" y="4799013"/>
            <a:ext cx="50482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source</a:t>
            </a:r>
          </a:p>
        </p:txBody>
      </p:sp>
      <p:graphicFrame>
        <p:nvGraphicFramePr>
          <p:cNvPr id="227399" name="Group 71">
            <a:extLst>
              <a:ext uri="{FF2B5EF4-FFF2-40B4-BE49-F238E27FC236}">
                <a16:creationId xmlns:a16="http://schemas.microsoft.com/office/drawing/2014/main" id="{6A361A33-C8F6-D946-40FC-E71C7E243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03661"/>
              </p:ext>
            </p:extLst>
          </p:nvPr>
        </p:nvGraphicFramePr>
        <p:xfrm>
          <a:off x="4711701" y="2103439"/>
          <a:ext cx="4114800" cy="4295774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2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node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from node 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to other nodes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best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0FC76AA0-9269-7AC4-5279-2C2AFD470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024" y="304800"/>
            <a:ext cx="8686800" cy="598449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– Dijkstra Algorithm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>
            <a:extLst>
              <a:ext uri="{FF2B5EF4-FFF2-40B4-BE49-F238E27FC236}">
                <a16:creationId xmlns:a16="http://schemas.microsoft.com/office/drawing/2014/main" id="{C08E4FDC-2909-A2D3-C93C-AA4C76E27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5326" y="1062831"/>
            <a:ext cx="8686800" cy="96758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step 3: recalculate the path to all other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find the shortest path to node 0. node 1 is selected</a:t>
            </a:r>
          </a:p>
        </p:txBody>
      </p:sp>
      <p:sp>
        <p:nvSpPr>
          <p:cNvPr id="37934" name="Oval 4">
            <a:extLst>
              <a:ext uri="{FF2B5EF4-FFF2-40B4-BE49-F238E27FC236}">
                <a16:creationId xmlns:a16="http://schemas.microsoft.com/office/drawing/2014/main" id="{48886942-42FA-2D06-6FD2-CF6C95F6A6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263" y="4406901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7935" name="Oval 5">
            <a:extLst>
              <a:ext uri="{FF2B5EF4-FFF2-40B4-BE49-F238E27FC236}">
                <a16:creationId xmlns:a16="http://schemas.microsoft.com/office/drawing/2014/main" id="{C8149F9C-418E-15B1-7D10-6E872A79CC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7688" y="3683001"/>
            <a:ext cx="320675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1 </a:t>
            </a:r>
          </a:p>
        </p:txBody>
      </p:sp>
      <p:sp>
        <p:nvSpPr>
          <p:cNvPr id="37936" name="Oval 6">
            <a:extLst>
              <a:ext uri="{FF2B5EF4-FFF2-40B4-BE49-F238E27FC236}">
                <a16:creationId xmlns:a16="http://schemas.microsoft.com/office/drawing/2014/main" id="{87173940-3981-A964-4853-B11DD562D7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2138" y="5337176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37937" name="Oval 7">
            <a:extLst>
              <a:ext uri="{FF2B5EF4-FFF2-40B4-BE49-F238E27FC236}">
                <a16:creationId xmlns:a16="http://schemas.microsoft.com/office/drawing/2014/main" id="{6B3D935E-7BC3-A170-5C66-9C0EDB3E98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38575" y="3683001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 </a:t>
            </a:r>
          </a:p>
        </p:txBody>
      </p:sp>
      <p:sp>
        <p:nvSpPr>
          <p:cNvPr id="37938" name="Oval 8">
            <a:extLst>
              <a:ext uri="{FF2B5EF4-FFF2-40B4-BE49-F238E27FC236}">
                <a16:creationId xmlns:a16="http://schemas.microsoft.com/office/drawing/2014/main" id="{7D803EA3-6A2D-2EC3-F459-601455F883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5337176"/>
            <a:ext cx="320675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4 </a:t>
            </a:r>
          </a:p>
        </p:txBody>
      </p:sp>
      <p:sp>
        <p:nvSpPr>
          <p:cNvPr id="37939" name="Line 9">
            <a:extLst>
              <a:ext uri="{FF2B5EF4-FFF2-40B4-BE49-F238E27FC236}">
                <a16:creationId xmlns:a16="http://schemas.microsoft.com/office/drawing/2014/main" id="{603B3A1D-C255-548C-0794-1EA8F0C540A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52488" y="4716463"/>
            <a:ext cx="1009650" cy="723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0" name="Line 10">
            <a:extLst>
              <a:ext uri="{FF2B5EF4-FFF2-40B4-BE49-F238E27FC236}">
                <a16:creationId xmlns:a16="http://schemas.microsoft.com/office/drawing/2014/main" id="{87AACFCD-1DCA-E15E-EF85-2F1B60DEDDB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52488" y="3941763"/>
            <a:ext cx="965200" cy="515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1" name="Line 11">
            <a:extLst>
              <a:ext uri="{FF2B5EF4-FFF2-40B4-BE49-F238E27FC236}">
                <a16:creationId xmlns:a16="http://schemas.microsoft.com/office/drawing/2014/main" id="{4F436FE2-B158-994A-72ED-7A9C406670D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38363" y="3889376"/>
            <a:ext cx="1700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2" name="Line 12">
            <a:extLst>
              <a:ext uri="{FF2B5EF4-FFF2-40B4-BE49-F238E27FC236}">
                <a16:creationId xmlns:a16="http://schemas.microsoft.com/office/drawing/2014/main" id="{42C742A7-6AD6-09F1-F2D4-E81AE2FBE2E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84400" y="5543551"/>
            <a:ext cx="174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3" name="Line 13">
            <a:extLst>
              <a:ext uri="{FF2B5EF4-FFF2-40B4-BE49-F238E27FC236}">
                <a16:creationId xmlns:a16="http://schemas.microsoft.com/office/drawing/2014/main" id="{F063BC6A-9D73-F391-9723-E5D14F221D5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76688" y="4044951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4" name="Line 14">
            <a:extLst>
              <a:ext uri="{FF2B5EF4-FFF2-40B4-BE49-F238E27FC236}">
                <a16:creationId xmlns:a16="http://schemas.microsoft.com/office/drawing/2014/main" id="{F5C58073-E0FF-8EC7-9B54-9B2AC2110CC4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4067175" y="3992563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5" name="Line 15">
            <a:extLst>
              <a:ext uri="{FF2B5EF4-FFF2-40B4-BE49-F238E27FC236}">
                <a16:creationId xmlns:a16="http://schemas.microsoft.com/office/drawing/2014/main" id="{469F0B6E-328A-4327-F6BA-103C77117C5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08175" y="4044951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6" name="Line 16">
            <a:extLst>
              <a:ext uri="{FF2B5EF4-FFF2-40B4-BE49-F238E27FC236}">
                <a16:creationId xmlns:a16="http://schemas.microsoft.com/office/drawing/2014/main" id="{F71CE67A-DE6E-AA70-D94E-243C9FCB429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046288" y="4044951"/>
            <a:ext cx="0" cy="1292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7" name="Line 17">
            <a:extLst>
              <a:ext uri="{FF2B5EF4-FFF2-40B4-BE49-F238E27FC236}">
                <a16:creationId xmlns:a16="http://schemas.microsoft.com/office/drawing/2014/main" id="{6CFEA7B7-B1D7-D9DF-C4F6-ADAE6E02E864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38363" y="3992563"/>
            <a:ext cx="174625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8" name="Line 18">
            <a:extLst>
              <a:ext uri="{FF2B5EF4-FFF2-40B4-BE49-F238E27FC236}">
                <a16:creationId xmlns:a16="http://schemas.microsoft.com/office/drawing/2014/main" id="{884E8108-91FF-7084-36C3-70EBF0021F4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98525" y="4613276"/>
            <a:ext cx="3032125" cy="82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9" name="Rectangle 19">
            <a:extLst>
              <a:ext uri="{FF2B5EF4-FFF2-40B4-BE49-F238E27FC236}">
                <a16:creationId xmlns:a16="http://schemas.microsoft.com/office/drawing/2014/main" id="{C9EAE2B2-F490-3C7A-1A5C-23E84D3F0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5027613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7950" name="Rectangle 20">
            <a:extLst>
              <a:ext uri="{FF2B5EF4-FFF2-40B4-BE49-F238E27FC236}">
                <a16:creationId xmlns:a16="http://schemas.microsoft.com/office/drawing/2014/main" id="{873D4DBA-6B07-86DA-1946-F4B2E7C631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3941763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7951" name="Rectangle 21">
            <a:extLst>
              <a:ext uri="{FF2B5EF4-FFF2-40B4-BE49-F238E27FC236}">
                <a16:creationId xmlns:a16="http://schemas.microsoft.com/office/drawing/2014/main" id="{A8EB64FE-EEEB-24CF-6033-400C989C1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87500" y="4251326"/>
            <a:ext cx="41275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7952" name="Rectangle 22">
            <a:extLst>
              <a:ext uri="{FF2B5EF4-FFF2-40B4-BE49-F238E27FC236}">
                <a16:creationId xmlns:a16="http://schemas.microsoft.com/office/drawing/2014/main" id="{F116E288-EC19-A601-31A6-3F6AEECB6E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4213" y="4251326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7953" name="Rectangle 23">
            <a:extLst>
              <a:ext uri="{FF2B5EF4-FFF2-40B4-BE49-F238E27FC236}">
                <a16:creationId xmlns:a16="http://schemas.microsoft.com/office/drawing/2014/main" id="{46DFA960-D232-7512-973D-05B3154C0B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3579813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7954" name="Rectangle 24">
            <a:extLst>
              <a:ext uri="{FF2B5EF4-FFF2-40B4-BE49-F238E27FC236}">
                <a16:creationId xmlns:a16="http://schemas.microsoft.com/office/drawing/2014/main" id="{B1B401FB-FBAE-0D0E-B9F4-B2FADA55B5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5492751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7955" name="Rectangle 25">
            <a:extLst>
              <a:ext uri="{FF2B5EF4-FFF2-40B4-BE49-F238E27FC236}">
                <a16:creationId xmlns:a16="http://schemas.microsoft.com/office/drawing/2014/main" id="{3B74EC73-559E-E202-A21B-2ACD3E23BF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11488" y="4975226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7956" name="Rectangle 26">
            <a:extLst>
              <a:ext uri="{FF2B5EF4-FFF2-40B4-BE49-F238E27FC236}">
                <a16:creationId xmlns:a16="http://schemas.microsoft.com/office/drawing/2014/main" id="{F9D2481C-85A9-E122-336B-B0683BC8F9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54425" y="4406901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7957" name="Rectangle 27">
            <a:extLst>
              <a:ext uri="{FF2B5EF4-FFF2-40B4-BE49-F238E27FC236}">
                <a16:creationId xmlns:a16="http://schemas.microsoft.com/office/drawing/2014/main" id="{6A2D6789-BF48-C97B-2CED-EBDD470064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4354513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7958" name="Rectangle 28">
            <a:extLst>
              <a:ext uri="{FF2B5EF4-FFF2-40B4-BE49-F238E27FC236}">
                <a16:creationId xmlns:a16="http://schemas.microsoft.com/office/drawing/2014/main" id="{0AE6230F-D1C6-D952-BC79-025D211150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4406901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7959" name="Rectangle 29">
            <a:extLst>
              <a:ext uri="{FF2B5EF4-FFF2-40B4-BE49-F238E27FC236}">
                <a16:creationId xmlns:a16="http://schemas.microsoft.com/office/drawing/2014/main" id="{4A7EBA0A-07F2-68F0-D675-A8B0780E54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" y="4799013"/>
            <a:ext cx="50482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source</a:t>
            </a:r>
          </a:p>
        </p:txBody>
      </p:sp>
      <p:graphicFrame>
        <p:nvGraphicFramePr>
          <p:cNvPr id="227399" name="Group 71">
            <a:extLst>
              <a:ext uri="{FF2B5EF4-FFF2-40B4-BE49-F238E27FC236}">
                <a16:creationId xmlns:a16="http://schemas.microsoft.com/office/drawing/2014/main" id="{3C238522-2A5C-523C-DCCA-325D182F2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074265"/>
              </p:ext>
            </p:extLst>
          </p:nvPr>
        </p:nvGraphicFramePr>
        <p:xfrm>
          <a:off x="4756149" y="2088878"/>
          <a:ext cx="4114800" cy="4295774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2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node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from node 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to other nodes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best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en-US" sz="2000" b="0" i="0" u="none" strike="noStrike" cap="none" normalizeH="0" baseline="-2500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609EB81C-D4CA-D9EB-1484-34296BC01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024" y="304800"/>
            <a:ext cx="8686800" cy="598449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– Dijkstra Algorithm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>
            <a:extLst>
              <a:ext uri="{FF2B5EF4-FFF2-40B4-BE49-F238E27FC236}">
                <a16:creationId xmlns:a16="http://schemas.microsoft.com/office/drawing/2014/main" id="{F17C5CCA-7197-AC7B-0823-3248FA2811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024" y="1070750"/>
            <a:ext cx="8686800" cy="106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step 3: recalculate the path to all other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find the shortest path to node 0. node 1 is selected</a:t>
            </a:r>
          </a:p>
        </p:txBody>
      </p:sp>
      <p:sp>
        <p:nvSpPr>
          <p:cNvPr id="38958" name="Oval 4">
            <a:extLst>
              <a:ext uri="{FF2B5EF4-FFF2-40B4-BE49-F238E27FC236}">
                <a16:creationId xmlns:a16="http://schemas.microsoft.com/office/drawing/2014/main" id="{9CC7263E-9C32-8BFB-8341-26A96E14BF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263" y="4406901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8959" name="Oval 5">
            <a:extLst>
              <a:ext uri="{FF2B5EF4-FFF2-40B4-BE49-F238E27FC236}">
                <a16:creationId xmlns:a16="http://schemas.microsoft.com/office/drawing/2014/main" id="{3B4E1237-E10C-9329-B491-0814A53217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7688" y="3683001"/>
            <a:ext cx="320675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1 </a:t>
            </a:r>
          </a:p>
        </p:txBody>
      </p:sp>
      <p:sp>
        <p:nvSpPr>
          <p:cNvPr id="38960" name="Oval 6">
            <a:extLst>
              <a:ext uri="{FF2B5EF4-FFF2-40B4-BE49-F238E27FC236}">
                <a16:creationId xmlns:a16="http://schemas.microsoft.com/office/drawing/2014/main" id="{295ECB95-2768-D7FE-C397-7E340E6C26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2138" y="5337176"/>
            <a:ext cx="322263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38961" name="Oval 7">
            <a:extLst>
              <a:ext uri="{FF2B5EF4-FFF2-40B4-BE49-F238E27FC236}">
                <a16:creationId xmlns:a16="http://schemas.microsoft.com/office/drawing/2014/main" id="{E84F6F12-1DB0-9D39-6F2E-685CC59067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38575" y="3683001"/>
            <a:ext cx="320675" cy="36195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 </a:t>
            </a:r>
          </a:p>
        </p:txBody>
      </p:sp>
      <p:sp>
        <p:nvSpPr>
          <p:cNvPr id="38962" name="Oval 8">
            <a:extLst>
              <a:ext uri="{FF2B5EF4-FFF2-40B4-BE49-F238E27FC236}">
                <a16:creationId xmlns:a16="http://schemas.microsoft.com/office/drawing/2014/main" id="{57CCA4BF-526B-D89F-C569-8709E86A12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5337176"/>
            <a:ext cx="320675" cy="3619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  <a:latin typeface="Times New Roman" panose="02020603050405020304" pitchFamily="18" charset="0"/>
              </a:rPr>
              <a:t>4 </a:t>
            </a:r>
          </a:p>
        </p:txBody>
      </p:sp>
      <p:sp>
        <p:nvSpPr>
          <p:cNvPr id="38963" name="Line 9">
            <a:extLst>
              <a:ext uri="{FF2B5EF4-FFF2-40B4-BE49-F238E27FC236}">
                <a16:creationId xmlns:a16="http://schemas.microsoft.com/office/drawing/2014/main" id="{E6FBA5CB-D5B2-6387-8655-1B43C122872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52488" y="4716463"/>
            <a:ext cx="1009650" cy="723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64" name="Line 10">
            <a:extLst>
              <a:ext uri="{FF2B5EF4-FFF2-40B4-BE49-F238E27FC236}">
                <a16:creationId xmlns:a16="http://schemas.microsoft.com/office/drawing/2014/main" id="{8912E2CB-8E30-ED0E-1704-F9784E8761D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52488" y="3941763"/>
            <a:ext cx="965200" cy="515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65" name="Line 11">
            <a:extLst>
              <a:ext uri="{FF2B5EF4-FFF2-40B4-BE49-F238E27FC236}">
                <a16:creationId xmlns:a16="http://schemas.microsoft.com/office/drawing/2014/main" id="{F8164DB2-DEBC-4EB2-8360-F88EFD6E15A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38363" y="3889376"/>
            <a:ext cx="1700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66" name="Line 12">
            <a:extLst>
              <a:ext uri="{FF2B5EF4-FFF2-40B4-BE49-F238E27FC236}">
                <a16:creationId xmlns:a16="http://schemas.microsoft.com/office/drawing/2014/main" id="{AAD9A6D0-3FE2-BF00-0146-95C875C2672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84400" y="5543551"/>
            <a:ext cx="174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67" name="Line 13">
            <a:extLst>
              <a:ext uri="{FF2B5EF4-FFF2-40B4-BE49-F238E27FC236}">
                <a16:creationId xmlns:a16="http://schemas.microsoft.com/office/drawing/2014/main" id="{27F7F574-C6AA-C309-054F-0835F3266C9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76688" y="4044951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68" name="Line 14">
            <a:extLst>
              <a:ext uri="{FF2B5EF4-FFF2-40B4-BE49-F238E27FC236}">
                <a16:creationId xmlns:a16="http://schemas.microsoft.com/office/drawing/2014/main" id="{588DE17E-213E-E810-C623-6A9C46561664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4067175" y="3992563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69" name="Line 15">
            <a:extLst>
              <a:ext uri="{FF2B5EF4-FFF2-40B4-BE49-F238E27FC236}">
                <a16:creationId xmlns:a16="http://schemas.microsoft.com/office/drawing/2014/main" id="{010341FE-705C-A259-CD33-A92F69F4541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08175" y="4044951"/>
            <a:ext cx="0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70" name="Line 16">
            <a:extLst>
              <a:ext uri="{FF2B5EF4-FFF2-40B4-BE49-F238E27FC236}">
                <a16:creationId xmlns:a16="http://schemas.microsoft.com/office/drawing/2014/main" id="{7ECD0CE1-5EB0-0586-35E7-993247C8DBE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046288" y="4044951"/>
            <a:ext cx="0" cy="1292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71" name="Line 17">
            <a:extLst>
              <a:ext uri="{FF2B5EF4-FFF2-40B4-BE49-F238E27FC236}">
                <a16:creationId xmlns:a16="http://schemas.microsoft.com/office/drawing/2014/main" id="{5D64799A-43D9-A5AF-F3B9-E23C67A2FAE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38363" y="3992563"/>
            <a:ext cx="174625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72" name="Line 18">
            <a:extLst>
              <a:ext uri="{FF2B5EF4-FFF2-40B4-BE49-F238E27FC236}">
                <a16:creationId xmlns:a16="http://schemas.microsoft.com/office/drawing/2014/main" id="{B5839200-7A99-1912-2335-0B124D3D84B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98525" y="4613276"/>
            <a:ext cx="3032125" cy="82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73" name="Rectangle 19">
            <a:extLst>
              <a:ext uri="{FF2B5EF4-FFF2-40B4-BE49-F238E27FC236}">
                <a16:creationId xmlns:a16="http://schemas.microsoft.com/office/drawing/2014/main" id="{5AC2448A-7A2D-99F1-3CAA-9AC109C3CB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5027613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8974" name="Rectangle 20">
            <a:extLst>
              <a:ext uri="{FF2B5EF4-FFF2-40B4-BE49-F238E27FC236}">
                <a16:creationId xmlns:a16="http://schemas.microsoft.com/office/drawing/2014/main" id="{7BDD799E-38F0-32A3-BE2C-DABE5E5A19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75" y="3941763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8975" name="Rectangle 21">
            <a:extLst>
              <a:ext uri="{FF2B5EF4-FFF2-40B4-BE49-F238E27FC236}">
                <a16:creationId xmlns:a16="http://schemas.microsoft.com/office/drawing/2014/main" id="{C0B29C3A-FFAE-8197-9147-87B32FEC64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87500" y="4251326"/>
            <a:ext cx="41275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976" name="Rectangle 22">
            <a:extLst>
              <a:ext uri="{FF2B5EF4-FFF2-40B4-BE49-F238E27FC236}">
                <a16:creationId xmlns:a16="http://schemas.microsoft.com/office/drawing/2014/main" id="{C0AE527C-DF2C-3C79-4736-AB450C283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4213" y="4251326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8977" name="Rectangle 23">
            <a:extLst>
              <a:ext uri="{FF2B5EF4-FFF2-40B4-BE49-F238E27FC236}">
                <a16:creationId xmlns:a16="http://schemas.microsoft.com/office/drawing/2014/main" id="{260D2058-7A62-12D1-43B9-712ABBE49D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3579813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8978" name="Rectangle 24">
            <a:extLst>
              <a:ext uri="{FF2B5EF4-FFF2-40B4-BE49-F238E27FC236}">
                <a16:creationId xmlns:a16="http://schemas.microsoft.com/office/drawing/2014/main" id="{97E6D860-F066-3DDC-4E3C-6E76D45640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5492751"/>
            <a:ext cx="4143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979" name="Rectangle 25">
            <a:extLst>
              <a:ext uri="{FF2B5EF4-FFF2-40B4-BE49-F238E27FC236}">
                <a16:creationId xmlns:a16="http://schemas.microsoft.com/office/drawing/2014/main" id="{043AE3DE-6672-2DB1-DA3A-B3A76634C2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11488" y="4975226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8980" name="Rectangle 26">
            <a:extLst>
              <a:ext uri="{FF2B5EF4-FFF2-40B4-BE49-F238E27FC236}">
                <a16:creationId xmlns:a16="http://schemas.microsoft.com/office/drawing/2014/main" id="{6EC8032A-6545-9C03-DE08-8E9E72269E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54425" y="4406901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8981" name="Rectangle 27">
            <a:extLst>
              <a:ext uri="{FF2B5EF4-FFF2-40B4-BE49-F238E27FC236}">
                <a16:creationId xmlns:a16="http://schemas.microsoft.com/office/drawing/2014/main" id="{CC9F9D59-12B2-D11D-8938-C2FBACFBC7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4354513"/>
            <a:ext cx="4143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8982" name="Rectangle 28">
            <a:extLst>
              <a:ext uri="{FF2B5EF4-FFF2-40B4-BE49-F238E27FC236}">
                <a16:creationId xmlns:a16="http://schemas.microsoft.com/office/drawing/2014/main" id="{DCDB108F-BF77-98C6-E9B6-29077D8F40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0650" y="4406901"/>
            <a:ext cx="41275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8983" name="Rectangle 29">
            <a:extLst>
              <a:ext uri="{FF2B5EF4-FFF2-40B4-BE49-F238E27FC236}">
                <a16:creationId xmlns:a16="http://schemas.microsoft.com/office/drawing/2014/main" id="{9D27A18A-1E88-0ED5-B0F7-3B3D903E3C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" y="4799013"/>
            <a:ext cx="50482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source</a:t>
            </a:r>
          </a:p>
        </p:txBody>
      </p:sp>
      <p:graphicFrame>
        <p:nvGraphicFramePr>
          <p:cNvPr id="227399" name="Group 71">
            <a:extLst>
              <a:ext uri="{FF2B5EF4-FFF2-40B4-BE49-F238E27FC236}">
                <a16:creationId xmlns:a16="http://schemas.microsoft.com/office/drawing/2014/main" id="{6FF9649D-D38A-ABF2-F65F-4CBFA2FDC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245354"/>
              </p:ext>
            </p:extLst>
          </p:nvPr>
        </p:nvGraphicFramePr>
        <p:xfrm>
          <a:off x="4756149" y="2051845"/>
          <a:ext cx="4114800" cy="4295774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2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node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from node 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to other nodes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best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54C29A50-1F64-821D-9D58-93242843C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024" y="304800"/>
            <a:ext cx="8686800" cy="598449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– Dijkstra Algorithm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>
            <a:extLst>
              <a:ext uri="{FF2B5EF4-FFF2-40B4-BE49-F238E27FC236}">
                <a16:creationId xmlns:a16="http://schemas.microsoft.com/office/drawing/2014/main" id="{9AFF929D-9F01-ABF4-D009-033CF961C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58824"/>
            <a:ext cx="8681224" cy="59844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Now we get all shortest paths to each node </a:t>
            </a:r>
          </a:p>
          <a:p>
            <a:pPr eaLnBrk="1" hangingPunct="1"/>
            <a:endParaRPr lang="en-US" altLang="en-US" sz="2400" dirty="0"/>
          </a:p>
        </p:txBody>
      </p:sp>
      <p:grpSp>
        <p:nvGrpSpPr>
          <p:cNvPr id="39940" name="Group 72">
            <a:extLst>
              <a:ext uri="{FF2B5EF4-FFF2-40B4-BE49-F238E27FC236}">
                <a16:creationId xmlns:a16="http://schemas.microsoft.com/office/drawing/2014/main" id="{E9AFBF03-D6C7-052F-6CCE-FC6574B0A135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52738"/>
            <a:ext cx="3962400" cy="2222500"/>
            <a:chOff x="144" y="1797"/>
            <a:chExt cx="2496" cy="1400"/>
          </a:xfrm>
        </p:grpSpPr>
        <p:sp>
          <p:nvSpPr>
            <p:cNvPr id="39982" name="Oval 4">
              <a:extLst>
                <a:ext uri="{FF2B5EF4-FFF2-40B4-BE49-F238E27FC236}">
                  <a16:creationId xmlns:a16="http://schemas.microsoft.com/office/drawing/2014/main" id="{2A5B86C0-4FF6-1F32-42C9-E0BF1C98C8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7" y="2318"/>
              <a:ext cx="203" cy="22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983" name="Oval 5">
              <a:extLst>
                <a:ext uri="{FF2B5EF4-FFF2-40B4-BE49-F238E27FC236}">
                  <a16:creationId xmlns:a16="http://schemas.microsoft.com/office/drawing/2014/main" id="{67C69589-A4C9-881F-37A0-B83B1C004C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49" y="1862"/>
              <a:ext cx="202" cy="22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00"/>
                  </a:solidFill>
                  <a:latin typeface="Times New Roman" panose="02020603050405020304" pitchFamily="18" charset="0"/>
                </a:rPr>
                <a:t>1 </a:t>
              </a:r>
            </a:p>
          </p:txBody>
        </p:sp>
        <p:sp>
          <p:nvSpPr>
            <p:cNvPr id="39984" name="Oval 6">
              <a:extLst>
                <a:ext uri="{FF2B5EF4-FFF2-40B4-BE49-F238E27FC236}">
                  <a16:creationId xmlns:a16="http://schemas.microsoft.com/office/drawing/2014/main" id="{2EE23C1F-2830-A720-909A-5B906A725D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77" y="2904"/>
              <a:ext cx="203" cy="22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00"/>
                  </a:solidFill>
                  <a:latin typeface="Times New Roman" panose="02020603050405020304" pitchFamily="18" charset="0"/>
                </a:rPr>
                <a:t> 2</a:t>
              </a:r>
            </a:p>
          </p:txBody>
        </p:sp>
        <p:sp>
          <p:nvSpPr>
            <p:cNvPr id="39985" name="Oval 7">
              <a:extLst>
                <a:ext uri="{FF2B5EF4-FFF2-40B4-BE49-F238E27FC236}">
                  <a16:creationId xmlns:a16="http://schemas.microsoft.com/office/drawing/2014/main" id="{EE245979-B6E2-A70A-48FD-96CCD9AD693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2" y="1862"/>
              <a:ext cx="202" cy="22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00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9986" name="Oval 8">
              <a:extLst>
                <a:ext uri="{FF2B5EF4-FFF2-40B4-BE49-F238E27FC236}">
                  <a16:creationId xmlns:a16="http://schemas.microsoft.com/office/drawing/2014/main" id="{3611FA05-CC66-5803-5725-AC15BAC5784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80" y="2904"/>
              <a:ext cx="202" cy="22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00"/>
                  </a:solidFill>
                  <a:latin typeface="Times New Roman" panose="02020603050405020304" pitchFamily="18" charset="0"/>
                </a:rPr>
                <a:t>4 </a:t>
              </a:r>
            </a:p>
          </p:txBody>
        </p:sp>
        <p:sp>
          <p:nvSpPr>
            <p:cNvPr id="39987" name="Line 9">
              <a:extLst>
                <a:ext uri="{FF2B5EF4-FFF2-40B4-BE49-F238E27FC236}">
                  <a16:creationId xmlns:a16="http://schemas.microsoft.com/office/drawing/2014/main" id="{FF5EF00E-C541-6F77-625C-A9866E9F6B9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1" y="2513"/>
              <a:ext cx="636" cy="4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8" name="Line 10">
              <a:extLst>
                <a:ext uri="{FF2B5EF4-FFF2-40B4-BE49-F238E27FC236}">
                  <a16:creationId xmlns:a16="http://schemas.microsoft.com/office/drawing/2014/main" id="{5EC91A9D-C61C-A499-07A7-57928B423CA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41" y="2025"/>
              <a:ext cx="608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9" name="Line 11">
              <a:extLst>
                <a:ext uri="{FF2B5EF4-FFF2-40B4-BE49-F238E27FC236}">
                  <a16:creationId xmlns:a16="http://schemas.microsoft.com/office/drawing/2014/main" id="{83F9518A-127C-4CF2-A654-62991A17F6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1" y="1992"/>
              <a:ext cx="10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0" name="Line 12">
              <a:extLst>
                <a:ext uri="{FF2B5EF4-FFF2-40B4-BE49-F238E27FC236}">
                  <a16:creationId xmlns:a16="http://schemas.microsoft.com/office/drawing/2014/main" id="{CF6BA5FE-A9B3-AF79-1686-DB38099A16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80" y="3034"/>
              <a:ext cx="11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1" name="Line 13">
              <a:extLst>
                <a:ext uri="{FF2B5EF4-FFF2-40B4-BE49-F238E27FC236}">
                  <a16:creationId xmlns:a16="http://schemas.microsoft.com/office/drawing/2014/main" id="{8F755F3D-A5AD-2197-AE64-D8649C50859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09" y="2090"/>
              <a:ext cx="0" cy="8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2" name="Line 14">
              <a:extLst>
                <a:ext uri="{FF2B5EF4-FFF2-40B4-BE49-F238E27FC236}">
                  <a16:creationId xmlns:a16="http://schemas.microsoft.com/office/drawing/2014/main" id="{7D7C523A-D843-34E6-7426-4DC8073FDF1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466" y="2057"/>
              <a:ext cx="0" cy="8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3" name="Line 15">
              <a:extLst>
                <a:ext uri="{FF2B5EF4-FFF2-40B4-BE49-F238E27FC236}">
                  <a16:creationId xmlns:a16="http://schemas.microsoft.com/office/drawing/2014/main" id="{AF683ECF-9489-60D1-CA0B-B62C3B33EC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06" y="2090"/>
              <a:ext cx="0" cy="8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4" name="Line 16">
              <a:extLst>
                <a:ext uri="{FF2B5EF4-FFF2-40B4-BE49-F238E27FC236}">
                  <a16:creationId xmlns:a16="http://schemas.microsoft.com/office/drawing/2014/main" id="{E8016395-F7A9-3E37-CEB0-1E9D9EE345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193" y="2090"/>
              <a:ext cx="0" cy="8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5" name="Line 17">
              <a:extLst>
                <a:ext uri="{FF2B5EF4-FFF2-40B4-BE49-F238E27FC236}">
                  <a16:creationId xmlns:a16="http://schemas.microsoft.com/office/drawing/2014/main" id="{4350B65A-E4EE-AB13-AE43-C0988DF2646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51" y="2057"/>
              <a:ext cx="1100" cy="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6" name="Line 18">
              <a:extLst>
                <a:ext uri="{FF2B5EF4-FFF2-40B4-BE49-F238E27FC236}">
                  <a16:creationId xmlns:a16="http://schemas.microsoft.com/office/drawing/2014/main" id="{7AF6C101-B486-6FFC-3162-D971F69EC7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0" y="2448"/>
              <a:ext cx="1910" cy="5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7" name="Rectangle 19">
              <a:extLst>
                <a:ext uri="{FF2B5EF4-FFF2-40B4-BE49-F238E27FC236}">
                  <a16:creationId xmlns:a16="http://schemas.microsoft.com/office/drawing/2014/main" id="{4F00BAA1-0F3E-71E8-3DC3-46E9A65CBE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6" y="2709"/>
              <a:ext cx="260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9998" name="Rectangle 20">
              <a:extLst>
                <a:ext uri="{FF2B5EF4-FFF2-40B4-BE49-F238E27FC236}">
                  <a16:creationId xmlns:a16="http://schemas.microsoft.com/office/drawing/2014/main" id="{25FBEDB3-CE60-5DAA-E6BF-86675D67A43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6" y="2025"/>
              <a:ext cx="260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9999" name="Rectangle 21">
              <a:extLst>
                <a:ext uri="{FF2B5EF4-FFF2-40B4-BE49-F238E27FC236}">
                  <a16:creationId xmlns:a16="http://schemas.microsoft.com/office/drawing/2014/main" id="{D05005B2-BBA7-C8B8-9C3F-B500D5A36A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04" y="2220"/>
              <a:ext cx="260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000" name="Rectangle 22">
              <a:extLst>
                <a:ext uri="{FF2B5EF4-FFF2-40B4-BE49-F238E27FC236}">
                  <a16:creationId xmlns:a16="http://schemas.microsoft.com/office/drawing/2014/main" id="{0DAB6000-D29C-A79E-48FF-1547C592FA9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35" y="2220"/>
              <a:ext cx="261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0001" name="Rectangle 23">
              <a:extLst>
                <a:ext uri="{FF2B5EF4-FFF2-40B4-BE49-F238E27FC236}">
                  <a16:creationId xmlns:a16="http://schemas.microsoft.com/office/drawing/2014/main" id="{B4B548C5-C617-581D-90C8-ECFD45C762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27" y="1797"/>
              <a:ext cx="261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002" name="Rectangle 24">
              <a:extLst>
                <a:ext uri="{FF2B5EF4-FFF2-40B4-BE49-F238E27FC236}">
                  <a16:creationId xmlns:a16="http://schemas.microsoft.com/office/drawing/2014/main" id="{4A5E8AA2-B7EC-8AC7-3E55-1E895086F6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5" y="3002"/>
              <a:ext cx="261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003" name="Rectangle 25">
              <a:extLst>
                <a:ext uri="{FF2B5EF4-FFF2-40B4-BE49-F238E27FC236}">
                  <a16:creationId xmlns:a16="http://schemas.microsoft.com/office/drawing/2014/main" id="{6ACEB466-92C9-D73C-9483-CEE4C363DB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01" y="2676"/>
              <a:ext cx="260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40004" name="Rectangle 26">
              <a:extLst>
                <a:ext uri="{FF2B5EF4-FFF2-40B4-BE49-F238E27FC236}">
                  <a16:creationId xmlns:a16="http://schemas.microsoft.com/office/drawing/2014/main" id="{965FEDE4-AED6-EDD5-1A8E-5B2A943161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06" y="2318"/>
              <a:ext cx="260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005" name="Rectangle 27">
              <a:extLst>
                <a:ext uri="{FF2B5EF4-FFF2-40B4-BE49-F238E27FC236}">
                  <a16:creationId xmlns:a16="http://schemas.microsoft.com/office/drawing/2014/main" id="{BB5D7418-E789-A0F8-2FB6-F94526506E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5" y="2285"/>
              <a:ext cx="261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40006" name="Rectangle 28">
              <a:extLst>
                <a:ext uri="{FF2B5EF4-FFF2-40B4-BE49-F238E27FC236}">
                  <a16:creationId xmlns:a16="http://schemas.microsoft.com/office/drawing/2014/main" id="{343A730F-6A75-D11E-86F5-73451511B2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80" y="2318"/>
              <a:ext cx="260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0007" name="Rectangle 29">
              <a:extLst>
                <a:ext uri="{FF2B5EF4-FFF2-40B4-BE49-F238E27FC236}">
                  <a16:creationId xmlns:a16="http://schemas.microsoft.com/office/drawing/2014/main" id="{B2EB4C78-F0A7-8F94-E506-82FD59FF0C9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2565"/>
              <a:ext cx="318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source</a:t>
              </a:r>
            </a:p>
          </p:txBody>
        </p:sp>
      </p:grpSp>
      <p:graphicFrame>
        <p:nvGraphicFramePr>
          <p:cNvPr id="33" name="Group 71">
            <a:extLst>
              <a:ext uri="{FF2B5EF4-FFF2-40B4-BE49-F238E27FC236}">
                <a16:creationId xmlns:a16="http://schemas.microsoft.com/office/drawing/2014/main" id="{54530CB3-DD41-317F-274E-30FCC23CD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104620"/>
              </p:ext>
            </p:extLst>
          </p:nvPr>
        </p:nvGraphicFramePr>
        <p:xfrm>
          <a:off x="4695824" y="1924051"/>
          <a:ext cx="4114800" cy="4295774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2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node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from node 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to other nodes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(V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best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kumimoji="0" lang="en-US" alt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65BB16F6-7F87-572D-8023-4147851D6D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024" y="304800"/>
            <a:ext cx="8686800" cy="598449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– Dijkstra Algorithm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3BB63DD-73C8-46B7-5EC1-86A59FDB9D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024" y="211872"/>
            <a:ext cx="8697952" cy="702527"/>
          </a:xfrm>
        </p:spPr>
        <p:txBody>
          <a:bodyPr/>
          <a:lstStyle/>
          <a:p>
            <a:pPr eaLnBrk="1" hangingPunct="1"/>
            <a:r>
              <a:rPr lang="en-US" altLang="en-US" dirty="0"/>
              <a:t>Dijkstra Algorithm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7D1C75A-E1B2-C6A2-EF71-AD7F6A8F6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024" y="1084455"/>
            <a:ext cx="8697952" cy="4800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dirty="0"/>
              <a:t>Mark source node selected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/>
              <a:t>Initialize all distances to Infinite, source node distance to 0.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/>
              <a:t>Make source node the current node.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/>
              <a:t>While (there is unselected node)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/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/>
              <a:t>	Expand on current node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/>
              <a:t>	Update distance for neighbors of current node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/>
              <a:t>      Find an unselected node with smallest distance, and make   it current node and mark this node selected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/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3C18F5A-4483-26DE-5915-7359FBDA0B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024" y="152400"/>
            <a:ext cx="8692376" cy="79545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Pseudo-code For Dijkstra’s Algorithm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F8B6362-82C6-1283-C8C6-881E40096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092821"/>
            <a:ext cx="8610600" cy="5105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b="1" dirty="0"/>
              <a:t>function</a:t>
            </a:r>
            <a:r>
              <a:rPr lang="en-US" altLang="en-US" sz="2400" dirty="0"/>
              <a:t> Dijkstra(G, w, s)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b="1" dirty="0"/>
              <a:t>for each</a:t>
            </a:r>
            <a:r>
              <a:rPr lang="en-US" altLang="en-US" sz="2400" dirty="0"/>
              <a:t> vertex v in V[G] </a:t>
            </a:r>
            <a:r>
              <a:rPr lang="en-US" altLang="en-US" sz="2400" i="1" dirty="0">
                <a:solidFill>
                  <a:schemeClr val="accent6">
                    <a:lumMod val="75000"/>
                  </a:schemeClr>
                </a:solidFill>
              </a:rPr>
              <a:t>// Initializations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/>
              <a:t>d[v] := infinity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/>
              <a:t>previous[v] := undefined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d[s] := 0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S := empty set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Q := V[G]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b="1" dirty="0"/>
              <a:t>while</a:t>
            </a:r>
            <a:r>
              <a:rPr lang="en-US" altLang="en-US" sz="2400" dirty="0"/>
              <a:t> Q is not an empty set </a:t>
            </a:r>
            <a:r>
              <a:rPr lang="en-US" altLang="en-US" sz="2400" i="1" dirty="0">
                <a:solidFill>
                  <a:schemeClr val="accent6">
                    <a:lumMod val="75000"/>
                  </a:schemeClr>
                </a:solidFill>
              </a:rPr>
              <a:t>// The algorithm itself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/>
              <a:t>u := </a:t>
            </a:r>
            <a:r>
              <a:rPr lang="en-US" altLang="en-US" sz="2000" dirty="0" err="1"/>
              <a:t>Extract_Min</a:t>
            </a:r>
            <a:r>
              <a:rPr lang="en-US" altLang="en-US" sz="2000" dirty="0"/>
              <a:t>(Q)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/>
              <a:t>S := S union {u}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="1" dirty="0"/>
              <a:t>for each</a:t>
            </a:r>
            <a:r>
              <a:rPr lang="en-US" altLang="en-US" sz="2000" dirty="0"/>
              <a:t> edge (</a:t>
            </a:r>
            <a:r>
              <a:rPr lang="en-US" altLang="en-US" sz="2000" dirty="0" err="1"/>
              <a:t>u,v</a:t>
            </a:r>
            <a:r>
              <a:rPr lang="en-US" altLang="en-US" sz="2000" dirty="0"/>
              <a:t>) outgoing from u </a:t>
            </a:r>
          </a:p>
          <a:p>
            <a:pPr lvl="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b="1" dirty="0"/>
              <a:t>if</a:t>
            </a:r>
            <a:r>
              <a:rPr lang="en-US" altLang="en-US" sz="1800" dirty="0"/>
              <a:t> d[u] + w(</a:t>
            </a:r>
            <a:r>
              <a:rPr lang="en-US" altLang="en-US" sz="1800" dirty="0" err="1"/>
              <a:t>u,v</a:t>
            </a:r>
            <a:r>
              <a:rPr lang="en-US" altLang="en-US" sz="1800" dirty="0"/>
              <a:t>) &lt; d[v] </a:t>
            </a:r>
            <a:r>
              <a:rPr lang="en-US" altLang="en-US" sz="1800" i="1" dirty="0">
                <a:solidFill>
                  <a:schemeClr val="accent6">
                    <a:lumMod val="75000"/>
                  </a:schemeClr>
                </a:solidFill>
              </a:rPr>
              <a:t>// Relax (</a:t>
            </a:r>
            <a:r>
              <a:rPr lang="en-US" altLang="en-US" sz="1800" i="1" dirty="0" err="1">
                <a:solidFill>
                  <a:schemeClr val="accent6">
                    <a:lumMod val="75000"/>
                  </a:schemeClr>
                </a:solidFill>
              </a:rPr>
              <a:t>u,v</a:t>
            </a:r>
            <a:r>
              <a:rPr lang="en-US" altLang="en-US" sz="1800" i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altLang="en-US" sz="18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lvl="4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/>
              <a:t>d[v] := d[u] + w(</a:t>
            </a:r>
            <a:r>
              <a:rPr lang="en-US" altLang="en-US" sz="1800" dirty="0" err="1"/>
              <a:t>u,v</a:t>
            </a:r>
            <a:r>
              <a:rPr lang="en-US" altLang="en-US" sz="1800" dirty="0"/>
              <a:t>) </a:t>
            </a:r>
          </a:p>
          <a:p>
            <a:pPr lvl="4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/>
              <a:t>previous[v] := 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1950</TotalTime>
  <Words>1984</Words>
  <Application>Microsoft Macintosh PowerPoint</Application>
  <PresentationFormat>On-screen Show (4:3)</PresentationFormat>
  <Paragraphs>633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Arial</vt:lpstr>
      <vt:lpstr>Comic Sans MS</vt:lpstr>
      <vt:lpstr>Courier New</vt:lpstr>
      <vt:lpstr>Times New Roman</vt:lpstr>
      <vt:lpstr>Wingdings</vt:lpstr>
      <vt:lpstr>Office Theme</vt:lpstr>
      <vt:lpstr>PowerPoint Presentation</vt:lpstr>
      <vt:lpstr>Graph Terminology</vt:lpstr>
      <vt:lpstr>Graph representation Adjacency Matrix</vt:lpstr>
      <vt:lpstr>Graph Representation Adjacency List</vt:lpstr>
      <vt:lpstr>Graph Traversal</vt:lpstr>
      <vt:lpstr>Spanning Tree</vt:lpstr>
      <vt:lpstr>Spanning Tree</vt:lpstr>
      <vt:lpstr>Minimum Spanning Tree (MST)</vt:lpstr>
      <vt:lpstr>Prim’s Algorithm For Finding MST</vt:lpstr>
      <vt:lpstr>Example</vt:lpstr>
      <vt:lpstr>Demos of Prim’s Algorithm </vt:lpstr>
      <vt:lpstr>Demos of Prim’s Algorithm </vt:lpstr>
      <vt:lpstr>Demos of Prim’s Algorithm </vt:lpstr>
      <vt:lpstr>Demos of Prim’s Algorithm </vt:lpstr>
      <vt:lpstr>Demos of Prim’s Algorithm </vt:lpstr>
      <vt:lpstr>Pseudo code for Prim’s Alg.</vt:lpstr>
      <vt:lpstr>Kruskal’s Algorithm For Finding MST</vt:lpstr>
      <vt:lpstr>Example</vt:lpstr>
      <vt:lpstr>Demos of Kruskal’s Algorithm</vt:lpstr>
      <vt:lpstr>Demos of Kruskal’s Algorithm</vt:lpstr>
      <vt:lpstr>Demos of Kruskal’s Algorithm</vt:lpstr>
      <vt:lpstr>Demos of Kruskal’s Algorithm</vt:lpstr>
      <vt:lpstr>Demos of Kruskal’s Algorithm</vt:lpstr>
      <vt:lpstr>Shortest Path Problem</vt:lpstr>
      <vt:lpstr>Single Source Shortest Path Problem</vt:lpstr>
      <vt:lpstr>Example – Dijkstra Algorithm</vt:lpstr>
      <vt:lpstr>Example – Dijkstra Algorithm</vt:lpstr>
      <vt:lpstr>Example – Dijkstra Algorithm</vt:lpstr>
      <vt:lpstr>Example – Dijkstra Algorithm</vt:lpstr>
      <vt:lpstr>Example – Dijkstra Algorithm</vt:lpstr>
      <vt:lpstr>Example – Dijkstra Algorithm</vt:lpstr>
      <vt:lpstr>Example – Dijkstra Algorithm</vt:lpstr>
      <vt:lpstr>Example – Dijkstra Algorithm</vt:lpstr>
      <vt:lpstr>Example – Dijkstra Algorithm</vt:lpstr>
      <vt:lpstr>Dijkstra Algorithm</vt:lpstr>
      <vt:lpstr>Pseudo-code For Dijkstra’s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Fan, Heng</dc:creator>
  <cp:lastModifiedBy>Fan, Heng</cp:lastModifiedBy>
  <cp:revision>960</cp:revision>
  <dcterms:created xsi:type="dcterms:W3CDTF">2021-08-20T15:15:54Z</dcterms:created>
  <dcterms:modified xsi:type="dcterms:W3CDTF">2025-08-15T15:06:37Z</dcterms:modified>
</cp:coreProperties>
</file>