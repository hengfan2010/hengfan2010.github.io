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handoutMasterIdLst>
    <p:handoutMasterId r:id="rId65"/>
  </p:handoutMasterIdLst>
  <p:sldIdLst>
    <p:sldId id="256" r:id="rId2"/>
    <p:sldId id="273" r:id="rId3"/>
    <p:sldId id="275" r:id="rId4"/>
    <p:sldId id="272" r:id="rId5"/>
    <p:sldId id="258" r:id="rId6"/>
    <p:sldId id="378" r:id="rId7"/>
    <p:sldId id="276" r:id="rId8"/>
    <p:sldId id="379" r:id="rId9"/>
    <p:sldId id="380" r:id="rId10"/>
    <p:sldId id="277" r:id="rId11"/>
    <p:sldId id="278" r:id="rId12"/>
    <p:sldId id="279" r:id="rId13"/>
    <p:sldId id="280" r:id="rId14"/>
    <p:sldId id="314" r:id="rId15"/>
    <p:sldId id="282" r:id="rId16"/>
    <p:sldId id="259" r:id="rId17"/>
    <p:sldId id="260" r:id="rId18"/>
    <p:sldId id="381" r:id="rId19"/>
    <p:sldId id="261" r:id="rId20"/>
    <p:sldId id="382" r:id="rId21"/>
    <p:sldId id="383" r:id="rId22"/>
    <p:sldId id="263" r:id="rId23"/>
    <p:sldId id="262" r:id="rId24"/>
    <p:sldId id="264" r:id="rId25"/>
    <p:sldId id="265" r:id="rId26"/>
    <p:sldId id="283" r:id="rId27"/>
    <p:sldId id="317" r:id="rId28"/>
    <p:sldId id="269" r:id="rId29"/>
    <p:sldId id="270" r:id="rId30"/>
    <p:sldId id="271" r:id="rId31"/>
    <p:sldId id="285" r:id="rId32"/>
    <p:sldId id="286" r:id="rId33"/>
    <p:sldId id="318" r:id="rId34"/>
    <p:sldId id="323" r:id="rId35"/>
    <p:sldId id="324" r:id="rId36"/>
    <p:sldId id="325" r:id="rId37"/>
    <p:sldId id="287" r:id="rId38"/>
    <p:sldId id="288" r:id="rId39"/>
    <p:sldId id="289" r:id="rId40"/>
    <p:sldId id="328" r:id="rId41"/>
    <p:sldId id="329" r:id="rId42"/>
    <p:sldId id="331" r:id="rId43"/>
    <p:sldId id="334" r:id="rId44"/>
    <p:sldId id="335" r:id="rId45"/>
    <p:sldId id="336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39" r:id="rId54"/>
    <p:sldId id="340" r:id="rId55"/>
    <p:sldId id="348" r:id="rId56"/>
    <p:sldId id="371" r:id="rId57"/>
    <p:sldId id="372" r:id="rId58"/>
    <p:sldId id="373" r:id="rId59"/>
    <p:sldId id="374" r:id="rId60"/>
    <p:sldId id="375" r:id="rId61"/>
    <p:sldId id="376" r:id="rId62"/>
    <p:sldId id="377" r:id="rId63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FF40FF"/>
    <a:srgbClr val="0000FF"/>
    <a:srgbClr val="007B3B"/>
    <a:srgbClr val="F3F9F1"/>
    <a:srgbClr val="3F458C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7"/>
    <p:restoredTop sz="89398" autoAdjust="0"/>
  </p:normalViewPr>
  <p:slideViewPr>
    <p:cSldViewPr snapToGrid="0">
      <p:cViewPr>
        <p:scale>
          <a:sx n="126" d="100"/>
          <a:sy n="126" d="100"/>
        </p:scale>
        <p:origin x="1288" y="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52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E435B-D58D-C7F1-C74D-23B1F1BD62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B904A-88DE-067F-7418-9DD45A39C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48CA8-9278-4B40-937F-6E3C2BF581C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CCDA5-B1A6-4AF3-5667-F194D325FD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A8D12-E6F9-71FD-0A73-04D0644701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4C1E7-8652-8742-8547-1B34AC50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0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 b="0" i="0">
                <a:latin typeface="Comic Sans MS" panose="030F0902030302020204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b="0" i="0">
                <a:latin typeface="Comic Sans MS" panose="030F0902030302020204" pitchFamily="66" charset="0"/>
              </a:defRPr>
            </a:lvl1pPr>
          </a:lstStyle>
          <a:p>
            <a:fld id="{34DB6FDB-1F14-42DA-810B-CC9ECC19F56C}" type="datetimeFigureOut">
              <a:rPr lang="en-US" smtClean="0"/>
              <a:pPr/>
              <a:t>11/5/25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 b="0" i="0">
                <a:latin typeface="Comic Sans MS" panose="030F0902030302020204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b="0" i="0">
                <a:latin typeface="Comic Sans MS" panose="030F0902030302020204" pitchFamily="66" charset="0"/>
              </a:defRPr>
            </a:lvl1pPr>
          </a:lstStyle>
          <a:p>
            <a:fld id="{24009DEB-A5ED-49DA-809F-4D64373B3F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53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9DEB-A5ED-49DA-809F-4D64373B3F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AE030AF-7D69-48E4-93A6-3508750E2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F7520B-8220-2243-8637-D18AD5EFE50E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DFF10F6-48E9-CB92-393A-7301B64348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D23AD66-9EC2-AAF1-7A66-59D2B425C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772CA97-89BE-D431-B01D-C8B3A721B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B27AD2-800D-B04F-B979-377D6E8B36CF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3F9444E-673A-8E47-67DC-2629F5B92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512098A-A91E-8C03-DFE7-6CBDE31B0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5ED669-E0AE-6BA3-AF9A-919525C9612D}"/>
              </a:ext>
            </a:extLst>
          </p:cNvPr>
          <p:cNvSpPr/>
          <p:nvPr userDrawn="1"/>
        </p:nvSpPr>
        <p:spPr>
          <a:xfrm>
            <a:off x="0" y="6595110"/>
            <a:ext cx="9144000" cy="262889"/>
          </a:xfrm>
          <a:prstGeom prst="rect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Comic Sans MS" panose="030F0902030302020204" pitchFamily="66" charset="0"/>
              </a:rPr>
              <a:t>CSCE 2110 – Foundations of Data Structure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861336-78B4-27D4-F4BD-746A16AE10CD}"/>
              </a:ext>
            </a:extLst>
          </p:cNvPr>
          <p:cNvCxnSpPr>
            <a:cxnSpLocks/>
          </p:cNvCxnSpPr>
          <p:nvPr userDrawn="1"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18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210209"/>
            <a:ext cx="8686799" cy="73227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142453"/>
            <a:ext cx="8686799" cy="4351338"/>
          </a:xfrm>
        </p:spPr>
        <p:txBody>
          <a:bodyPr/>
          <a:lstStyle>
            <a:lvl1pPr indent="-512064">
              <a:lnSpc>
                <a:spcPct val="100000"/>
              </a:lnSpc>
              <a:spcAft>
                <a:spcPts val="600"/>
              </a:spcAft>
              <a:defRPr/>
            </a:lvl1pPr>
            <a:lvl2pPr indent="-512064">
              <a:lnSpc>
                <a:spcPct val="100000"/>
              </a:lnSpc>
              <a:spcAft>
                <a:spcPts val="600"/>
              </a:spcAft>
              <a:defRPr/>
            </a:lvl2pPr>
            <a:lvl3pPr indent="-512064">
              <a:lnSpc>
                <a:spcPct val="100000"/>
              </a:lnSpc>
              <a:spcAft>
                <a:spcPts val="600"/>
              </a:spcAft>
              <a:defRPr/>
            </a:lvl3pPr>
            <a:lvl4pPr indent="-512064">
              <a:lnSpc>
                <a:spcPct val="100000"/>
              </a:lnSpc>
              <a:spcAft>
                <a:spcPts val="600"/>
              </a:spcAft>
              <a:defRPr/>
            </a:lvl4pPr>
            <a:lvl5pPr indent="-512064"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DA8C5D-D891-771A-0F0A-AE2662FB7837}"/>
              </a:ext>
            </a:extLst>
          </p:cNvPr>
          <p:cNvCxnSpPr>
            <a:cxnSpLocks/>
          </p:cNvCxnSpPr>
          <p:nvPr userDrawn="1"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39C5064-4BB9-EB0C-8DC5-773623E5EF51}"/>
              </a:ext>
            </a:extLst>
          </p:cNvPr>
          <p:cNvSpPr/>
          <p:nvPr userDrawn="1"/>
        </p:nvSpPr>
        <p:spPr>
          <a:xfrm>
            <a:off x="0" y="6595110"/>
            <a:ext cx="9144000" cy="262889"/>
          </a:xfrm>
          <a:prstGeom prst="rect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Comic Sans MS" panose="030F0902030302020204" pitchFamily="66" charset="0"/>
              </a:rPr>
              <a:t>CSCE 2110 – Foundations of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97273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7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3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3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2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2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3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D0F8C723-035A-4CB3-9C59-1A88DFA1EAF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5FF07A74-BFA3-49F9-A82A-B452F8E04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55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0F512E-0CD1-6FE7-51B1-2267651F82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BBB08E-9FA1-2F9F-3517-205A4A0429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D7D4C-C550-4D44-AB7C-E32CBEC53A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8F6E81F-B61B-7C8E-8049-4C27A80755F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32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A67AF-63DF-E2CB-F423-825D0DCE534E}"/>
              </a:ext>
            </a:extLst>
          </p:cNvPr>
          <p:cNvSpPr/>
          <p:nvPr userDrawn="1"/>
        </p:nvSpPr>
        <p:spPr>
          <a:xfrm>
            <a:off x="0" y="6595110"/>
            <a:ext cx="9144000" cy="262889"/>
          </a:xfrm>
          <a:prstGeom prst="rect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Comic Sans MS" panose="030F0902030302020204" pitchFamily="66" charset="0"/>
              </a:rPr>
              <a:t>CSCE 2110 – Foundations of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6636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007B3B"/>
          </a:solidFill>
          <a:latin typeface="Comic Sans MS" panose="030F0902030302020204" pitchFamily="66" charset="0"/>
          <a:ea typeface="+mj-ea"/>
          <a:cs typeface="+mj-cs"/>
        </a:defRPr>
      </a:lvl1pPr>
    </p:titleStyle>
    <p:bodyStyle>
      <a:lvl1pPr marL="512064" indent="-512064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1pPr>
      <a:lvl2pPr marL="960120" indent="-512064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Courier New" panose="02070309020205020404" pitchFamily="49" charset="0"/>
        <a:buChar char="o"/>
        <a:defRPr sz="24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2pPr>
      <a:lvl3pPr marL="1417320" indent="-512064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Wingdings" pitchFamily="2" charset="2"/>
        <a:buChar char="Ø"/>
        <a:defRPr sz="20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3pPr>
      <a:lvl4pPr marL="1088136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4pPr>
      <a:lvl5pPr marL="2057400" indent="-512064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mic Sans MS" panose="030F0902030302020204" pitchFamily="66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307178" y="1073782"/>
            <a:ext cx="852964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007B3B"/>
                </a:solidFill>
                <a:latin typeface="Comic Sans MS" panose="030F0902030302020204" pitchFamily="66" charset="0"/>
              </a:rPr>
              <a:t>CSCE 2110</a:t>
            </a:r>
          </a:p>
          <a:p>
            <a:pPr algn="ctr"/>
            <a:r>
              <a:rPr lang="en-US" sz="4400" dirty="0">
                <a:solidFill>
                  <a:srgbClr val="007B3B"/>
                </a:solidFill>
                <a:latin typeface="Comic Sans MS" panose="030F0902030302020204" pitchFamily="66" charset="0"/>
              </a:rPr>
              <a:t>Foundations of Data Structures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411478" y="2648826"/>
            <a:ext cx="82296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411478" y="2880655"/>
            <a:ext cx="8229600" cy="1096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dirty="0">
                <a:solidFill>
                  <a:schemeClr val="tx1"/>
                </a:solidFill>
                <a:latin typeface="Comic Sans MS" panose="030F0902030302020204" pitchFamily="66" charset="0"/>
              </a:rPr>
              <a:t>Graph 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CEBE78-77FD-B2B5-CD92-55083FFC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1"/>
          <a:stretch>
            <a:fillRect/>
          </a:stretch>
        </p:blipFill>
        <p:spPr>
          <a:xfrm>
            <a:off x="39758" y="33326"/>
            <a:ext cx="1736034" cy="7665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17CAC6-7204-609B-0CF1-012AC8AE5635}"/>
              </a:ext>
            </a:extLst>
          </p:cNvPr>
          <p:cNvSpPr/>
          <p:nvPr/>
        </p:nvSpPr>
        <p:spPr>
          <a:xfrm>
            <a:off x="728204" y="513806"/>
            <a:ext cx="5355203" cy="41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B3B"/>
                </a:solidFill>
                <a:latin typeface="Comic Sans MS" panose="030F0902030302020204" pitchFamily="66" charset="0"/>
              </a:rPr>
              <a:t>University of North Texas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B9DEC-C764-1C8F-128D-E9AF47B96227}"/>
              </a:ext>
            </a:extLst>
          </p:cNvPr>
          <p:cNvSpPr/>
          <p:nvPr/>
        </p:nvSpPr>
        <p:spPr>
          <a:xfrm>
            <a:off x="152399" y="909926"/>
            <a:ext cx="8800011" cy="121771"/>
          </a:xfrm>
          <a:prstGeom prst="rect">
            <a:avLst/>
          </a:prstGeom>
          <a:solidFill>
            <a:srgbClr val="F3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C0071-6D55-2E7F-A01B-29E636E01FEA}"/>
              </a:ext>
            </a:extLst>
          </p:cNvPr>
          <p:cNvSpPr/>
          <p:nvPr/>
        </p:nvSpPr>
        <p:spPr>
          <a:xfrm>
            <a:off x="0" y="6146800"/>
            <a:ext cx="8229600" cy="4086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Slides borrowed/adapted from Prof. Yan Huang from UNT</a:t>
            </a: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4B8DD61-088C-0756-FBD2-73F5A5530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66700"/>
            <a:ext cx="8664497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Northwest Airline Flight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87F683-025A-A116-EA40-27C0511C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6366"/>
            <a:ext cx="7772400" cy="3461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>
            <a:extLst>
              <a:ext uri="{FF2B5EF4-FFF2-40B4-BE49-F238E27FC236}">
                <a16:creationId xmlns:a16="http://schemas.microsoft.com/office/drawing/2014/main" id="{6B0912D4-00DD-0EA8-B8AE-9CB399E34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Computer Network Or Internet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4A8959-E5C3-ECAC-BE46-A49E4E465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161740"/>
            <a:ext cx="74168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655CA4E-A4ED-E0A2-BBAF-6E16322AA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64497" cy="711200"/>
          </a:xfrm>
        </p:spPr>
        <p:txBody>
          <a:bodyPr/>
          <a:lstStyle/>
          <a:p>
            <a:pPr eaLnBrk="1" hangingPunct="1"/>
            <a:r>
              <a:rPr lang="en-US" altLang="en-US" dirty="0"/>
              <a:t>Application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CD32488-6456-ADC5-9EA6-8AC043A93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620" y="11049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dirty="0"/>
              <a:t>Traveling Salesman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  <a:p>
            <a:pPr lvl="1" eaLnBrk="1" hangingPunct="1"/>
            <a:r>
              <a:rPr lang="en-US" altLang="en-US" dirty="0"/>
              <a:t>Find the shortest path that connects all cities without a loop.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3DC95C-A6DE-C3F6-72A1-EBA21E695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571" y="1988325"/>
            <a:ext cx="5508857" cy="1839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4CDE526-28E9-8C8E-11CF-212D2AF2F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Concepts of 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20C13A-E7EB-EC8E-7958-A466630A0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23" y="1212850"/>
            <a:ext cx="5476954" cy="304031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4A805D-18E6-1DB0-818A-43369C81B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728173"/>
          </a:xfrm>
        </p:spPr>
        <p:txBody>
          <a:bodyPr/>
          <a:lstStyle/>
          <a:p>
            <a:pPr eaLnBrk="1" hangingPunct="1"/>
            <a:r>
              <a:rPr lang="en-US" altLang="en-US" dirty="0"/>
              <a:t>Graph Definition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D734759-6AAE-9421-4DE8-F28D6B01FD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599" y="1177745"/>
            <a:ext cx="8357839" cy="3657600"/>
          </a:xfrm>
        </p:spPr>
        <p:txBody>
          <a:bodyPr/>
          <a:lstStyle/>
          <a:p>
            <a:pPr eaLnBrk="1" hangingPunct="1">
              <a:spcAft>
                <a:spcPts val="300"/>
              </a:spcAft>
            </a:pPr>
            <a:r>
              <a:rPr lang="en-US" altLang="en-US" sz="2400" dirty="0"/>
              <a:t>A graph G = (V,E) is composed of:</a:t>
            </a:r>
          </a:p>
          <a:p>
            <a:pPr eaLnBrk="1" hangingPunct="1">
              <a:spcAft>
                <a:spcPts val="300"/>
              </a:spcAft>
              <a:buFont typeface="Wingdings" pitchFamily="2" charset="2"/>
              <a:buNone/>
            </a:pPr>
            <a:r>
              <a:rPr lang="en-US" altLang="en-US" sz="2400" dirty="0"/>
              <a:t>		V: set of vertices (nodes) </a:t>
            </a:r>
          </a:p>
          <a:p>
            <a:pPr eaLnBrk="1" hangingPunct="1">
              <a:spcAft>
                <a:spcPts val="300"/>
              </a:spcAft>
              <a:buFont typeface="Wingdings" pitchFamily="2" charset="2"/>
              <a:buNone/>
            </a:pPr>
            <a:r>
              <a:rPr lang="en-US" altLang="en-US" sz="2400" dirty="0"/>
              <a:t>		E: set of edges (arcs) connecting the vertices in V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dirty="0"/>
              <a:t>An edge e = (</a:t>
            </a:r>
            <a:r>
              <a:rPr lang="en-US" altLang="en-US" sz="2400" dirty="0" err="1"/>
              <a:t>u,v</a:t>
            </a:r>
            <a:r>
              <a:rPr lang="en-US" altLang="en-US" sz="2400" dirty="0"/>
              <a:t>) is a pair of vertices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dirty="0"/>
              <a:t>Example: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AC4AEC60-0ABD-1DA7-EC00-57512185E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3862388"/>
            <a:ext cx="55562" cy="3016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E43C067C-E359-E520-2DA8-524B6747A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6137275"/>
            <a:ext cx="55562" cy="285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6248383-BF5D-0CB4-193F-1955793B7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3892550"/>
            <a:ext cx="55562" cy="22447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71" name="Freeform 7">
            <a:extLst>
              <a:ext uri="{FF2B5EF4-FFF2-40B4-BE49-F238E27FC236}">
                <a16:creationId xmlns:a16="http://schemas.microsoft.com/office/drawing/2014/main" id="{6CAE0B93-9672-2D5A-6A6D-691BF7FD7E54}"/>
              </a:ext>
            </a:extLst>
          </p:cNvPr>
          <p:cNvSpPr>
            <a:spLocks/>
          </p:cNvSpPr>
          <p:nvPr/>
        </p:nvSpPr>
        <p:spPr bwMode="auto">
          <a:xfrm>
            <a:off x="5222875" y="6122988"/>
            <a:ext cx="53975" cy="58737"/>
          </a:xfrm>
          <a:custGeom>
            <a:avLst/>
            <a:gdLst>
              <a:gd name="T0" fmla="*/ 0 w 34"/>
              <a:gd name="T1" fmla="*/ 2147483646 h 37"/>
              <a:gd name="T2" fmla="*/ 2147483646 w 34"/>
              <a:gd name="T3" fmla="*/ 2147483646 h 37"/>
              <a:gd name="T4" fmla="*/ 2147483646 w 34"/>
              <a:gd name="T5" fmla="*/ 2147483646 h 37"/>
              <a:gd name="T6" fmla="*/ 2147483646 w 34"/>
              <a:gd name="T7" fmla="*/ 0 h 37"/>
              <a:gd name="T8" fmla="*/ 0 w 34"/>
              <a:gd name="T9" fmla="*/ 2147483646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37">
                <a:moveTo>
                  <a:pt x="0" y="27"/>
                </a:moveTo>
                <a:lnTo>
                  <a:pt x="17" y="37"/>
                </a:lnTo>
                <a:lnTo>
                  <a:pt x="34" y="9"/>
                </a:lnTo>
                <a:lnTo>
                  <a:pt x="17" y="0"/>
                </a:lnTo>
                <a:lnTo>
                  <a:pt x="0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Freeform 8">
            <a:extLst>
              <a:ext uri="{FF2B5EF4-FFF2-40B4-BE49-F238E27FC236}">
                <a16:creationId xmlns:a16="http://schemas.microsoft.com/office/drawing/2014/main" id="{2FE08965-DCC3-AF19-D69F-38A9EFC7F7C3}"/>
              </a:ext>
            </a:extLst>
          </p:cNvPr>
          <p:cNvSpPr>
            <a:spLocks/>
          </p:cNvSpPr>
          <p:nvPr/>
        </p:nvSpPr>
        <p:spPr bwMode="auto">
          <a:xfrm>
            <a:off x="3843338" y="5037138"/>
            <a:ext cx="53975" cy="73025"/>
          </a:xfrm>
          <a:custGeom>
            <a:avLst/>
            <a:gdLst>
              <a:gd name="T0" fmla="*/ 2147483646 w 34"/>
              <a:gd name="T1" fmla="*/ 2147483646 h 46"/>
              <a:gd name="T2" fmla="*/ 0 w 34"/>
              <a:gd name="T3" fmla="*/ 2147483646 h 46"/>
              <a:gd name="T4" fmla="*/ 2147483646 w 34"/>
              <a:gd name="T5" fmla="*/ 0 h 46"/>
              <a:gd name="T6" fmla="*/ 2147483646 w 34"/>
              <a:gd name="T7" fmla="*/ 2147483646 h 46"/>
              <a:gd name="T8" fmla="*/ 2147483646 w 34"/>
              <a:gd name="T9" fmla="*/ 21474836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34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Freeform 9">
            <a:extLst>
              <a:ext uri="{FF2B5EF4-FFF2-40B4-BE49-F238E27FC236}">
                <a16:creationId xmlns:a16="http://schemas.microsoft.com/office/drawing/2014/main" id="{94A98FBA-5C12-7EBE-A47E-B695AE6547D6}"/>
              </a:ext>
            </a:extLst>
          </p:cNvPr>
          <p:cNvSpPr>
            <a:spLocks/>
          </p:cNvSpPr>
          <p:nvPr/>
        </p:nvSpPr>
        <p:spPr bwMode="auto">
          <a:xfrm>
            <a:off x="3870325" y="5065713"/>
            <a:ext cx="1379538" cy="1100137"/>
          </a:xfrm>
          <a:custGeom>
            <a:avLst/>
            <a:gdLst>
              <a:gd name="T0" fmla="*/ 2147483646 w 869"/>
              <a:gd name="T1" fmla="*/ 2147483646 h 693"/>
              <a:gd name="T2" fmla="*/ 2147483646 w 869"/>
              <a:gd name="T3" fmla="*/ 2147483646 h 693"/>
              <a:gd name="T4" fmla="*/ 2147483646 w 869"/>
              <a:gd name="T5" fmla="*/ 0 h 693"/>
              <a:gd name="T6" fmla="*/ 0 w 869"/>
              <a:gd name="T7" fmla="*/ 2147483646 h 693"/>
              <a:gd name="T8" fmla="*/ 2147483646 w 869"/>
              <a:gd name="T9" fmla="*/ 2147483646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69" h="693">
                <a:moveTo>
                  <a:pt x="852" y="693"/>
                </a:moveTo>
                <a:lnTo>
                  <a:pt x="869" y="666"/>
                </a:lnTo>
                <a:lnTo>
                  <a:pt x="17" y="0"/>
                </a:lnTo>
                <a:lnTo>
                  <a:pt x="0" y="28"/>
                </a:lnTo>
                <a:lnTo>
                  <a:pt x="852" y="693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Freeform 10">
            <a:extLst>
              <a:ext uri="{FF2B5EF4-FFF2-40B4-BE49-F238E27FC236}">
                <a16:creationId xmlns:a16="http://schemas.microsoft.com/office/drawing/2014/main" id="{5755E902-14ED-B42B-75F5-93B867672095}"/>
              </a:ext>
            </a:extLst>
          </p:cNvPr>
          <p:cNvSpPr>
            <a:spLocks/>
          </p:cNvSpPr>
          <p:nvPr/>
        </p:nvSpPr>
        <p:spPr bwMode="auto">
          <a:xfrm>
            <a:off x="3870325" y="5065713"/>
            <a:ext cx="53975" cy="58737"/>
          </a:xfrm>
          <a:custGeom>
            <a:avLst/>
            <a:gdLst>
              <a:gd name="T0" fmla="*/ 0 w 34"/>
              <a:gd name="T1" fmla="*/ 2147483646 h 37"/>
              <a:gd name="T2" fmla="*/ 2147483646 w 34"/>
              <a:gd name="T3" fmla="*/ 2147483646 h 37"/>
              <a:gd name="T4" fmla="*/ 2147483646 w 34"/>
              <a:gd name="T5" fmla="*/ 2147483646 h 37"/>
              <a:gd name="T6" fmla="*/ 2147483646 w 34"/>
              <a:gd name="T7" fmla="*/ 0 h 37"/>
              <a:gd name="T8" fmla="*/ 0 w 34"/>
              <a:gd name="T9" fmla="*/ 2147483646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37">
                <a:moveTo>
                  <a:pt x="0" y="28"/>
                </a:moveTo>
                <a:lnTo>
                  <a:pt x="17" y="37"/>
                </a:lnTo>
                <a:lnTo>
                  <a:pt x="34" y="9"/>
                </a:lnTo>
                <a:lnTo>
                  <a:pt x="26" y="0"/>
                </a:lnTo>
                <a:lnTo>
                  <a:pt x="0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Freeform 11">
            <a:extLst>
              <a:ext uri="{FF2B5EF4-FFF2-40B4-BE49-F238E27FC236}">
                <a16:creationId xmlns:a16="http://schemas.microsoft.com/office/drawing/2014/main" id="{6688C1AE-E1A7-E2DA-9F91-1A73B6980D81}"/>
              </a:ext>
            </a:extLst>
          </p:cNvPr>
          <p:cNvSpPr>
            <a:spLocks/>
          </p:cNvSpPr>
          <p:nvPr/>
        </p:nvSpPr>
        <p:spPr bwMode="auto">
          <a:xfrm>
            <a:off x="2490788" y="3848100"/>
            <a:ext cx="68262" cy="73025"/>
          </a:xfrm>
          <a:custGeom>
            <a:avLst/>
            <a:gdLst>
              <a:gd name="T0" fmla="*/ 2147483646 w 43"/>
              <a:gd name="T1" fmla="*/ 2147483646 h 46"/>
              <a:gd name="T2" fmla="*/ 0 w 43"/>
              <a:gd name="T3" fmla="*/ 2147483646 h 46"/>
              <a:gd name="T4" fmla="*/ 2147483646 w 43"/>
              <a:gd name="T5" fmla="*/ 0 h 46"/>
              <a:gd name="T6" fmla="*/ 2147483646 w 43"/>
              <a:gd name="T7" fmla="*/ 2147483646 h 46"/>
              <a:gd name="T8" fmla="*/ 2147483646 w 43"/>
              <a:gd name="T9" fmla="*/ 21474836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Freeform 12">
            <a:extLst>
              <a:ext uri="{FF2B5EF4-FFF2-40B4-BE49-F238E27FC236}">
                <a16:creationId xmlns:a16="http://schemas.microsoft.com/office/drawing/2014/main" id="{2DFC7D3A-3645-68B4-46BF-C994A53F300F}"/>
              </a:ext>
            </a:extLst>
          </p:cNvPr>
          <p:cNvSpPr>
            <a:spLocks/>
          </p:cNvSpPr>
          <p:nvPr/>
        </p:nvSpPr>
        <p:spPr bwMode="auto">
          <a:xfrm>
            <a:off x="2517775" y="3876675"/>
            <a:ext cx="1393825" cy="1233488"/>
          </a:xfrm>
          <a:custGeom>
            <a:avLst/>
            <a:gdLst>
              <a:gd name="T0" fmla="*/ 2147483646 w 878"/>
              <a:gd name="T1" fmla="*/ 2147483646 h 777"/>
              <a:gd name="T2" fmla="*/ 2147483646 w 878"/>
              <a:gd name="T3" fmla="*/ 2147483646 h 777"/>
              <a:gd name="T4" fmla="*/ 2147483646 w 878"/>
              <a:gd name="T5" fmla="*/ 0 h 777"/>
              <a:gd name="T6" fmla="*/ 0 w 878"/>
              <a:gd name="T7" fmla="*/ 2147483646 h 777"/>
              <a:gd name="T8" fmla="*/ 2147483646 w 878"/>
              <a:gd name="T9" fmla="*/ 2147483646 h 7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777">
                <a:moveTo>
                  <a:pt x="852" y="777"/>
                </a:moveTo>
                <a:lnTo>
                  <a:pt x="878" y="749"/>
                </a:lnTo>
                <a:lnTo>
                  <a:pt x="26" y="0"/>
                </a:lnTo>
                <a:lnTo>
                  <a:pt x="0" y="28"/>
                </a:lnTo>
                <a:lnTo>
                  <a:pt x="852" y="77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Freeform 13">
            <a:extLst>
              <a:ext uri="{FF2B5EF4-FFF2-40B4-BE49-F238E27FC236}">
                <a16:creationId xmlns:a16="http://schemas.microsoft.com/office/drawing/2014/main" id="{24441209-B6BE-E3A8-C933-9785105D46CA}"/>
              </a:ext>
            </a:extLst>
          </p:cNvPr>
          <p:cNvSpPr>
            <a:spLocks/>
          </p:cNvSpPr>
          <p:nvPr/>
        </p:nvSpPr>
        <p:spPr bwMode="auto">
          <a:xfrm>
            <a:off x="3870325" y="5037138"/>
            <a:ext cx="53975" cy="73025"/>
          </a:xfrm>
          <a:custGeom>
            <a:avLst/>
            <a:gdLst>
              <a:gd name="T0" fmla="*/ 2147483646 w 34"/>
              <a:gd name="T1" fmla="*/ 2147483646 h 46"/>
              <a:gd name="T2" fmla="*/ 2147483646 w 34"/>
              <a:gd name="T3" fmla="*/ 2147483646 h 46"/>
              <a:gd name="T4" fmla="*/ 2147483646 w 34"/>
              <a:gd name="T5" fmla="*/ 0 h 46"/>
              <a:gd name="T6" fmla="*/ 0 w 34"/>
              <a:gd name="T7" fmla="*/ 2147483646 h 46"/>
              <a:gd name="T8" fmla="*/ 2147483646 w 34"/>
              <a:gd name="T9" fmla="*/ 21474836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46">
                <a:moveTo>
                  <a:pt x="17" y="46"/>
                </a:moveTo>
                <a:lnTo>
                  <a:pt x="34" y="37"/>
                </a:lnTo>
                <a:lnTo>
                  <a:pt x="17" y="0"/>
                </a:lnTo>
                <a:lnTo>
                  <a:pt x="0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Freeform 14">
            <a:extLst>
              <a:ext uri="{FF2B5EF4-FFF2-40B4-BE49-F238E27FC236}">
                <a16:creationId xmlns:a16="http://schemas.microsoft.com/office/drawing/2014/main" id="{505158F5-D144-4C12-300A-3BA7C2520395}"/>
              </a:ext>
            </a:extLst>
          </p:cNvPr>
          <p:cNvSpPr>
            <a:spLocks/>
          </p:cNvSpPr>
          <p:nvPr/>
        </p:nvSpPr>
        <p:spPr bwMode="auto">
          <a:xfrm>
            <a:off x="2490788" y="6122988"/>
            <a:ext cx="53975" cy="58737"/>
          </a:xfrm>
          <a:custGeom>
            <a:avLst/>
            <a:gdLst>
              <a:gd name="T0" fmla="*/ 2147483646 w 34"/>
              <a:gd name="T1" fmla="*/ 2147483646 h 37"/>
              <a:gd name="T2" fmla="*/ 2147483646 w 34"/>
              <a:gd name="T3" fmla="*/ 2147483646 h 37"/>
              <a:gd name="T4" fmla="*/ 0 w 34"/>
              <a:gd name="T5" fmla="*/ 2147483646 h 37"/>
              <a:gd name="T6" fmla="*/ 2147483646 w 34"/>
              <a:gd name="T7" fmla="*/ 0 h 37"/>
              <a:gd name="T8" fmla="*/ 2147483646 w 34"/>
              <a:gd name="T9" fmla="*/ 2147483646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37">
                <a:moveTo>
                  <a:pt x="34" y="27"/>
                </a:moveTo>
                <a:lnTo>
                  <a:pt x="25" y="37"/>
                </a:lnTo>
                <a:lnTo>
                  <a:pt x="0" y="9"/>
                </a:lnTo>
                <a:lnTo>
                  <a:pt x="17" y="0"/>
                </a:lnTo>
                <a:lnTo>
                  <a:pt x="34" y="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Freeform 15">
            <a:extLst>
              <a:ext uri="{FF2B5EF4-FFF2-40B4-BE49-F238E27FC236}">
                <a16:creationId xmlns:a16="http://schemas.microsoft.com/office/drawing/2014/main" id="{C76B5DF1-461C-89F8-A6EA-3E99EB009D37}"/>
              </a:ext>
            </a:extLst>
          </p:cNvPr>
          <p:cNvSpPr>
            <a:spLocks/>
          </p:cNvSpPr>
          <p:nvPr/>
        </p:nvSpPr>
        <p:spPr bwMode="auto">
          <a:xfrm>
            <a:off x="2517775" y="5065713"/>
            <a:ext cx="1379538" cy="1100137"/>
          </a:xfrm>
          <a:custGeom>
            <a:avLst/>
            <a:gdLst>
              <a:gd name="T0" fmla="*/ 2147483646 w 869"/>
              <a:gd name="T1" fmla="*/ 2147483646 h 693"/>
              <a:gd name="T2" fmla="*/ 2147483646 w 869"/>
              <a:gd name="T3" fmla="*/ 0 h 693"/>
              <a:gd name="T4" fmla="*/ 0 w 869"/>
              <a:gd name="T5" fmla="*/ 2147483646 h 693"/>
              <a:gd name="T6" fmla="*/ 2147483646 w 869"/>
              <a:gd name="T7" fmla="*/ 2147483646 h 693"/>
              <a:gd name="T8" fmla="*/ 2147483646 w 869"/>
              <a:gd name="T9" fmla="*/ 2147483646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69" h="693">
                <a:moveTo>
                  <a:pt x="869" y="28"/>
                </a:moveTo>
                <a:lnTo>
                  <a:pt x="852" y="0"/>
                </a:lnTo>
                <a:lnTo>
                  <a:pt x="0" y="666"/>
                </a:lnTo>
                <a:lnTo>
                  <a:pt x="17" y="693"/>
                </a:lnTo>
                <a:lnTo>
                  <a:pt x="869" y="28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A576D14D-9BBF-12E6-2339-EAF0855B1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862388"/>
            <a:ext cx="55562" cy="3016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37814C58-ABBF-EDF5-BA45-DD2C51CA2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6137275"/>
            <a:ext cx="55562" cy="285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174E73EB-D601-1D98-6843-5C82F1AC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892550"/>
            <a:ext cx="55562" cy="224472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3E354E87-C67E-38B4-6550-6076657AB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862388"/>
            <a:ext cx="26987" cy="587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4" name="Rectangle 20">
            <a:extLst>
              <a:ext uri="{FF2B5EF4-FFF2-40B4-BE49-F238E27FC236}">
                <a16:creationId xmlns:a16="http://schemas.microsoft.com/office/drawing/2014/main" id="{6573BE91-A688-8A73-D607-983347E5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575" y="3862388"/>
            <a:ext cx="28575" cy="587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5" name="Rectangle 21">
            <a:extLst>
              <a:ext uri="{FF2B5EF4-FFF2-40B4-BE49-F238E27FC236}">
                <a16:creationId xmlns:a16="http://schemas.microsoft.com/office/drawing/2014/main" id="{F85A760F-AA07-61FF-0C8A-F2B460FCE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3862388"/>
            <a:ext cx="2705100" cy="587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6" name="Rectangle 22">
            <a:extLst>
              <a:ext uri="{FF2B5EF4-FFF2-40B4-BE49-F238E27FC236}">
                <a16:creationId xmlns:a16="http://schemas.microsoft.com/office/drawing/2014/main" id="{91442E10-095F-B876-88FB-A03135031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6107113"/>
            <a:ext cx="26987" cy="587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7" name="Rectangle 23">
            <a:extLst>
              <a:ext uri="{FF2B5EF4-FFF2-40B4-BE49-F238E27FC236}">
                <a16:creationId xmlns:a16="http://schemas.microsoft.com/office/drawing/2014/main" id="{1FCA5209-FD0C-4B51-CB62-B7E5D1476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575" y="6107113"/>
            <a:ext cx="28575" cy="587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8" name="Rectangle 24">
            <a:extLst>
              <a:ext uri="{FF2B5EF4-FFF2-40B4-BE49-F238E27FC236}">
                <a16:creationId xmlns:a16="http://schemas.microsoft.com/office/drawing/2014/main" id="{FDAEFBE6-6CD3-904B-32A9-15D0D88E8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6107113"/>
            <a:ext cx="2705100" cy="587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89" name="Oval 25">
            <a:extLst>
              <a:ext uri="{FF2B5EF4-FFF2-40B4-BE49-F238E27FC236}">
                <a16:creationId xmlns:a16="http://schemas.microsoft.com/office/drawing/2014/main" id="{C339DDBD-DE37-3C0C-3537-AA79BDC14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627438"/>
            <a:ext cx="490538" cy="5286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0" name="Oval 26">
            <a:extLst>
              <a:ext uri="{FF2B5EF4-FFF2-40B4-BE49-F238E27FC236}">
                <a16:creationId xmlns:a16="http://schemas.microsoft.com/office/drawing/2014/main" id="{BECB2DFE-C0C7-9F87-5BFC-387AA26F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3633788"/>
            <a:ext cx="477838" cy="515937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1" name="Oval 27">
            <a:extLst>
              <a:ext uri="{FF2B5EF4-FFF2-40B4-BE49-F238E27FC236}">
                <a16:creationId xmlns:a16="http://schemas.microsoft.com/office/drawing/2014/main" id="{EBCAA099-76BD-AAAA-3AE5-F17F0FB90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513" y="5873750"/>
            <a:ext cx="492125" cy="5270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2" name="Oval 28">
            <a:extLst>
              <a:ext uri="{FF2B5EF4-FFF2-40B4-BE49-F238E27FC236}">
                <a16:creationId xmlns:a16="http://schemas.microsoft.com/office/drawing/2014/main" id="{7AE48AC2-AAB5-1218-F4A9-BA039728C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5878513"/>
            <a:ext cx="477838" cy="517525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3" name="Oval 29">
            <a:extLst>
              <a:ext uri="{FF2B5EF4-FFF2-40B4-BE49-F238E27FC236}">
                <a16:creationId xmlns:a16="http://schemas.microsoft.com/office/drawing/2014/main" id="{844C62BF-FA7D-1731-F162-6C5216854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816475"/>
            <a:ext cx="490538" cy="5286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4" name="Oval 30">
            <a:extLst>
              <a:ext uri="{FF2B5EF4-FFF2-40B4-BE49-F238E27FC236}">
                <a16:creationId xmlns:a16="http://schemas.microsoft.com/office/drawing/2014/main" id="{C4DB0724-2FD1-D3C3-190D-E342D498F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4822825"/>
            <a:ext cx="477838" cy="515938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5" name="Oval 31">
            <a:extLst>
              <a:ext uri="{FF2B5EF4-FFF2-40B4-BE49-F238E27FC236}">
                <a16:creationId xmlns:a16="http://schemas.microsoft.com/office/drawing/2014/main" id="{E336317E-C951-AB7F-CE90-1BBA4EE88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513" y="3627438"/>
            <a:ext cx="492125" cy="5286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6" name="Oval 32">
            <a:extLst>
              <a:ext uri="{FF2B5EF4-FFF2-40B4-BE49-F238E27FC236}">
                <a16:creationId xmlns:a16="http://schemas.microsoft.com/office/drawing/2014/main" id="{1E135210-BE53-F1F4-D2FE-1C147DE1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3633788"/>
            <a:ext cx="477838" cy="515937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7" name="Oval 33">
            <a:extLst>
              <a:ext uri="{FF2B5EF4-FFF2-40B4-BE49-F238E27FC236}">
                <a16:creationId xmlns:a16="http://schemas.microsoft.com/office/drawing/2014/main" id="{3B4705D6-67F4-A9DD-06C5-73636001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73750"/>
            <a:ext cx="490538" cy="5270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8" name="Oval 34">
            <a:extLst>
              <a:ext uri="{FF2B5EF4-FFF2-40B4-BE49-F238E27FC236}">
                <a16:creationId xmlns:a16="http://schemas.microsoft.com/office/drawing/2014/main" id="{4149BBCA-B024-C0E2-11AA-AF298139E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5878513"/>
            <a:ext cx="477838" cy="517525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299" name="Rectangle 35">
            <a:extLst>
              <a:ext uri="{FF2B5EF4-FFF2-40B4-BE49-F238E27FC236}">
                <a16:creationId xmlns:a16="http://schemas.microsoft.com/office/drawing/2014/main" id="{F8DABC58-4743-AE63-F513-8D03217E5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25" y="3686175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a</a:t>
            </a:r>
            <a:endParaRPr lang="en-US" altLang="en-US" sz="2400">
              <a:latin typeface="Times" charset="0"/>
            </a:endParaRPr>
          </a:p>
        </p:txBody>
      </p:sp>
      <p:sp>
        <p:nvSpPr>
          <p:cNvPr id="11300" name="Rectangle 36">
            <a:extLst>
              <a:ext uri="{FF2B5EF4-FFF2-40B4-BE49-F238E27FC236}">
                <a16:creationId xmlns:a16="http://schemas.microsoft.com/office/drawing/2014/main" id="{A4E430E5-8594-567A-C531-214CB6F66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3730625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b</a:t>
            </a:r>
            <a:endParaRPr lang="en-US" altLang="en-US" sz="2400">
              <a:latin typeface="Times" charset="0"/>
            </a:endParaRPr>
          </a:p>
        </p:txBody>
      </p:sp>
      <p:sp>
        <p:nvSpPr>
          <p:cNvPr id="11301" name="Rectangle 37">
            <a:extLst>
              <a:ext uri="{FF2B5EF4-FFF2-40B4-BE49-F238E27FC236}">
                <a16:creationId xmlns:a16="http://schemas.microsoft.com/office/drawing/2014/main" id="{CB508942-3D62-FFD2-DD17-B94935BBA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4875213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c</a:t>
            </a:r>
            <a:endParaRPr lang="en-US" altLang="en-US" sz="2400">
              <a:latin typeface="Times" charset="0"/>
            </a:endParaRPr>
          </a:p>
        </p:txBody>
      </p:sp>
      <p:sp>
        <p:nvSpPr>
          <p:cNvPr id="11302" name="Rectangle 38">
            <a:extLst>
              <a:ext uri="{FF2B5EF4-FFF2-40B4-BE49-F238E27FC236}">
                <a16:creationId xmlns:a16="http://schemas.microsoft.com/office/drawing/2014/main" id="{4D7A2F0E-682B-BFDA-FD4B-CF035276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25" y="5961063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d</a:t>
            </a:r>
            <a:endParaRPr lang="en-US" altLang="en-US" sz="2400">
              <a:latin typeface="Times" charset="0"/>
            </a:endParaRPr>
          </a:p>
        </p:txBody>
      </p:sp>
      <p:sp>
        <p:nvSpPr>
          <p:cNvPr id="11303" name="Rectangle 39">
            <a:extLst>
              <a:ext uri="{FF2B5EF4-FFF2-40B4-BE49-F238E27FC236}">
                <a16:creationId xmlns:a16="http://schemas.microsoft.com/office/drawing/2014/main" id="{BDC447A3-141E-5145-B5ED-4FF101874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5932488"/>
            <a:ext cx="1984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e</a:t>
            </a:r>
            <a:endParaRPr lang="en-US" altLang="en-US" sz="2400">
              <a:latin typeface="Times" charset="0"/>
            </a:endParaRPr>
          </a:p>
        </p:txBody>
      </p:sp>
      <p:sp>
        <p:nvSpPr>
          <p:cNvPr id="11304" name="Rectangle 40">
            <a:extLst>
              <a:ext uri="{FF2B5EF4-FFF2-40B4-BE49-F238E27FC236}">
                <a16:creationId xmlns:a16="http://schemas.microsoft.com/office/drawing/2014/main" id="{A0573DDB-4EE4-4C9E-76A6-1E8D684F7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4151938"/>
            <a:ext cx="29718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Comic Sans MS" panose="030F0902030302020204" pitchFamily="66" charset="0"/>
              </a:rPr>
              <a:t>V= {</a:t>
            </a:r>
            <a:r>
              <a:rPr lang="en-US" altLang="en-US" sz="2200" dirty="0" err="1">
                <a:latin typeface="Comic Sans MS" panose="030F0902030302020204" pitchFamily="66" charset="0"/>
              </a:rPr>
              <a:t>a,b,c,d,e</a:t>
            </a:r>
            <a:r>
              <a:rPr lang="en-US" altLang="en-US" sz="2200" dirty="0">
                <a:latin typeface="Comic Sans MS" panose="030F0902030302020204" pitchFamily="66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200" dirty="0">
              <a:latin typeface="Comic Sans MS" panose="030F0902030302020204" pitchFamily="66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Comic Sans MS" panose="030F0902030302020204" pitchFamily="66" charset="0"/>
              </a:rPr>
              <a:t>E= {(</a:t>
            </a:r>
            <a:r>
              <a:rPr lang="en-US" altLang="en-US" sz="2200" dirty="0" err="1">
                <a:latin typeface="Comic Sans MS" panose="030F0902030302020204" pitchFamily="66" charset="0"/>
              </a:rPr>
              <a:t>a,b</a:t>
            </a:r>
            <a:r>
              <a:rPr lang="en-US" altLang="en-US" sz="2200" dirty="0">
                <a:latin typeface="Comic Sans MS" panose="030F0902030302020204" pitchFamily="66" charset="0"/>
              </a:rPr>
              <a:t>),(</a:t>
            </a:r>
            <a:r>
              <a:rPr lang="en-US" altLang="en-US" sz="2200" dirty="0" err="1">
                <a:latin typeface="Comic Sans MS" panose="030F0902030302020204" pitchFamily="66" charset="0"/>
              </a:rPr>
              <a:t>a,c</a:t>
            </a:r>
            <a:r>
              <a:rPr lang="en-US" altLang="en-US" sz="2200" dirty="0">
                <a:latin typeface="Comic Sans MS" panose="030F0902030302020204" pitchFamily="66" charset="0"/>
              </a:rPr>
              <a:t>),(</a:t>
            </a:r>
            <a:r>
              <a:rPr lang="en-US" altLang="en-US" sz="2200" dirty="0" err="1">
                <a:latin typeface="Comic Sans MS" panose="030F0902030302020204" pitchFamily="66" charset="0"/>
              </a:rPr>
              <a:t>a,d</a:t>
            </a:r>
            <a:r>
              <a:rPr lang="en-US" altLang="en-US" sz="2200" dirty="0">
                <a:latin typeface="Comic Sans MS" panose="030F0902030302020204" pitchFamily="66" charset="0"/>
              </a:rPr>
              <a:t>),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latin typeface="Comic Sans MS" panose="030F0902030302020204" pitchFamily="66" charset="0"/>
              </a:rPr>
              <a:t>(</a:t>
            </a:r>
            <a:r>
              <a:rPr lang="en-US" altLang="en-US" sz="2200" dirty="0" err="1">
                <a:latin typeface="Comic Sans MS" panose="030F0902030302020204" pitchFamily="66" charset="0"/>
              </a:rPr>
              <a:t>b,e</a:t>
            </a:r>
            <a:r>
              <a:rPr lang="en-US" altLang="en-US" sz="2200" dirty="0">
                <a:latin typeface="Comic Sans MS" panose="030F0902030302020204" pitchFamily="66" charset="0"/>
              </a:rPr>
              <a:t>),(</a:t>
            </a:r>
            <a:r>
              <a:rPr lang="en-US" altLang="en-US" sz="2200" dirty="0" err="1">
                <a:latin typeface="Comic Sans MS" panose="030F0902030302020204" pitchFamily="66" charset="0"/>
              </a:rPr>
              <a:t>c,d</a:t>
            </a:r>
            <a:r>
              <a:rPr lang="en-US" altLang="en-US" sz="2200" dirty="0">
                <a:latin typeface="Comic Sans MS" panose="030F0902030302020204" pitchFamily="66" charset="0"/>
              </a:rPr>
              <a:t>),(</a:t>
            </a:r>
            <a:r>
              <a:rPr lang="en-US" altLang="en-US" sz="2200" dirty="0" err="1">
                <a:latin typeface="Comic Sans MS" panose="030F0902030302020204" pitchFamily="66" charset="0"/>
              </a:rPr>
              <a:t>c,e</a:t>
            </a:r>
            <a:r>
              <a:rPr lang="en-US" altLang="en-US" sz="2200" dirty="0">
                <a:latin typeface="Comic Sans MS" panose="030F0902030302020204" pitchFamily="66" charset="0"/>
              </a:rPr>
              <a:t>), (</a:t>
            </a:r>
            <a:r>
              <a:rPr lang="en-US" altLang="en-US" sz="2200" dirty="0" err="1">
                <a:latin typeface="Comic Sans MS" panose="030F0902030302020204" pitchFamily="66" charset="0"/>
              </a:rPr>
              <a:t>d,e</a:t>
            </a:r>
            <a:r>
              <a:rPr lang="en-US" altLang="en-US" sz="2200" dirty="0">
                <a:latin typeface="Comic Sans MS" panose="030F0902030302020204" pitchFamily="66" charset="0"/>
              </a:rPr>
              <a:t>)}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2E9CE9-A1DE-3488-7B9F-A57508DB3F32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10">
            <a:extLst>
              <a:ext uri="{FF2B5EF4-FFF2-40B4-BE49-F238E27FC236}">
                <a16:creationId xmlns:a16="http://schemas.microsoft.com/office/drawing/2014/main" id="{F190C338-E339-BAF0-DDCA-B9F24A6CD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048000"/>
            <a:ext cx="1219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7065D47-A091-218D-E260-DF5DAD81A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Undirected vs. Directed Graph</a:t>
            </a:r>
          </a:p>
        </p:txBody>
      </p:sp>
      <p:sp>
        <p:nvSpPr>
          <p:cNvPr id="13316" name="Oval 5">
            <a:extLst>
              <a:ext uri="{FF2B5EF4-FFF2-40B4-BE49-F238E27FC236}">
                <a16:creationId xmlns:a16="http://schemas.microsoft.com/office/drawing/2014/main" id="{B010B936-E85A-A190-F4C5-BBA64700F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716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</a:p>
        </p:txBody>
      </p:sp>
      <p:sp>
        <p:nvSpPr>
          <p:cNvPr id="13317" name="Oval 6">
            <a:extLst>
              <a:ext uri="{FF2B5EF4-FFF2-40B4-BE49-F238E27FC236}">
                <a16:creationId xmlns:a16="http://schemas.microsoft.com/office/drawing/2014/main" id="{32A8F42D-A5E9-B0BC-3178-47200275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384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3318" name="Oval 7">
            <a:extLst>
              <a:ext uri="{FF2B5EF4-FFF2-40B4-BE49-F238E27FC236}">
                <a16:creationId xmlns:a16="http://schemas.microsoft.com/office/drawing/2014/main" id="{07276D9A-3F9C-5935-9D93-A7720F8A0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810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3319" name="Oval 8">
            <a:extLst>
              <a:ext uri="{FF2B5EF4-FFF2-40B4-BE49-F238E27FC236}">
                <a16:creationId xmlns:a16="http://schemas.microsoft.com/office/drawing/2014/main" id="{B23420BE-7818-A412-FFB1-E54BFD8DC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5146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3320" name="Line 9">
            <a:extLst>
              <a:ext uri="{FF2B5EF4-FFF2-40B4-BE49-F238E27FC236}">
                <a16:creationId xmlns:a16="http://schemas.microsoft.com/office/drawing/2014/main" id="{E2E85655-3107-99CD-DFD5-7FA6118470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19050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11">
            <a:extLst>
              <a:ext uri="{FF2B5EF4-FFF2-40B4-BE49-F238E27FC236}">
                <a16:creationId xmlns:a16="http://schemas.microsoft.com/office/drawing/2014/main" id="{F23865B5-DB62-16A8-802F-E8EEA84E12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0480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Line 12">
            <a:extLst>
              <a:ext uri="{FF2B5EF4-FFF2-40B4-BE49-F238E27FC236}">
                <a16:creationId xmlns:a16="http://schemas.microsoft.com/office/drawing/2014/main" id="{E3364A8C-69C4-F370-EA25-F9D6C80BC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1981200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Line 13">
            <a:extLst>
              <a:ext uri="{FF2B5EF4-FFF2-40B4-BE49-F238E27FC236}">
                <a16:creationId xmlns:a16="http://schemas.microsoft.com/office/drawing/2014/main" id="{B2AB26FD-952A-3C49-F7D9-46C2AAC972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8288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Oval 15">
            <a:extLst>
              <a:ext uri="{FF2B5EF4-FFF2-40B4-BE49-F238E27FC236}">
                <a16:creationId xmlns:a16="http://schemas.microsoft.com/office/drawing/2014/main" id="{BCCE2AD8-E8F3-E182-1287-D6F19A84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2954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3325" name="Oval 16">
            <a:extLst>
              <a:ext uri="{FF2B5EF4-FFF2-40B4-BE49-F238E27FC236}">
                <a16:creationId xmlns:a16="http://schemas.microsoft.com/office/drawing/2014/main" id="{5A3D0B42-427F-4E1F-1316-7381A6FF6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3622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3326" name="Oval 17">
            <a:extLst>
              <a:ext uri="{FF2B5EF4-FFF2-40B4-BE49-F238E27FC236}">
                <a16:creationId xmlns:a16="http://schemas.microsoft.com/office/drawing/2014/main" id="{B6D803CF-6D80-5DB5-FE59-7B487060F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7338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3327" name="Oval 18">
            <a:extLst>
              <a:ext uri="{FF2B5EF4-FFF2-40B4-BE49-F238E27FC236}">
                <a16:creationId xmlns:a16="http://schemas.microsoft.com/office/drawing/2014/main" id="{59150A4D-FABA-0CD2-8643-409C105B2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4384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3328" name="Line 19">
            <a:extLst>
              <a:ext uri="{FF2B5EF4-FFF2-40B4-BE49-F238E27FC236}">
                <a16:creationId xmlns:a16="http://schemas.microsoft.com/office/drawing/2014/main" id="{6F3FF6B1-8113-6CAD-388F-1D8CFF0F35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18288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Line 20">
            <a:extLst>
              <a:ext uri="{FF2B5EF4-FFF2-40B4-BE49-F238E27FC236}">
                <a16:creationId xmlns:a16="http://schemas.microsoft.com/office/drawing/2014/main" id="{183F227E-B83A-1E3E-685C-F4BA07EC5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9718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0" name="Line 21">
            <a:extLst>
              <a:ext uri="{FF2B5EF4-FFF2-40B4-BE49-F238E27FC236}">
                <a16:creationId xmlns:a16="http://schemas.microsoft.com/office/drawing/2014/main" id="{D7C5D567-4A9C-9ACC-AE45-3B90230791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29718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1" name="Line 23">
            <a:extLst>
              <a:ext uri="{FF2B5EF4-FFF2-40B4-BE49-F238E27FC236}">
                <a16:creationId xmlns:a16="http://schemas.microsoft.com/office/drawing/2014/main" id="{C311265B-9250-57C5-11C7-B9FA47511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752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Line 24">
            <a:extLst>
              <a:ext uri="{FF2B5EF4-FFF2-40B4-BE49-F238E27FC236}">
                <a16:creationId xmlns:a16="http://schemas.microsoft.com/office/drawing/2014/main" id="{C8F32DD9-F038-665D-EDF3-9590200CB6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28956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Text Box 25">
            <a:extLst>
              <a:ext uri="{FF2B5EF4-FFF2-40B4-BE49-F238E27FC236}">
                <a16:creationId xmlns:a16="http://schemas.microsoft.com/office/drawing/2014/main" id="{268345ED-2948-9D70-7672-BE84D7925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98382"/>
            <a:ext cx="39624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Undirected Graph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–"/>
            </a:pPr>
            <a:r>
              <a:rPr lang="en-US" altLang="en-US" sz="2000" dirty="0">
                <a:solidFill>
                  <a:schemeClr val="accent2"/>
                </a:solidFill>
                <a:latin typeface="Comic Sans MS" panose="030F0902030302020204" pitchFamily="66" charset="0"/>
              </a:rPr>
              <a:t> edges have no direction</a:t>
            </a:r>
          </a:p>
        </p:txBody>
      </p:sp>
      <p:sp>
        <p:nvSpPr>
          <p:cNvPr id="13334" name="Text Box 26">
            <a:extLst>
              <a:ext uri="{FF2B5EF4-FFF2-40B4-BE49-F238E27FC236}">
                <a16:creationId xmlns:a16="http://schemas.microsoft.com/office/drawing/2014/main" id="{1B3BFA0C-1BDD-C503-8657-3494A0178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698382"/>
            <a:ext cx="39624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Directed Graph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–"/>
            </a:pPr>
            <a:r>
              <a:rPr lang="en-US" altLang="en-US" sz="2000" dirty="0">
                <a:solidFill>
                  <a:schemeClr val="accent2"/>
                </a:solidFill>
                <a:latin typeface="Comic Sans MS" panose="030F0902030302020204" pitchFamily="66" charset="0"/>
              </a:rPr>
              <a:t> edges have a specific direction from one vertex to another.</a:t>
            </a:r>
            <a:endParaRPr lang="en-US" altLang="en-US" sz="20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4107D57-68CB-4019-BDF6-9CB7760D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799" cy="470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omic Sans MS" panose="030F0902030302020204" pitchFamily="66" charset="0"/>
                <a:ea typeface="新細明體" panose="02020500000000000000" pitchFamily="18" charset="-120"/>
              </a:rPr>
              <a:t>The </a:t>
            </a:r>
            <a:r>
              <a:rPr lang="en-US" altLang="zh-TW" sz="2400" dirty="0">
                <a:solidFill>
                  <a:srgbClr val="CC33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degree</a:t>
            </a:r>
            <a:r>
              <a:rPr lang="en-US" altLang="zh-TW" sz="2400" dirty="0">
                <a:latin typeface="Comic Sans MS" panose="030F0902030302020204" pitchFamily="66" charset="0"/>
                <a:ea typeface="新細明體" panose="02020500000000000000" pitchFamily="18" charset="-120"/>
              </a:rPr>
              <a:t> of a vertex is the number of edges to that vertex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omic Sans MS" panose="030F0902030302020204" pitchFamily="66" charset="0"/>
              <a:ea typeface="新細明體" panose="02020500000000000000" pitchFamily="18" charset="-12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omic Sans MS" panose="030F0902030302020204" pitchFamily="66" charset="0"/>
                <a:ea typeface="新細明體" panose="02020500000000000000" pitchFamily="18" charset="-120"/>
              </a:rPr>
              <a:t>For directed graph, 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the </a:t>
            </a:r>
            <a:r>
              <a:rPr lang="en-US" altLang="zh-TW" sz="2100" dirty="0">
                <a:solidFill>
                  <a:srgbClr val="C000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in-degree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of a vertex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v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is the number of edges</a:t>
            </a:r>
            <a:b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</a:b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that have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v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as the head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the </a:t>
            </a:r>
            <a:r>
              <a:rPr lang="en-US" altLang="zh-TW" sz="2100" dirty="0">
                <a:solidFill>
                  <a:srgbClr val="C000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out-degree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of a vertex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v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is the number of edges</a:t>
            </a:r>
            <a:b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</a:b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that have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v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as the tail</a:t>
            </a:r>
          </a:p>
          <a:p>
            <a:pPr marL="457200" lvl="1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altLang="zh-TW" sz="2100" dirty="0">
              <a:latin typeface="Comic Sans MS" panose="030F0902030302020204" pitchFamily="66" charset="0"/>
              <a:ea typeface="新細明體" panose="02020500000000000000" pitchFamily="18" charset="-120"/>
            </a:endParaRPr>
          </a:p>
          <a:p>
            <a:pPr marL="457200" lvl="1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if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di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is the degree of a vertex </a:t>
            </a:r>
            <a:r>
              <a:rPr lang="en-US" altLang="zh-TW" sz="2100" i="1" dirty="0" err="1">
                <a:latin typeface="Comic Sans MS" panose="030F0902030302020204" pitchFamily="66" charset="0"/>
                <a:ea typeface="新細明體" panose="02020500000000000000" pitchFamily="18" charset="-120"/>
              </a:rPr>
              <a:t>i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in a graph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G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with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n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vertices and </a:t>
            </a:r>
            <a:r>
              <a:rPr lang="en-US" altLang="zh-TW" sz="2100" i="1" dirty="0">
                <a:latin typeface="Comic Sans MS" panose="030F0902030302020204" pitchFamily="66" charset="0"/>
                <a:ea typeface="新細明體" panose="02020500000000000000" pitchFamily="18" charset="-120"/>
              </a:rPr>
              <a:t>e</a:t>
            </a:r>
            <a:r>
              <a:rPr lang="en-US" altLang="zh-TW" sz="2100" dirty="0">
                <a:latin typeface="Comic Sans MS" panose="030F0902030302020204" pitchFamily="66" charset="0"/>
                <a:ea typeface="新細明體" panose="02020500000000000000" pitchFamily="18" charset="-120"/>
              </a:rPr>
              <a:t> edges, the number of edges is</a:t>
            </a:r>
          </a:p>
        </p:txBody>
      </p:sp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4CF3724A-7842-5488-EBE0-CA334C1A5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416618"/>
              </p:ext>
            </p:extLst>
          </p:nvPr>
        </p:nvGraphicFramePr>
        <p:xfrm>
          <a:off x="1382499" y="4668759"/>
          <a:ext cx="2007471" cy="90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6967200" imgH="8483600" progId="Equation.2">
                  <p:embed/>
                </p:oleObj>
              </mc:Choice>
              <mc:Fallback>
                <p:oleObj name="方程式" r:id="rId3" imgW="16967200" imgH="8483600" progId="Equation.2">
                  <p:embed/>
                  <p:pic>
                    <p:nvPicPr>
                      <p:cNvPr id="14339" name="Object 3">
                        <a:extLst>
                          <a:ext uri="{FF2B5EF4-FFF2-40B4-BE49-F238E27FC236}">
                            <a16:creationId xmlns:a16="http://schemas.microsoft.com/office/drawing/2014/main" id="{4CF3724A-7842-5488-EBE0-CA334C1A56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499" y="4668759"/>
                        <a:ext cx="2007471" cy="90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4">
            <a:extLst>
              <a:ext uri="{FF2B5EF4-FFF2-40B4-BE49-F238E27FC236}">
                <a16:creationId xmlns:a16="http://schemas.microsoft.com/office/drawing/2014/main" id="{28E56832-EA35-C1A4-138B-F8914EA10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686799" cy="71388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3600" dirty="0">
                <a:solidFill>
                  <a:srgbClr val="007B3B"/>
                </a:solidFill>
                <a:latin typeface="Comic Sans MS" panose="030F0902030302020204" pitchFamily="66" charset="0"/>
              </a:rPr>
              <a:t>Degree of a Vertex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E7B8EC0B-CD86-E258-CEE6-D68D03EDC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502" y="4834714"/>
            <a:ext cx="39020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FF"/>
                </a:solidFill>
                <a:latin typeface="Comic Sans MS" panose="030F0902030302020204" pitchFamily="66" charset="0"/>
              </a:rPr>
              <a:t>Hint: </a:t>
            </a:r>
            <a:r>
              <a:rPr lang="en-US" altLang="en-US" sz="2000" dirty="0">
                <a:latin typeface="Comic Sans MS" panose="030F0902030302020204" pitchFamily="66" charset="0"/>
              </a:rPr>
              <a:t>Adjacent vertices are counted twice</a:t>
            </a:r>
            <a:r>
              <a:rPr lang="en-US" altLang="en-US" sz="2400" dirty="0">
                <a:latin typeface="Comic Sans MS" panose="030F0902030302020204" pitchFamily="66" charset="0"/>
              </a:rPr>
              <a:t>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EF8095-0AB7-CFF0-B431-91F8554CFB1B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10">
            <a:extLst>
              <a:ext uri="{FF2B5EF4-FFF2-40B4-BE49-F238E27FC236}">
                <a16:creationId xmlns:a16="http://schemas.microsoft.com/office/drawing/2014/main" id="{46534D69-DEA5-C961-F693-0502EEA7B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984811"/>
            <a:ext cx="1219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E929B2F-4ABC-9314-74B5-38ECCF1C5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6" y="152400"/>
            <a:ext cx="8686800" cy="775011"/>
          </a:xfrm>
        </p:spPr>
        <p:txBody>
          <a:bodyPr/>
          <a:lstStyle/>
          <a:p>
            <a:pPr eaLnBrk="1" hangingPunct="1"/>
            <a:r>
              <a:rPr lang="en-US" altLang="en-US" dirty="0"/>
              <a:t>Degree of a Vertex</a:t>
            </a:r>
          </a:p>
        </p:txBody>
      </p:sp>
      <p:sp>
        <p:nvSpPr>
          <p:cNvPr id="16388" name="Oval 5">
            <a:extLst>
              <a:ext uri="{FF2B5EF4-FFF2-40B4-BE49-F238E27FC236}">
                <a16:creationId xmlns:a16="http://schemas.microsoft.com/office/drawing/2014/main" id="{9AD781A9-D63C-9DC0-B97A-2A380FFF0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084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6389" name="Oval 6">
            <a:extLst>
              <a:ext uri="{FF2B5EF4-FFF2-40B4-BE49-F238E27FC236}">
                <a16:creationId xmlns:a16="http://schemas.microsoft.com/office/drawing/2014/main" id="{CD12C666-6BDB-C98A-8237-6884737F3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3752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6390" name="Oval 7">
            <a:extLst>
              <a:ext uri="{FF2B5EF4-FFF2-40B4-BE49-F238E27FC236}">
                <a16:creationId xmlns:a16="http://schemas.microsoft.com/office/drawing/2014/main" id="{67229113-7504-958C-E336-4239C53EE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7468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6391" name="Oval 8">
            <a:extLst>
              <a:ext uri="{FF2B5EF4-FFF2-40B4-BE49-F238E27FC236}">
                <a16:creationId xmlns:a16="http://schemas.microsoft.com/office/drawing/2014/main" id="{76DAB536-A87D-D6B0-034D-9E185CC30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514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6392" name="Line 9">
            <a:extLst>
              <a:ext uri="{FF2B5EF4-FFF2-40B4-BE49-F238E27FC236}">
                <a16:creationId xmlns:a16="http://schemas.microsoft.com/office/drawing/2014/main" id="{0DEFB4A9-6CF3-0568-156B-73C415B637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1841811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11">
            <a:extLst>
              <a:ext uri="{FF2B5EF4-FFF2-40B4-BE49-F238E27FC236}">
                <a16:creationId xmlns:a16="http://schemas.microsoft.com/office/drawing/2014/main" id="{EDE200E2-453D-F493-B240-7E5C6EDF04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984811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12">
            <a:extLst>
              <a:ext uri="{FF2B5EF4-FFF2-40B4-BE49-F238E27FC236}">
                <a16:creationId xmlns:a16="http://schemas.microsoft.com/office/drawing/2014/main" id="{83208F34-5594-6DD8-D697-31861EB05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1918011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3">
            <a:extLst>
              <a:ext uri="{FF2B5EF4-FFF2-40B4-BE49-F238E27FC236}">
                <a16:creationId xmlns:a16="http://schemas.microsoft.com/office/drawing/2014/main" id="{354CEF74-9B55-E27C-15AF-B63E79517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76561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Oval 15">
            <a:extLst>
              <a:ext uri="{FF2B5EF4-FFF2-40B4-BE49-F238E27FC236}">
                <a16:creationId xmlns:a16="http://schemas.microsoft.com/office/drawing/2014/main" id="{40A1F719-313F-AC93-7CA2-D81038BE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2322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6397" name="Oval 16">
            <a:extLst>
              <a:ext uri="{FF2B5EF4-FFF2-40B4-BE49-F238E27FC236}">
                <a16:creationId xmlns:a16="http://schemas.microsoft.com/office/drawing/2014/main" id="{5A534073-72C5-07A7-092A-167105823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2990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6398" name="Oval 17">
            <a:extLst>
              <a:ext uri="{FF2B5EF4-FFF2-40B4-BE49-F238E27FC236}">
                <a16:creationId xmlns:a16="http://schemas.microsoft.com/office/drawing/2014/main" id="{B21B2479-A45B-4B46-0365-D48F07FCE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6706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6399" name="Oval 18">
            <a:extLst>
              <a:ext uri="{FF2B5EF4-FFF2-40B4-BE49-F238E27FC236}">
                <a16:creationId xmlns:a16="http://schemas.microsoft.com/office/drawing/2014/main" id="{C37C4204-6E52-30EB-F46E-44468AA77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37521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6400" name="Line 19">
            <a:extLst>
              <a:ext uri="{FF2B5EF4-FFF2-40B4-BE49-F238E27FC236}">
                <a16:creationId xmlns:a16="http://schemas.microsoft.com/office/drawing/2014/main" id="{C78E4192-1FA5-31B9-6D1B-8A9D6B2D2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1765611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1" name="Line 20">
            <a:extLst>
              <a:ext uri="{FF2B5EF4-FFF2-40B4-BE49-F238E27FC236}">
                <a16:creationId xmlns:a16="http://schemas.microsoft.com/office/drawing/2014/main" id="{22B38749-42E9-1FF5-25B4-D1C8C9C56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908611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2" name="Line 21">
            <a:extLst>
              <a:ext uri="{FF2B5EF4-FFF2-40B4-BE49-F238E27FC236}">
                <a16:creationId xmlns:a16="http://schemas.microsoft.com/office/drawing/2014/main" id="{93E0F9BE-62D8-6A67-14F1-0C5498F5D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2908611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3" name="Line 23">
            <a:extLst>
              <a:ext uri="{FF2B5EF4-FFF2-40B4-BE49-F238E27FC236}">
                <a16:creationId xmlns:a16="http://schemas.microsoft.com/office/drawing/2014/main" id="{E7011799-6369-F941-813D-C77FA7D7C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68941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4" name="Line 24">
            <a:extLst>
              <a:ext uri="{FF2B5EF4-FFF2-40B4-BE49-F238E27FC236}">
                <a16:creationId xmlns:a16="http://schemas.microsoft.com/office/drawing/2014/main" id="{7F41484F-1428-3B17-071D-B92AE5852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2832411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5" name="Text Box 25">
            <a:extLst>
              <a:ext uri="{FF2B5EF4-FFF2-40B4-BE49-F238E27FC236}">
                <a16:creationId xmlns:a16="http://schemas.microsoft.com/office/drawing/2014/main" id="{474315D7-6449-C1B6-CC8B-C8BA0FE96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30" y="4508812"/>
            <a:ext cx="236220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Degree(A)=?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Degree(B)=?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Degree(C)=?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Degree(D)=?</a:t>
            </a:r>
          </a:p>
        </p:txBody>
      </p:sp>
      <p:sp>
        <p:nvSpPr>
          <p:cNvPr id="16406" name="Text Box 25">
            <a:extLst>
              <a:ext uri="{FF2B5EF4-FFF2-40B4-BE49-F238E27FC236}">
                <a16:creationId xmlns:a16="http://schemas.microsoft.com/office/drawing/2014/main" id="{9557E2AC-4584-AF22-8CEE-F73CC646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324" y="4508812"/>
            <a:ext cx="388620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latin typeface="Comic Sans MS" panose="030F0902030302020204" pitchFamily="66" charset="0"/>
              </a:rPr>
              <a:t>In-degree(A)=?	Out-degree(A)=?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latin typeface="Comic Sans MS" panose="030F0902030302020204" pitchFamily="66" charset="0"/>
              </a:rPr>
              <a:t>In-degree(B)=?	Out-degree(B)=?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latin typeface="Comic Sans MS" panose="030F0902030302020204" pitchFamily="66" charset="0"/>
              </a:rPr>
              <a:t>In-degree(C)=?	Out-degree(C)=?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latin typeface="Comic Sans MS" panose="030F0902030302020204" pitchFamily="66" charset="0"/>
              </a:rPr>
              <a:t>In-degree(D)=?	Out-degree(D)=?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21F1EE1-CB1F-448A-D7F9-EE49053B7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304800"/>
            <a:ext cx="8675649" cy="638175"/>
          </a:xfrm>
        </p:spPr>
        <p:txBody>
          <a:bodyPr/>
          <a:lstStyle/>
          <a:p>
            <a:pPr eaLnBrk="1" hangingPunct="1"/>
            <a:r>
              <a:rPr lang="en-US" altLang="en-US" dirty="0"/>
              <a:t>Subgraph</a:t>
            </a:r>
          </a:p>
        </p:txBody>
      </p:sp>
      <p:sp>
        <p:nvSpPr>
          <p:cNvPr id="17411" name="Oval 5">
            <a:extLst>
              <a:ext uri="{FF2B5EF4-FFF2-40B4-BE49-F238E27FC236}">
                <a16:creationId xmlns:a16="http://schemas.microsoft.com/office/drawing/2014/main" id="{348E48AE-E815-508E-9B4B-2268C4656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181926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7412" name="Oval 6">
            <a:extLst>
              <a:ext uri="{FF2B5EF4-FFF2-40B4-BE49-F238E27FC236}">
                <a16:creationId xmlns:a16="http://schemas.microsoft.com/office/drawing/2014/main" id="{465426A0-8861-4E5C-C506-5C708A071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48726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7413" name="Oval 7">
            <a:extLst>
              <a:ext uri="{FF2B5EF4-FFF2-40B4-BE49-F238E27FC236}">
                <a16:creationId xmlns:a16="http://schemas.microsoft.com/office/drawing/2014/main" id="{1A85D9DD-847D-2905-26DE-DF92D46E1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620326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7414" name="Oval 8">
            <a:extLst>
              <a:ext uri="{FF2B5EF4-FFF2-40B4-BE49-F238E27FC236}">
                <a16:creationId xmlns:a16="http://schemas.microsoft.com/office/drawing/2014/main" id="{4D71927E-0A57-8C20-589C-F45201AA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324926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7415" name="Line 9">
            <a:extLst>
              <a:ext uri="{FF2B5EF4-FFF2-40B4-BE49-F238E27FC236}">
                <a16:creationId xmlns:a16="http://schemas.microsoft.com/office/drawing/2014/main" id="{6FA2D00E-181D-B8FE-41C3-FB54A07308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2715326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Line 10">
            <a:extLst>
              <a:ext uri="{FF2B5EF4-FFF2-40B4-BE49-F238E27FC236}">
                <a16:creationId xmlns:a16="http://schemas.microsoft.com/office/drawing/2014/main" id="{9927AF9C-22B5-4127-0A10-05AC09BE8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858326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11">
            <a:extLst>
              <a:ext uri="{FF2B5EF4-FFF2-40B4-BE49-F238E27FC236}">
                <a16:creationId xmlns:a16="http://schemas.microsoft.com/office/drawing/2014/main" id="{F87B0FE6-401F-A169-4ED3-1E53B98154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858326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Line 12">
            <a:extLst>
              <a:ext uri="{FF2B5EF4-FFF2-40B4-BE49-F238E27FC236}">
                <a16:creationId xmlns:a16="http://schemas.microsoft.com/office/drawing/2014/main" id="{7EEE10AA-E9BC-570C-9DE0-F6D1678DE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791526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9" name="Line 13">
            <a:extLst>
              <a:ext uri="{FF2B5EF4-FFF2-40B4-BE49-F238E27FC236}">
                <a16:creationId xmlns:a16="http://schemas.microsoft.com/office/drawing/2014/main" id="{FB9D8B59-86CD-A8CE-701D-AF4F08ACC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639126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11">
            <a:extLst>
              <a:ext uri="{FF2B5EF4-FFF2-40B4-BE49-F238E27FC236}">
                <a16:creationId xmlns:a16="http://schemas.microsoft.com/office/drawing/2014/main" id="{465714F5-5D0F-7C26-E33A-8A0CF4659B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6650" y="5263379"/>
            <a:ext cx="609600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Oval 15">
            <a:extLst>
              <a:ext uri="{FF2B5EF4-FFF2-40B4-BE49-F238E27FC236}">
                <a16:creationId xmlns:a16="http://schemas.microsoft.com/office/drawing/2014/main" id="{BC06639C-5ECB-A900-FDB4-74CF80E21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852967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7422" name="Oval 16">
            <a:extLst>
              <a:ext uri="{FF2B5EF4-FFF2-40B4-BE49-F238E27FC236}">
                <a16:creationId xmlns:a16="http://schemas.microsoft.com/office/drawing/2014/main" id="{B8B0EA81-9303-C795-E2D9-FE56D728D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919767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17423" name="Oval 18">
            <a:extLst>
              <a:ext uri="{FF2B5EF4-FFF2-40B4-BE49-F238E27FC236}">
                <a16:creationId xmlns:a16="http://schemas.microsoft.com/office/drawing/2014/main" id="{13CE9D33-2A43-02C9-6461-FF7402387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995967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7424" name="Line 19">
            <a:extLst>
              <a:ext uri="{FF2B5EF4-FFF2-40B4-BE49-F238E27FC236}">
                <a16:creationId xmlns:a16="http://schemas.microsoft.com/office/drawing/2014/main" id="{E12BA4EA-C243-7D91-9D21-51736478EE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386367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23">
            <a:extLst>
              <a:ext uri="{FF2B5EF4-FFF2-40B4-BE49-F238E27FC236}">
                <a16:creationId xmlns:a16="http://schemas.microsoft.com/office/drawing/2014/main" id="{9AA6A308-EDD4-2CE4-F542-40AE9B04A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10167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Rectangle 25">
            <a:extLst>
              <a:ext uri="{FF2B5EF4-FFF2-40B4-BE49-F238E27FC236}">
                <a16:creationId xmlns:a16="http://schemas.microsoft.com/office/drawing/2014/main" id="{1DF7BDE3-F208-85F1-552C-14252743E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7" y="1076095"/>
            <a:ext cx="7315200" cy="981306"/>
          </a:xfrm>
          <a:noFill/>
        </p:spPr>
        <p:txBody>
          <a:bodyPr>
            <a:normAutofit/>
          </a:bodyPr>
          <a:lstStyle/>
          <a:p>
            <a:pPr eaLnBrk="1" hangingPunct="1">
              <a:spcAft>
                <a:spcPts val="0"/>
              </a:spcAft>
            </a:pPr>
            <a:r>
              <a:rPr lang="en-US" altLang="en-US" sz="2400" dirty="0"/>
              <a:t>Subgraph:</a:t>
            </a:r>
          </a:p>
          <a:p>
            <a:pPr lvl="1" eaLnBrk="1" hangingPunct="1">
              <a:spcAft>
                <a:spcPts val="0"/>
              </a:spcAft>
            </a:pPr>
            <a:r>
              <a:rPr lang="en-US" altLang="en-US" sz="2000" dirty="0"/>
              <a:t>  subset of vertices and edges</a:t>
            </a:r>
          </a:p>
        </p:txBody>
      </p:sp>
      <p:sp>
        <p:nvSpPr>
          <p:cNvPr id="17427" name="AutoShape 26">
            <a:extLst>
              <a:ext uri="{FF2B5EF4-FFF2-40B4-BE49-F238E27FC236}">
                <a16:creationId xmlns:a16="http://schemas.microsoft.com/office/drawing/2014/main" id="{1FB0EAE7-E9C4-7D85-0100-563DBB866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70259"/>
            <a:ext cx="1174595" cy="488791"/>
          </a:xfrm>
          <a:prstGeom prst="rightArrow">
            <a:avLst>
              <a:gd name="adj1" fmla="val 50000"/>
              <a:gd name="adj2" fmla="val 59529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28" name="Oval 15">
            <a:extLst>
              <a:ext uri="{FF2B5EF4-FFF2-40B4-BE49-F238E27FC236}">
                <a16:creationId xmlns:a16="http://schemas.microsoft.com/office/drawing/2014/main" id="{C761D39E-BB75-6EFD-0605-FE2FD0EB8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891779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7429" name="Oval 16">
            <a:extLst>
              <a:ext uri="{FF2B5EF4-FFF2-40B4-BE49-F238E27FC236}">
                <a16:creationId xmlns:a16="http://schemas.microsoft.com/office/drawing/2014/main" id="{2D638E56-543B-8259-AD12-91FDDC11D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568179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7430" name="Oval 18">
            <a:extLst>
              <a:ext uri="{FF2B5EF4-FFF2-40B4-BE49-F238E27FC236}">
                <a16:creationId xmlns:a16="http://schemas.microsoft.com/office/drawing/2014/main" id="{ADB5E1F4-81B5-9FBF-D67B-9D18770DB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653779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7431" name="Line 19">
            <a:extLst>
              <a:ext uri="{FF2B5EF4-FFF2-40B4-BE49-F238E27FC236}">
                <a16:creationId xmlns:a16="http://schemas.microsoft.com/office/drawing/2014/main" id="{90E5E442-4BAE-CA71-8D2E-3F1805307E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4425179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2" name="Line 23">
            <a:extLst>
              <a:ext uri="{FF2B5EF4-FFF2-40B4-BE49-F238E27FC236}">
                <a16:creationId xmlns:a16="http://schemas.microsoft.com/office/drawing/2014/main" id="{A8C30081-F7D5-3BF3-D187-5C80FA920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5187179"/>
            <a:ext cx="85725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3" name="Oval 16">
            <a:extLst>
              <a:ext uri="{FF2B5EF4-FFF2-40B4-BE49-F238E27FC236}">
                <a16:creationId xmlns:a16="http://schemas.microsoft.com/office/drawing/2014/main" id="{AC36D272-96A8-F685-984D-92299C021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75" y="4729979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B694443-2627-FDB1-2AF7-5360E74ABBA9}"/>
              </a:ext>
            </a:extLst>
          </p:cNvPr>
          <p:cNvSpPr/>
          <p:nvPr/>
        </p:nvSpPr>
        <p:spPr>
          <a:xfrm>
            <a:off x="5201114" y="1717288"/>
            <a:ext cx="3361861" cy="1996068"/>
          </a:xfrm>
          <a:prstGeom prst="roundRect">
            <a:avLst>
              <a:gd name="adj" fmla="val 8599"/>
            </a:avLst>
          </a:prstGeom>
          <a:noFill/>
          <a:ln w="28575">
            <a:solidFill>
              <a:srgbClr val="99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D09FE-444A-F27B-B23C-2E611EAA5BF6}"/>
              </a:ext>
            </a:extLst>
          </p:cNvPr>
          <p:cNvSpPr txBox="1">
            <a:spLocks noChangeArrowheads="1"/>
          </p:cNvSpPr>
          <p:nvPr/>
        </p:nvSpPr>
        <p:spPr>
          <a:xfrm>
            <a:off x="6063476" y="3070891"/>
            <a:ext cx="1627148" cy="638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7B3B"/>
                </a:solidFill>
                <a:latin typeface="Comic Sans MS" panose="030F0902030302020204" pitchFamily="66" charset="0"/>
                <a:ea typeface="+mj-ea"/>
                <a:cs typeface="+mj-cs"/>
              </a:defRPr>
            </a:lvl1pPr>
          </a:lstStyle>
          <a:p>
            <a:r>
              <a:rPr lang="en-US" altLang="en-US" sz="1800" dirty="0">
                <a:solidFill>
                  <a:srgbClr val="9999FF"/>
                </a:solidFill>
              </a:rPr>
              <a:t>Subgraph 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CA1A3E-98B1-0FC7-DB7E-C6712DCFAEC7}"/>
              </a:ext>
            </a:extLst>
          </p:cNvPr>
          <p:cNvSpPr/>
          <p:nvPr/>
        </p:nvSpPr>
        <p:spPr>
          <a:xfrm>
            <a:off x="5196119" y="3828593"/>
            <a:ext cx="3414481" cy="2516449"/>
          </a:xfrm>
          <a:prstGeom prst="roundRect">
            <a:avLst>
              <a:gd name="adj" fmla="val 8599"/>
            </a:avLst>
          </a:prstGeom>
          <a:noFill/>
          <a:ln w="28575">
            <a:solidFill>
              <a:srgbClr val="99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D21800-3861-A095-1C62-BB6F9954AAD6}"/>
              </a:ext>
            </a:extLst>
          </p:cNvPr>
          <p:cNvSpPr txBox="1">
            <a:spLocks noChangeArrowheads="1"/>
          </p:cNvSpPr>
          <p:nvPr/>
        </p:nvSpPr>
        <p:spPr>
          <a:xfrm>
            <a:off x="5144140" y="5720579"/>
            <a:ext cx="1627148" cy="638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7B3B"/>
                </a:solidFill>
                <a:latin typeface="Comic Sans MS" panose="030F0902030302020204" pitchFamily="66" charset="0"/>
                <a:ea typeface="+mj-ea"/>
                <a:cs typeface="+mj-cs"/>
              </a:defRPr>
            </a:lvl1pPr>
          </a:lstStyle>
          <a:p>
            <a:r>
              <a:rPr lang="en-US" altLang="en-US" sz="1800" dirty="0">
                <a:solidFill>
                  <a:srgbClr val="9999FF"/>
                </a:solidFill>
              </a:rPr>
              <a:t>Subgraph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7456967-1B1C-FAA9-2968-B374F0CDF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196" y="228600"/>
            <a:ext cx="8655204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Simple Path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2D8D241-C0F0-B527-C0D3-E4D922653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0196" y="1093749"/>
            <a:ext cx="8610600" cy="1192251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A simple path is a path such that all vertices are distinct, except that the first and the last could be the same.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i="1" dirty="0">
                <a:solidFill>
                  <a:srgbClr val="FF3300"/>
                </a:solidFill>
              </a:rPr>
              <a:t>ABCD</a:t>
            </a:r>
            <a:r>
              <a:rPr lang="en-US" altLang="en-US" dirty="0"/>
              <a:t> is a simple path</a:t>
            </a:r>
          </a:p>
        </p:txBody>
      </p:sp>
      <p:sp>
        <p:nvSpPr>
          <p:cNvPr id="18436" name="Oval 5">
            <a:extLst>
              <a:ext uri="{FF2B5EF4-FFF2-40B4-BE49-F238E27FC236}">
                <a16:creationId xmlns:a16="http://schemas.microsoft.com/office/drawing/2014/main" id="{C333CC35-74D8-3460-5093-E30E0B968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4834" y="2286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8437" name="Oval 6">
            <a:extLst>
              <a:ext uri="{FF2B5EF4-FFF2-40B4-BE49-F238E27FC236}">
                <a16:creationId xmlns:a16="http://schemas.microsoft.com/office/drawing/2014/main" id="{639A1700-BBFE-DC7B-4973-2C411B40D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434" y="33528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8438" name="Oval 7">
            <a:extLst>
              <a:ext uri="{FF2B5EF4-FFF2-40B4-BE49-F238E27FC236}">
                <a16:creationId xmlns:a16="http://schemas.microsoft.com/office/drawing/2014/main" id="{C0404372-5A7D-3172-7833-BF75BDD7B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034" y="47244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8439" name="Oval 8">
            <a:extLst>
              <a:ext uri="{FF2B5EF4-FFF2-40B4-BE49-F238E27FC236}">
                <a16:creationId xmlns:a16="http://schemas.microsoft.com/office/drawing/2014/main" id="{113AA294-FAE0-7677-571E-7BBC16591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834" y="3429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8440" name="Line 9">
            <a:extLst>
              <a:ext uri="{FF2B5EF4-FFF2-40B4-BE49-F238E27FC236}">
                <a16:creationId xmlns:a16="http://schemas.microsoft.com/office/drawing/2014/main" id="{F02BAF80-AB9A-A88F-493F-664A93C5E9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65234" y="28194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10">
            <a:extLst>
              <a:ext uri="{FF2B5EF4-FFF2-40B4-BE49-F238E27FC236}">
                <a16:creationId xmlns:a16="http://schemas.microsoft.com/office/drawing/2014/main" id="{2A52BE17-FE69-FF32-1B42-A92521BCB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5234" y="39624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1">
            <a:extLst>
              <a:ext uri="{FF2B5EF4-FFF2-40B4-BE49-F238E27FC236}">
                <a16:creationId xmlns:a16="http://schemas.microsoft.com/office/drawing/2014/main" id="{5BEB3D8C-A58D-A953-4176-F524DCB483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5434" y="39624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2">
            <a:extLst>
              <a:ext uri="{FF2B5EF4-FFF2-40B4-BE49-F238E27FC236}">
                <a16:creationId xmlns:a16="http://schemas.microsoft.com/office/drawing/2014/main" id="{5DE223E7-FF32-1B28-B30B-CEE5341B6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5834" y="2895600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3">
            <a:extLst>
              <a:ext uri="{FF2B5EF4-FFF2-40B4-BE49-F238E27FC236}">
                <a16:creationId xmlns:a16="http://schemas.microsoft.com/office/drawing/2014/main" id="{F39CA4F5-946B-4D20-8219-D6B46E0B9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4434" y="27432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20">
            <a:extLst>
              <a:ext uri="{FF2B5EF4-FFF2-40B4-BE49-F238E27FC236}">
                <a16:creationId xmlns:a16="http://schemas.microsoft.com/office/drawing/2014/main" id="{4146F398-F1FC-7A75-710B-CA0D33342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4034" y="4152900"/>
            <a:ext cx="8890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Rectangle 21">
            <a:extLst>
              <a:ext uri="{FF2B5EF4-FFF2-40B4-BE49-F238E27FC236}">
                <a16:creationId xmlns:a16="http://schemas.microsoft.com/office/drawing/2014/main" id="{87B7BEF9-E19D-27B7-03E5-6D63278CD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634" y="4533900"/>
            <a:ext cx="762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mic Sans MS" panose="030F0902030302020204" pitchFamily="66" charset="0"/>
              </a:rPr>
              <a:t>path</a:t>
            </a:r>
          </a:p>
        </p:txBody>
      </p:sp>
      <p:sp>
        <p:nvSpPr>
          <p:cNvPr id="18447" name="Freeform 22">
            <a:extLst>
              <a:ext uri="{FF2B5EF4-FFF2-40B4-BE49-F238E27FC236}">
                <a16:creationId xmlns:a16="http://schemas.microsoft.com/office/drawing/2014/main" id="{8D8F00FF-3FAE-4D72-05BF-9122BA8B7AA7}"/>
              </a:ext>
            </a:extLst>
          </p:cNvPr>
          <p:cNvSpPr>
            <a:spLocks/>
          </p:cNvSpPr>
          <p:nvPr/>
        </p:nvSpPr>
        <p:spPr bwMode="auto">
          <a:xfrm>
            <a:off x="5493834" y="2895600"/>
            <a:ext cx="1727200" cy="1803400"/>
          </a:xfrm>
          <a:custGeom>
            <a:avLst/>
            <a:gdLst>
              <a:gd name="T0" fmla="*/ 0 w 1088"/>
              <a:gd name="T1" fmla="*/ 2147483646 h 1136"/>
              <a:gd name="T2" fmla="*/ 2147483646 w 1088"/>
              <a:gd name="T3" fmla="*/ 2147483646 h 1136"/>
              <a:gd name="T4" fmla="*/ 2147483646 w 1088"/>
              <a:gd name="T5" fmla="*/ 2147483646 h 1136"/>
              <a:gd name="T6" fmla="*/ 2147483646 w 1088"/>
              <a:gd name="T7" fmla="*/ 2147483646 h 1136"/>
              <a:gd name="T8" fmla="*/ 2147483646 w 1088"/>
              <a:gd name="T9" fmla="*/ 2147483646 h 1136"/>
              <a:gd name="T10" fmla="*/ 2147483646 w 1088"/>
              <a:gd name="T11" fmla="*/ 2147483646 h 1136"/>
              <a:gd name="T12" fmla="*/ 2147483646 w 1088"/>
              <a:gd name="T13" fmla="*/ 2147483646 h 1136"/>
              <a:gd name="T14" fmla="*/ 2147483646 w 1088"/>
              <a:gd name="T15" fmla="*/ 2147483646 h 11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088" h="1136">
                <a:moveTo>
                  <a:pt x="0" y="480"/>
                </a:moveTo>
                <a:cubicBezTo>
                  <a:pt x="116" y="344"/>
                  <a:pt x="232" y="208"/>
                  <a:pt x="288" y="144"/>
                </a:cubicBezTo>
                <a:cubicBezTo>
                  <a:pt x="344" y="80"/>
                  <a:pt x="288" y="112"/>
                  <a:pt x="336" y="96"/>
                </a:cubicBezTo>
                <a:cubicBezTo>
                  <a:pt x="384" y="80"/>
                  <a:pt x="464" y="0"/>
                  <a:pt x="576" y="48"/>
                </a:cubicBezTo>
                <a:cubicBezTo>
                  <a:pt x="688" y="96"/>
                  <a:pt x="928" y="288"/>
                  <a:pt x="1008" y="384"/>
                </a:cubicBezTo>
                <a:cubicBezTo>
                  <a:pt x="1088" y="480"/>
                  <a:pt x="1088" y="512"/>
                  <a:pt x="1056" y="624"/>
                </a:cubicBezTo>
                <a:cubicBezTo>
                  <a:pt x="1024" y="736"/>
                  <a:pt x="856" y="976"/>
                  <a:pt x="816" y="1056"/>
                </a:cubicBezTo>
                <a:cubicBezTo>
                  <a:pt x="776" y="1136"/>
                  <a:pt x="796" y="1120"/>
                  <a:pt x="816" y="1104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A8DF6D5-3147-16DA-5287-8DC8D13DA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873" y="304800"/>
            <a:ext cx="86868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Cycle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B396C76-8640-71EB-006A-4C8ECE854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1873" y="1066800"/>
            <a:ext cx="8382000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 cycle is a path that starts and ends at the same point. For undirected graph, the edges are distinct. </a:t>
            </a:r>
          </a:p>
          <a:p>
            <a:pPr lvl="1" eaLnBrk="1" hangingPunct="1"/>
            <a:r>
              <a:rPr lang="en-US" altLang="en-US" sz="2000" i="1" dirty="0">
                <a:solidFill>
                  <a:srgbClr val="FF3300"/>
                </a:solidFill>
              </a:rPr>
              <a:t>CBDC</a:t>
            </a:r>
            <a:r>
              <a:rPr lang="en-US" altLang="en-US" sz="2000" dirty="0"/>
              <a:t> is a cycle</a:t>
            </a:r>
          </a:p>
        </p:txBody>
      </p:sp>
      <p:sp>
        <p:nvSpPr>
          <p:cNvPr id="19460" name="Oval 5">
            <a:extLst>
              <a:ext uri="{FF2B5EF4-FFF2-40B4-BE49-F238E27FC236}">
                <a16:creationId xmlns:a16="http://schemas.microsoft.com/office/drawing/2014/main" id="{A45CB35E-C7BC-06B1-5918-580217DA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15776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9461" name="Oval 6">
            <a:extLst>
              <a:ext uri="{FF2B5EF4-FFF2-40B4-BE49-F238E27FC236}">
                <a16:creationId xmlns:a16="http://schemas.microsoft.com/office/drawing/2014/main" id="{D7EC77D6-DE10-9EA1-A88D-FD21EEEF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22456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9462" name="Oval 7">
            <a:extLst>
              <a:ext uri="{FF2B5EF4-FFF2-40B4-BE49-F238E27FC236}">
                <a16:creationId xmlns:a16="http://schemas.microsoft.com/office/drawing/2014/main" id="{09DD2EAE-F9BF-3BFB-6C47-8525B1F7B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9616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9463" name="Oval 8">
            <a:extLst>
              <a:ext uri="{FF2B5EF4-FFF2-40B4-BE49-F238E27FC236}">
                <a16:creationId xmlns:a16="http://schemas.microsoft.com/office/drawing/2014/main" id="{8BD09ADA-AF66-555E-A9ED-BAC6EE986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30076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9464" name="Line 9">
            <a:extLst>
              <a:ext uri="{FF2B5EF4-FFF2-40B4-BE49-F238E27FC236}">
                <a16:creationId xmlns:a16="http://schemas.microsoft.com/office/drawing/2014/main" id="{1E07E7CE-1CE4-7219-DF41-4F48FBA49E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691161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10">
            <a:extLst>
              <a:ext uri="{FF2B5EF4-FFF2-40B4-BE49-F238E27FC236}">
                <a16:creationId xmlns:a16="http://schemas.microsoft.com/office/drawing/2014/main" id="{2E95B52E-615A-D483-516F-AA10F0D36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34161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1">
            <a:extLst>
              <a:ext uri="{FF2B5EF4-FFF2-40B4-BE49-F238E27FC236}">
                <a16:creationId xmlns:a16="http://schemas.microsoft.com/office/drawing/2014/main" id="{1E05667A-8052-E1E7-513D-71033F53B9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834161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2">
            <a:extLst>
              <a:ext uri="{FF2B5EF4-FFF2-40B4-BE49-F238E27FC236}">
                <a16:creationId xmlns:a16="http://schemas.microsoft.com/office/drawing/2014/main" id="{A58AF936-7150-E9D2-AB6E-6AA67910B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67361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13">
            <a:extLst>
              <a:ext uri="{FF2B5EF4-FFF2-40B4-BE49-F238E27FC236}">
                <a16:creationId xmlns:a16="http://schemas.microsoft.com/office/drawing/2014/main" id="{34DA7C78-1615-6E26-1331-16E4E063C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61496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Freeform 16">
            <a:extLst>
              <a:ext uri="{FF2B5EF4-FFF2-40B4-BE49-F238E27FC236}">
                <a16:creationId xmlns:a16="http://schemas.microsoft.com/office/drawing/2014/main" id="{19D752AA-4EC6-4F34-6E64-1AA60343F6D7}"/>
              </a:ext>
            </a:extLst>
          </p:cNvPr>
          <p:cNvSpPr>
            <a:spLocks/>
          </p:cNvSpPr>
          <p:nvPr/>
        </p:nvSpPr>
        <p:spPr bwMode="auto">
          <a:xfrm>
            <a:off x="6286500" y="2741961"/>
            <a:ext cx="762000" cy="1828800"/>
          </a:xfrm>
          <a:custGeom>
            <a:avLst/>
            <a:gdLst>
              <a:gd name="T0" fmla="*/ 2147483646 w 480"/>
              <a:gd name="T1" fmla="*/ 2147483646 h 1152"/>
              <a:gd name="T2" fmla="*/ 2147483646 w 480"/>
              <a:gd name="T3" fmla="*/ 2147483646 h 1152"/>
              <a:gd name="T4" fmla="*/ 2147483646 w 480"/>
              <a:gd name="T5" fmla="*/ 2147483646 h 1152"/>
              <a:gd name="T6" fmla="*/ 2147483646 w 480"/>
              <a:gd name="T7" fmla="*/ 2147483646 h 1152"/>
              <a:gd name="T8" fmla="*/ 2147483646 w 480"/>
              <a:gd name="T9" fmla="*/ 2147483646 h 1152"/>
              <a:gd name="T10" fmla="*/ 2147483646 w 480"/>
              <a:gd name="T11" fmla="*/ 2147483646 h 1152"/>
              <a:gd name="T12" fmla="*/ 2147483646 w 480"/>
              <a:gd name="T13" fmla="*/ 2147483646 h 1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80" h="1152">
                <a:moveTo>
                  <a:pt x="456" y="400"/>
                </a:moveTo>
                <a:cubicBezTo>
                  <a:pt x="300" y="252"/>
                  <a:pt x="144" y="104"/>
                  <a:pt x="72" y="64"/>
                </a:cubicBezTo>
                <a:cubicBezTo>
                  <a:pt x="0" y="24"/>
                  <a:pt x="8" y="0"/>
                  <a:pt x="24" y="160"/>
                </a:cubicBezTo>
                <a:cubicBezTo>
                  <a:pt x="40" y="320"/>
                  <a:pt x="120" y="896"/>
                  <a:pt x="168" y="1024"/>
                </a:cubicBezTo>
                <a:cubicBezTo>
                  <a:pt x="216" y="1152"/>
                  <a:pt x="264" y="1000"/>
                  <a:pt x="312" y="928"/>
                </a:cubicBezTo>
                <a:cubicBezTo>
                  <a:pt x="360" y="856"/>
                  <a:pt x="432" y="656"/>
                  <a:pt x="456" y="592"/>
                </a:cubicBezTo>
                <a:cubicBezTo>
                  <a:pt x="480" y="528"/>
                  <a:pt x="468" y="536"/>
                  <a:pt x="456" y="544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Line 20">
            <a:extLst>
              <a:ext uri="{FF2B5EF4-FFF2-40B4-BE49-F238E27FC236}">
                <a16:creationId xmlns:a16="http://schemas.microsoft.com/office/drawing/2014/main" id="{8DB6E7ED-EDD7-8219-AE75-F9E6AE32C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4011961"/>
            <a:ext cx="8890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94BBA3AC-60A3-FA29-E366-98AE4ADD0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633" y="4533900"/>
            <a:ext cx="888999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mic Sans MS" panose="030F0902030302020204" pitchFamily="66" charset="0"/>
              </a:rPr>
              <a:t>circle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10">
            <a:extLst>
              <a:ext uri="{FF2B5EF4-FFF2-40B4-BE49-F238E27FC236}">
                <a16:creationId xmlns:a16="http://schemas.microsoft.com/office/drawing/2014/main" id="{1B45C1A2-841D-C122-5E8C-CE2C4091A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100041"/>
            <a:ext cx="1295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7EB78D5-DFF1-3201-0797-87E8C81BB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6" y="228600"/>
            <a:ext cx="8675648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Connected vs. Unconnected Graph</a:t>
            </a:r>
          </a:p>
        </p:txBody>
      </p:sp>
      <p:sp>
        <p:nvSpPr>
          <p:cNvPr id="20484" name="Oval 5">
            <a:extLst>
              <a:ext uri="{FF2B5EF4-FFF2-40B4-BE49-F238E27FC236}">
                <a16:creationId xmlns:a16="http://schemas.microsoft.com/office/drawing/2014/main" id="{F03C41F5-8428-DBE6-C889-390790B1A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4998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85" name="Oval 6">
            <a:extLst>
              <a:ext uri="{FF2B5EF4-FFF2-40B4-BE49-F238E27FC236}">
                <a16:creationId xmlns:a16="http://schemas.microsoft.com/office/drawing/2014/main" id="{DF13F4A2-AA71-A337-7F28-4F9047F51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5666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86" name="Oval 7">
            <a:extLst>
              <a:ext uri="{FF2B5EF4-FFF2-40B4-BE49-F238E27FC236}">
                <a16:creationId xmlns:a16="http://schemas.microsoft.com/office/drawing/2014/main" id="{A56ADB01-BE4C-59A1-0AE4-4169F5D68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9382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87" name="Oval 8">
            <a:extLst>
              <a:ext uri="{FF2B5EF4-FFF2-40B4-BE49-F238E27FC236}">
                <a16:creationId xmlns:a16="http://schemas.microsoft.com/office/drawing/2014/main" id="{C353F5E0-D56C-57CF-6E2D-67BE5E42E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428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88" name="Line 9">
            <a:extLst>
              <a:ext uri="{FF2B5EF4-FFF2-40B4-BE49-F238E27FC236}">
                <a16:creationId xmlns:a16="http://schemas.microsoft.com/office/drawing/2014/main" id="{6F26940D-AC5A-1C31-3044-F1E5C0524B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2033241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11">
            <a:extLst>
              <a:ext uri="{FF2B5EF4-FFF2-40B4-BE49-F238E27FC236}">
                <a16:creationId xmlns:a16="http://schemas.microsoft.com/office/drawing/2014/main" id="{78069BF2-3A99-83B0-EDD8-E66E22966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3176241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12">
            <a:extLst>
              <a:ext uri="{FF2B5EF4-FFF2-40B4-BE49-F238E27FC236}">
                <a16:creationId xmlns:a16="http://schemas.microsoft.com/office/drawing/2014/main" id="{19D693C1-28A2-4FFB-FF1E-14FFE0BE4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109441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13">
            <a:extLst>
              <a:ext uri="{FF2B5EF4-FFF2-40B4-BE49-F238E27FC236}">
                <a16:creationId xmlns:a16="http://schemas.microsoft.com/office/drawing/2014/main" id="{9EE66959-66FA-B8C6-6E34-691D8E501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95704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Oval 15">
            <a:extLst>
              <a:ext uri="{FF2B5EF4-FFF2-40B4-BE49-F238E27FC236}">
                <a16:creationId xmlns:a16="http://schemas.microsoft.com/office/drawing/2014/main" id="{1C5B6A9C-1F9E-CC17-804C-C6F45937E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4998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93" name="Oval 16">
            <a:extLst>
              <a:ext uri="{FF2B5EF4-FFF2-40B4-BE49-F238E27FC236}">
                <a16:creationId xmlns:a16="http://schemas.microsoft.com/office/drawing/2014/main" id="{1DAB56A7-8221-27C3-719F-DBB702C3A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5666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94" name="Oval 17">
            <a:extLst>
              <a:ext uri="{FF2B5EF4-FFF2-40B4-BE49-F238E27FC236}">
                <a16:creationId xmlns:a16="http://schemas.microsoft.com/office/drawing/2014/main" id="{1D92870D-87EE-8364-355D-EF4505E43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9382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95" name="Oval 18">
            <a:extLst>
              <a:ext uri="{FF2B5EF4-FFF2-40B4-BE49-F238E27FC236}">
                <a16:creationId xmlns:a16="http://schemas.microsoft.com/office/drawing/2014/main" id="{16D1D12B-2DEB-0A49-A5FF-4CEBF2E9B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64284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96" name="Line 19">
            <a:extLst>
              <a:ext uri="{FF2B5EF4-FFF2-40B4-BE49-F238E27FC236}">
                <a16:creationId xmlns:a16="http://schemas.microsoft.com/office/drawing/2014/main" id="{D9D5D0F5-25E0-B2AB-63AF-D5C6D34293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033241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Line 23">
            <a:extLst>
              <a:ext uri="{FF2B5EF4-FFF2-40B4-BE49-F238E27FC236}">
                <a16:creationId xmlns:a16="http://schemas.microsoft.com/office/drawing/2014/main" id="{B5314A79-1A61-8B1B-FDC7-F709AEA40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1957041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Rectangle 24">
            <a:extLst>
              <a:ext uri="{FF2B5EF4-FFF2-40B4-BE49-F238E27FC236}">
                <a16:creationId xmlns:a16="http://schemas.microsoft.com/office/drawing/2014/main" id="{D57A9389-972D-DFCC-5C1F-8EC602714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47441"/>
            <a:ext cx="3581400" cy="3352800"/>
          </a:xfrm>
          <a:prstGeom prst="rect">
            <a:avLst/>
          </a:prstGeom>
          <a:noFill/>
          <a:ln w="38100" cap="rnd">
            <a:solidFill>
              <a:srgbClr val="0066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499" name="Rectangle 25">
            <a:extLst>
              <a:ext uri="{FF2B5EF4-FFF2-40B4-BE49-F238E27FC236}">
                <a16:creationId xmlns:a16="http://schemas.microsoft.com/office/drawing/2014/main" id="{BA7D78C7-0B7C-AA41-833B-470B54E1E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347441"/>
            <a:ext cx="3657600" cy="3352800"/>
          </a:xfrm>
          <a:prstGeom prst="rect">
            <a:avLst/>
          </a:prstGeom>
          <a:noFill/>
          <a:ln w="38100" cap="rnd">
            <a:solidFill>
              <a:srgbClr val="0066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500" name="Text Box 26">
            <a:extLst>
              <a:ext uri="{FF2B5EF4-FFF2-40B4-BE49-F238E27FC236}">
                <a16:creationId xmlns:a16="http://schemas.microsoft.com/office/drawing/2014/main" id="{23ECAA49-8170-9DA1-4E27-7FBB7AE6F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52641"/>
            <a:ext cx="3581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Connected Graph</a:t>
            </a:r>
          </a:p>
        </p:txBody>
      </p:sp>
      <p:sp>
        <p:nvSpPr>
          <p:cNvPr id="20501" name="Text Box 27">
            <a:extLst>
              <a:ext uri="{FF2B5EF4-FFF2-40B4-BE49-F238E27FC236}">
                <a16:creationId xmlns:a16="http://schemas.microsoft.com/office/drawing/2014/main" id="{38F887F4-E353-D3E9-B84F-6E22A2D6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852641"/>
            <a:ext cx="3657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Unconnected Graph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527B891-C23B-8FD8-3575-5AFF41C84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Acyclic Graph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E5C3073-138A-52A8-E245-A897C6D72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901" y="1075547"/>
            <a:ext cx="8686799" cy="87591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/>
              <a:t>Directed Acyclic Graph (DAG) :  directed graph without cycle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pSp>
        <p:nvGrpSpPr>
          <p:cNvPr id="21508" name="Group 4">
            <a:extLst>
              <a:ext uri="{FF2B5EF4-FFF2-40B4-BE49-F238E27FC236}">
                <a16:creationId xmlns:a16="http://schemas.microsoft.com/office/drawing/2014/main" id="{D37DD5FC-48C3-CD44-E3D1-C913E981902D}"/>
              </a:ext>
            </a:extLst>
          </p:cNvPr>
          <p:cNvGrpSpPr>
            <a:grpSpLocks/>
          </p:cNvGrpSpPr>
          <p:nvPr/>
        </p:nvGrpSpPr>
        <p:grpSpPr bwMode="auto">
          <a:xfrm>
            <a:off x="2590798" y="2269276"/>
            <a:ext cx="3962400" cy="685800"/>
            <a:chOff x="2880" y="2304"/>
            <a:chExt cx="2496" cy="432"/>
          </a:xfrm>
          <a:solidFill>
            <a:srgbClr val="9999FF"/>
          </a:solidFill>
        </p:grpSpPr>
        <p:sp>
          <p:nvSpPr>
            <p:cNvPr id="21509" name="Oval 5">
              <a:extLst>
                <a:ext uri="{FF2B5EF4-FFF2-40B4-BE49-F238E27FC236}">
                  <a16:creationId xmlns:a16="http://schemas.microsoft.com/office/drawing/2014/main" id="{C69F2A66-3FB1-622F-84B0-45228CEFB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304"/>
              <a:ext cx="384" cy="38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1510" name="Oval 6">
              <a:extLst>
                <a:ext uri="{FF2B5EF4-FFF2-40B4-BE49-F238E27FC236}">
                  <a16:creationId xmlns:a16="http://schemas.microsoft.com/office/drawing/2014/main" id="{72A63361-2926-5121-8FE1-4D96785D4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04"/>
              <a:ext cx="384" cy="38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1511" name="Oval 7">
              <a:extLst>
                <a:ext uri="{FF2B5EF4-FFF2-40B4-BE49-F238E27FC236}">
                  <a16:creationId xmlns:a16="http://schemas.microsoft.com/office/drawing/2014/main" id="{549B036A-619A-8792-E0EB-6ECD1CA4F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352"/>
              <a:ext cx="384" cy="384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1512" name="Line 8">
              <a:extLst>
                <a:ext uri="{FF2B5EF4-FFF2-40B4-BE49-F238E27FC236}">
                  <a16:creationId xmlns:a16="http://schemas.microsoft.com/office/drawing/2014/main" id="{2BAD34FB-48D5-956B-78F9-1D754CF54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496"/>
              <a:ext cx="67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Line 9">
              <a:extLst>
                <a:ext uri="{FF2B5EF4-FFF2-40B4-BE49-F238E27FC236}">
                  <a16:creationId xmlns:a16="http://schemas.microsoft.com/office/drawing/2014/main" id="{95215CC3-35B6-BD5A-6098-BC3F8879E2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496"/>
              <a:ext cx="67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1514" name="AutoShape 10">
              <a:extLst>
                <a:ext uri="{FF2B5EF4-FFF2-40B4-BE49-F238E27FC236}">
                  <a16:creationId xmlns:a16="http://schemas.microsoft.com/office/drawing/2014/main" id="{4EE98AB1-7191-CE7C-8785-7317CAA65CA0}"/>
                </a:ext>
              </a:extLst>
            </p:cNvPr>
            <p:cNvCxnSpPr>
              <a:cxnSpLocks noChangeShapeType="1"/>
              <a:stCxn id="21509" idx="5"/>
              <a:endCxn id="21511" idx="3"/>
            </p:cNvCxnSpPr>
            <p:nvPr/>
          </p:nvCxnSpPr>
          <p:spPr bwMode="auto">
            <a:xfrm rot="16200000" flipH="1">
              <a:off x="4104" y="1736"/>
              <a:ext cx="48" cy="1840"/>
            </a:xfrm>
            <a:prstGeom prst="curvedConnector3">
              <a:avLst>
                <a:gd name="adj1" fmla="val 516667"/>
              </a:avLst>
            </a:prstGeom>
            <a:grp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0367BDF-A201-3865-24FC-C32F83B66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Weighted Graph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C9E2058-825A-7371-8646-4C302D2A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798" cy="129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Weighted graph: a graph with numbers assigned to its edges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Weight: cost, distance, travel time, hop, etc.</a:t>
            </a:r>
          </a:p>
        </p:txBody>
      </p:sp>
      <p:sp>
        <p:nvSpPr>
          <p:cNvPr id="22532" name="Oval 5">
            <a:extLst>
              <a:ext uri="{FF2B5EF4-FFF2-40B4-BE49-F238E27FC236}">
                <a16:creationId xmlns:a16="http://schemas.microsoft.com/office/drawing/2014/main" id="{4611EA5C-7F13-37CF-71E5-2B042DCC3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805" y="2678151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2533" name="Oval 6">
            <a:extLst>
              <a:ext uri="{FF2B5EF4-FFF2-40B4-BE49-F238E27FC236}">
                <a16:creationId xmlns:a16="http://schemas.microsoft.com/office/drawing/2014/main" id="{F2C74FBF-312B-82CC-0AD1-272C03EC1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605" y="3516351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34" name="Oval 7">
            <a:extLst>
              <a:ext uri="{FF2B5EF4-FFF2-40B4-BE49-F238E27FC236}">
                <a16:creationId xmlns:a16="http://schemas.microsoft.com/office/drawing/2014/main" id="{208AFB7E-684A-6CEA-EEAE-1CD116F7B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805" y="4506951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35" name="Oval 8">
            <a:extLst>
              <a:ext uri="{FF2B5EF4-FFF2-40B4-BE49-F238E27FC236}">
                <a16:creationId xmlns:a16="http://schemas.microsoft.com/office/drawing/2014/main" id="{2C0911B3-9F2F-0D4A-C510-5EB8A715C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605" y="3744951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36" name="Line 9">
            <a:extLst>
              <a:ext uri="{FF2B5EF4-FFF2-40B4-BE49-F238E27FC236}">
                <a16:creationId xmlns:a16="http://schemas.microsoft.com/office/drawing/2014/main" id="{07662E8F-7AA5-B164-105E-EA4FFA6231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9405" y="3211551"/>
            <a:ext cx="228600" cy="466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Line 10">
            <a:extLst>
              <a:ext uri="{FF2B5EF4-FFF2-40B4-BE49-F238E27FC236}">
                <a16:creationId xmlns:a16="http://schemas.microsoft.com/office/drawing/2014/main" id="{AAF52C38-9BAC-1440-C3D9-38006CC72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805" y="4278351"/>
            <a:ext cx="3810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1">
            <a:extLst>
              <a:ext uri="{FF2B5EF4-FFF2-40B4-BE49-F238E27FC236}">
                <a16:creationId xmlns:a16="http://schemas.microsoft.com/office/drawing/2014/main" id="{947D6439-E93D-A6C3-1B40-C0E351D40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5205" y="3135351"/>
            <a:ext cx="6096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2">
            <a:extLst>
              <a:ext uri="{FF2B5EF4-FFF2-40B4-BE49-F238E27FC236}">
                <a16:creationId xmlns:a16="http://schemas.microsoft.com/office/drawing/2014/main" id="{59558EC7-2E7A-D756-F07C-CDF527841C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0005" y="4049751"/>
            <a:ext cx="304800" cy="466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3">
            <a:extLst>
              <a:ext uri="{FF2B5EF4-FFF2-40B4-BE49-F238E27FC236}">
                <a16:creationId xmlns:a16="http://schemas.microsoft.com/office/drawing/2014/main" id="{FB954672-7858-CF0E-E1B8-FB6E1874B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805" y="3287751"/>
            <a:ext cx="228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Rectangle 14">
            <a:extLst>
              <a:ext uri="{FF2B5EF4-FFF2-40B4-BE49-F238E27FC236}">
                <a16:creationId xmlns:a16="http://schemas.microsoft.com/office/drawing/2014/main" id="{C77AB3C5-B481-03D2-E48B-3BB9730A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805" y="3135351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22542" name="Rectangle 15">
            <a:extLst>
              <a:ext uri="{FF2B5EF4-FFF2-40B4-BE49-F238E27FC236}">
                <a16:creationId xmlns:a16="http://schemas.microsoft.com/office/drawing/2014/main" id="{794B2624-BC1A-3EFA-BE3A-FBDBA3D92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605" y="2982951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2543" name="Rectangle 16">
            <a:extLst>
              <a:ext uri="{FF2B5EF4-FFF2-40B4-BE49-F238E27FC236}">
                <a16:creationId xmlns:a16="http://schemas.microsoft.com/office/drawing/2014/main" id="{ABAB6CBE-CEFA-1E69-45A0-2558B990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9005" y="3592551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44" name="Rectangle 17">
            <a:extLst>
              <a:ext uri="{FF2B5EF4-FFF2-40B4-BE49-F238E27FC236}">
                <a16:creationId xmlns:a16="http://schemas.microsoft.com/office/drawing/2014/main" id="{6E593D62-E6A8-CE54-DCC2-E4019F846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05" y="4430751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45" name="Rectangle 18">
            <a:extLst>
              <a:ext uri="{FF2B5EF4-FFF2-40B4-BE49-F238E27FC236}">
                <a16:creationId xmlns:a16="http://schemas.microsoft.com/office/drawing/2014/main" id="{5C4DE2CA-3933-5A5B-DFD2-5AF6E100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405" y="4202151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A9EA8E0-5123-B7A6-112D-2A7F6199B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Representation Of Graph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6D6C16-F6F2-8D8E-1510-B2287096B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086698"/>
            <a:ext cx="8686799" cy="156729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Two representations</a:t>
            </a:r>
          </a:p>
          <a:p>
            <a:pPr lvl="1" eaLnBrk="1" hangingPunct="1"/>
            <a:r>
              <a:rPr lang="en-US" altLang="en-US" sz="2000" dirty="0"/>
              <a:t>Adjacency Matrix</a:t>
            </a:r>
          </a:p>
          <a:p>
            <a:pPr lvl="1" eaLnBrk="1" hangingPunct="1"/>
            <a:r>
              <a:rPr lang="en-US" altLang="en-US" sz="2000" dirty="0"/>
              <a:t>Adjacency 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32C383B-1DAC-F4F7-1321-70DB70E3B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Adjacency Matrix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5284862-8DE5-A27C-5DAC-4C5DAA759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086698"/>
            <a:ext cx="8686799" cy="30615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Assume N nodes in graph</a:t>
            </a:r>
          </a:p>
          <a:p>
            <a:pPr eaLnBrk="1" hangingPunct="1"/>
            <a:r>
              <a:rPr lang="en-US" altLang="en-US" sz="2400" dirty="0"/>
              <a:t>Use 2D Matrix A[0…N-1][0…N-1]</a:t>
            </a:r>
          </a:p>
          <a:p>
            <a:pPr lvl="1" eaLnBrk="1" hangingPunct="1"/>
            <a:r>
              <a:rPr lang="en-US" altLang="en-US" sz="2000" dirty="0"/>
              <a:t>if vertex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and vertex j are adjacent in graph, 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][j] = 1,</a:t>
            </a:r>
          </a:p>
          <a:p>
            <a:pPr lvl="1" eaLnBrk="1" hangingPunct="1"/>
            <a:r>
              <a:rPr lang="en-US" altLang="en-US" sz="2000" dirty="0"/>
              <a:t> otherwise 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][j] = 0</a:t>
            </a:r>
          </a:p>
          <a:p>
            <a:pPr lvl="1" eaLnBrk="1" hangingPunct="1"/>
            <a:r>
              <a:rPr lang="en-US" altLang="en-US" sz="2000" dirty="0"/>
              <a:t>if vertex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has a loop, 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 = 1</a:t>
            </a:r>
          </a:p>
          <a:p>
            <a:pPr lvl="1" eaLnBrk="1" hangingPunct="1"/>
            <a:r>
              <a:rPr lang="en-US" altLang="en-US" sz="2000" dirty="0"/>
              <a:t>if vertex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has no loop, 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 =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027CC77-7F3E-E718-10DB-33977C4BE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8780"/>
            <a:ext cx="8686800" cy="695949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Adjacency Matrix</a:t>
            </a:r>
          </a:p>
        </p:txBody>
      </p:sp>
      <p:sp>
        <p:nvSpPr>
          <p:cNvPr id="25603" name="Oval 3">
            <a:extLst>
              <a:ext uri="{FF2B5EF4-FFF2-40B4-BE49-F238E27FC236}">
                <a16:creationId xmlns:a16="http://schemas.microsoft.com/office/drawing/2014/main" id="{516022AC-3E7A-F00E-801E-46A5F0635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604" name="Oval 4">
            <a:extLst>
              <a:ext uri="{FF2B5EF4-FFF2-40B4-BE49-F238E27FC236}">
                <a16:creationId xmlns:a16="http://schemas.microsoft.com/office/drawing/2014/main" id="{B43FE134-3883-58B1-C526-E7990C1F4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05" name="Oval 5">
            <a:extLst>
              <a:ext uri="{FF2B5EF4-FFF2-40B4-BE49-F238E27FC236}">
                <a16:creationId xmlns:a16="http://schemas.microsoft.com/office/drawing/2014/main" id="{DF73DB19-9407-DFEF-C4FC-C030938DC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91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06" name="Oval 6">
            <a:extLst>
              <a:ext uri="{FF2B5EF4-FFF2-40B4-BE49-F238E27FC236}">
                <a16:creationId xmlns:a16="http://schemas.microsoft.com/office/drawing/2014/main" id="{40340509-9302-2AD8-966A-426D0EECB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429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07" name="Line 7">
            <a:extLst>
              <a:ext uri="{FF2B5EF4-FFF2-40B4-BE49-F238E27FC236}">
                <a16:creationId xmlns:a16="http://schemas.microsoft.com/office/drawing/2014/main" id="{F929ABCD-78A2-15CA-10E3-7D4500A8CB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2895600"/>
            <a:ext cx="2286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8">
            <a:extLst>
              <a:ext uri="{FF2B5EF4-FFF2-40B4-BE49-F238E27FC236}">
                <a16:creationId xmlns:a16="http://schemas.microsoft.com/office/drawing/2014/main" id="{D8F361A6-9383-3788-96E5-517FEA25E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9624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9">
            <a:extLst>
              <a:ext uri="{FF2B5EF4-FFF2-40B4-BE49-F238E27FC236}">
                <a16:creationId xmlns:a16="http://schemas.microsoft.com/office/drawing/2014/main" id="{8C3B76E5-BD92-00E2-E071-C1CCA7C572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581400"/>
            <a:ext cx="9906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355A6397-3CCB-DD77-56C4-8CE969A02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19400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Line 11">
            <a:extLst>
              <a:ext uri="{FF2B5EF4-FFF2-40B4-BE49-F238E27FC236}">
                <a16:creationId xmlns:a16="http://schemas.microsoft.com/office/drawing/2014/main" id="{BEE848B3-395B-2FA8-2655-ED1D5972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733800"/>
            <a:ext cx="3048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A0C318-3C34-AE4C-A4EF-908F627D8458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Oval 3">
            <a:extLst>
              <a:ext uri="{FF2B5EF4-FFF2-40B4-BE49-F238E27FC236}">
                <a16:creationId xmlns:a16="http://schemas.microsoft.com/office/drawing/2014/main" id="{42EB017C-7BAE-981B-89F8-6E5148D6C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28" name="Oval 4">
            <a:extLst>
              <a:ext uri="{FF2B5EF4-FFF2-40B4-BE49-F238E27FC236}">
                <a16:creationId xmlns:a16="http://schemas.microsoft.com/office/drawing/2014/main" id="{159B3F9E-38FC-3823-DEC0-439FA1389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29" name="Oval 5">
            <a:extLst>
              <a:ext uri="{FF2B5EF4-FFF2-40B4-BE49-F238E27FC236}">
                <a16:creationId xmlns:a16="http://schemas.microsoft.com/office/drawing/2014/main" id="{4ACE5353-C406-E543-CC98-20147C539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91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0" name="Oval 6">
            <a:extLst>
              <a:ext uri="{FF2B5EF4-FFF2-40B4-BE49-F238E27FC236}">
                <a16:creationId xmlns:a16="http://schemas.microsoft.com/office/drawing/2014/main" id="{B5284431-99DC-6B95-37C5-50A4886CC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429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BD7E1172-89F7-6DEC-798F-DA9DDC20C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2895600"/>
            <a:ext cx="2286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6A779507-F875-4541-F1DF-6742189E6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9624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3" name="Line 9">
            <a:extLst>
              <a:ext uri="{FF2B5EF4-FFF2-40B4-BE49-F238E27FC236}">
                <a16:creationId xmlns:a16="http://schemas.microsoft.com/office/drawing/2014/main" id="{6D75B9D4-857F-5428-17D9-C77E4E9559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581400"/>
            <a:ext cx="9906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4" name="Line 10">
            <a:extLst>
              <a:ext uri="{FF2B5EF4-FFF2-40B4-BE49-F238E27FC236}">
                <a16:creationId xmlns:a16="http://schemas.microsoft.com/office/drawing/2014/main" id="{47CE5557-2DE8-1017-E80F-F791EBDA2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19400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Line 11">
            <a:extLst>
              <a:ext uri="{FF2B5EF4-FFF2-40B4-BE49-F238E27FC236}">
                <a16:creationId xmlns:a16="http://schemas.microsoft.com/office/drawing/2014/main" id="{231BA1BA-FF05-9B2B-58C3-FCB8B5E077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733800"/>
            <a:ext cx="3048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3013" name="Group 69">
            <a:extLst>
              <a:ext uri="{FF2B5EF4-FFF2-40B4-BE49-F238E27FC236}">
                <a16:creationId xmlns:a16="http://schemas.microsoft.com/office/drawing/2014/main" id="{BB375C85-583F-437D-E0F8-03579957F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73260"/>
              </p:ext>
            </p:extLst>
          </p:nvPr>
        </p:nvGraphicFramePr>
        <p:xfrm>
          <a:off x="3429000" y="1905000"/>
          <a:ext cx="4953000" cy="2286000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A[</a:t>
                      </a: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i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][j]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74" name="Text Box 66">
            <a:extLst>
              <a:ext uri="{FF2B5EF4-FFF2-40B4-BE49-F238E27FC236}">
                <a16:creationId xmlns:a16="http://schemas.microsoft.com/office/drawing/2014/main" id="{F8AAF2A8-BC5D-6E9B-C38D-8BB30513C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50" y="5029200"/>
            <a:ext cx="23714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 So, Matrix A = </a:t>
            </a:r>
          </a:p>
        </p:txBody>
      </p:sp>
      <p:sp>
        <p:nvSpPr>
          <p:cNvPr id="26675" name="AutoShape 67">
            <a:extLst>
              <a:ext uri="{FF2B5EF4-FFF2-40B4-BE49-F238E27FC236}">
                <a16:creationId xmlns:a16="http://schemas.microsoft.com/office/drawing/2014/main" id="{D2F003A8-59AB-37B6-C3E8-D79CCF27978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38800" y="4495800"/>
            <a:ext cx="1981200" cy="1524000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26676" name="Text Box 68">
            <a:extLst>
              <a:ext uri="{FF2B5EF4-FFF2-40B4-BE49-F238E27FC236}">
                <a16:creationId xmlns:a16="http://schemas.microsoft.com/office/drawing/2014/main" id="{1AD576EF-2D78-304A-763C-8327B21E1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494" y="4486506"/>
            <a:ext cx="1871546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0     1     1     0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1     0     1     1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1     1     0     1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0     1     1     0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926673-3764-B607-FF0C-65E26AD547E1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78780"/>
            <a:ext cx="8686800" cy="695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7B3B"/>
                </a:solidFill>
                <a:latin typeface="Comic Sans MS" panose="030F0902030302020204" pitchFamily="66" charset="0"/>
                <a:ea typeface="+mj-ea"/>
                <a:cs typeface="+mj-cs"/>
              </a:defRPr>
            </a:lvl1pPr>
          </a:lstStyle>
          <a:p>
            <a:r>
              <a:rPr lang="en-US" altLang="en-US"/>
              <a:t>Example of Adjacency Matrix</a:t>
            </a:r>
            <a:endParaRPr lang="en-US" alt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770CBB-01F0-C4B2-0336-08EDD632A0DE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Oval 3">
            <a:extLst>
              <a:ext uri="{FF2B5EF4-FFF2-40B4-BE49-F238E27FC236}">
                <a16:creationId xmlns:a16="http://schemas.microsoft.com/office/drawing/2014/main" id="{BCAFDAEF-ADB5-D554-52E5-32729468C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652" name="Oval 4">
            <a:extLst>
              <a:ext uri="{FF2B5EF4-FFF2-40B4-BE49-F238E27FC236}">
                <a16:creationId xmlns:a16="http://schemas.microsoft.com/office/drawing/2014/main" id="{607F8086-B7AC-25BC-A995-03DBF0F5B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53" name="Oval 5">
            <a:extLst>
              <a:ext uri="{FF2B5EF4-FFF2-40B4-BE49-F238E27FC236}">
                <a16:creationId xmlns:a16="http://schemas.microsoft.com/office/drawing/2014/main" id="{004B04D1-4546-F59F-9CA4-6731FDA75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91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54" name="Oval 6">
            <a:extLst>
              <a:ext uri="{FF2B5EF4-FFF2-40B4-BE49-F238E27FC236}">
                <a16:creationId xmlns:a16="http://schemas.microsoft.com/office/drawing/2014/main" id="{6F3B85AB-BCB6-47C5-693D-767FB260C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429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55" name="Line 7">
            <a:extLst>
              <a:ext uri="{FF2B5EF4-FFF2-40B4-BE49-F238E27FC236}">
                <a16:creationId xmlns:a16="http://schemas.microsoft.com/office/drawing/2014/main" id="{7E40095A-B25B-41C7-9AB2-E6EB270A14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2895600"/>
            <a:ext cx="2286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6" name="Line 8">
            <a:extLst>
              <a:ext uri="{FF2B5EF4-FFF2-40B4-BE49-F238E27FC236}">
                <a16:creationId xmlns:a16="http://schemas.microsoft.com/office/drawing/2014/main" id="{5A428FCD-B33C-31D5-ED06-97A113D1C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9624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7" name="Line 9">
            <a:extLst>
              <a:ext uri="{FF2B5EF4-FFF2-40B4-BE49-F238E27FC236}">
                <a16:creationId xmlns:a16="http://schemas.microsoft.com/office/drawing/2014/main" id="{B18077E6-8397-4600-DE84-A40F6CD6BE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581400"/>
            <a:ext cx="9906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FD157021-808E-5B2E-F0E0-3AC0C2529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19400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9" name="Line 11">
            <a:extLst>
              <a:ext uri="{FF2B5EF4-FFF2-40B4-BE49-F238E27FC236}">
                <a16:creationId xmlns:a16="http://schemas.microsoft.com/office/drawing/2014/main" id="{32A2B82B-F63E-A76E-E423-949422FD5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733800"/>
            <a:ext cx="3048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Freeform: Shape 4">
            <a:extLst>
              <a:ext uri="{FF2B5EF4-FFF2-40B4-BE49-F238E27FC236}">
                <a16:creationId xmlns:a16="http://schemas.microsoft.com/office/drawing/2014/main" id="{5DAB4609-EFFB-E125-A614-EA73D4F20C63}"/>
              </a:ext>
            </a:extLst>
          </p:cNvPr>
          <p:cNvSpPr>
            <a:spLocks/>
          </p:cNvSpPr>
          <p:nvPr/>
        </p:nvSpPr>
        <p:spPr bwMode="auto">
          <a:xfrm>
            <a:off x="912813" y="2079625"/>
            <a:ext cx="877887" cy="635000"/>
          </a:xfrm>
          <a:custGeom>
            <a:avLst/>
            <a:gdLst>
              <a:gd name="T0" fmla="*/ 316186 w 879130"/>
              <a:gd name="T1" fmla="*/ 635000 h 634626"/>
              <a:gd name="T2" fmla="*/ 11817 w 879130"/>
              <a:gd name="T3" fmla="*/ 501571 h 634626"/>
              <a:gd name="T4" fmla="*/ 78398 w 879130"/>
              <a:gd name="T5" fmla="*/ 168000 h 634626"/>
              <a:gd name="T6" fmla="*/ 230583 w 879130"/>
              <a:gd name="T7" fmla="*/ 44102 h 634626"/>
              <a:gd name="T8" fmla="*/ 601532 w 879130"/>
              <a:gd name="T9" fmla="*/ 5980 h 634626"/>
              <a:gd name="T10" fmla="*/ 839321 w 879130"/>
              <a:gd name="T11" fmla="*/ 25041 h 634626"/>
              <a:gd name="T12" fmla="*/ 877367 w 879130"/>
              <a:gd name="T13" fmla="*/ 234714 h 634626"/>
              <a:gd name="T14" fmla="*/ 839321 w 879130"/>
              <a:gd name="T15" fmla="*/ 349082 h 634626"/>
              <a:gd name="T16" fmla="*/ 829809 w 879130"/>
              <a:gd name="T17" fmla="*/ 463449 h 634626"/>
              <a:gd name="T18" fmla="*/ 829809 w 879130"/>
              <a:gd name="T19" fmla="*/ 463449 h 6346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79130" h="634626">
                <a:moveTo>
                  <a:pt x="316634" y="634626"/>
                </a:moveTo>
                <a:cubicBezTo>
                  <a:pt x="184077" y="606844"/>
                  <a:pt x="51521" y="579063"/>
                  <a:pt x="11834" y="501276"/>
                </a:cubicBezTo>
                <a:cubicBezTo>
                  <a:pt x="-27854" y="423488"/>
                  <a:pt x="41996" y="244101"/>
                  <a:pt x="78509" y="167901"/>
                </a:cubicBezTo>
                <a:cubicBezTo>
                  <a:pt x="115022" y="91701"/>
                  <a:pt x="143596" y="71063"/>
                  <a:pt x="230909" y="44076"/>
                </a:cubicBezTo>
                <a:cubicBezTo>
                  <a:pt x="318222" y="17088"/>
                  <a:pt x="500784" y="9151"/>
                  <a:pt x="602384" y="5976"/>
                </a:cubicBezTo>
                <a:cubicBezTo>
                  <a:pt x="703984" y="2801"/>
                  <a:pt x="794472" y="-13074"/>
                  <a:pt x="840509" y="25026"/>
                </a:cubicBezTo>
                <a:cubicBezTo>
                  <a:pt x="886546" y="63126"/>
                  <a:pt x="878609" y="180601"/>
                  <a:pt x="878609" y="234576"/>
                </a:cubicBezTo>
                <a:cubicBezTo>
                  <a:pt x="878609" y="288551"/>
                  <a:pt x="848446" y="310776"/>
                  <a:pt x="840509" y="348876"/>
                </a:cubicBezTo>
                <a:cubicBezTo>
                  <a:pt x="832572" y="386976"/>
                  <a:pt x="830984" y="463176"/>
                  <a:pt x="830984" y="463176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Freeform: Shape 5">
            <a:extLst>
              <a:ext uri="{FF2B5EF4-FFF2-40B4-BE49-F238E27FC236}">
                <a16:creationId xmlns:a16="http://schemas.microsoft.com/office/drawing/2014/main" id="{B18770E4-599A-1116-127B-33E268218B6D}"/>
              </a:ext>
            </a:extLst>
          </p:cNvPr>
          <p:cNvSpPr>
            <a:spLocks/>
          </p:cNvSpPr>
          <p:nvPr/>
        </p:nvSpPr>
        <p:spPr bwMode="auto">
          <a:xfrm>
            <a:off x="1500188" y="4589463"/>
            <a:ext cx="862012" cy="549275"/>
          </a:xfrm>
          <a:custGeom>
            <a:avLst/>
            <a:gdLst>
              <a:gd name="T0" fmla="*/ 176085 w 862076"/>
              <a:gd name="T1" fmla="*/ 116204 h 550438"/>
              <a:gd name="T2" fmla="*/ 14172 w 862076"/>
              <a:gd name="T3" fmla="*/ 287292 h 550438"/>
              <a:gd name="T4" fmla="*/ 42745 w 862076"/>
              <a:gd name="T5" fmla="*/ 410855 h 550438"/>
              <a:gd name="T6" fmla="*/ 318949 w 862076"/>
              <a:gd name="T7" fmla="*/ 534418 h 550438"/>
              <a:gd name="T8" fmla="*/ 623727 w 862076"/>
              <a:gd name="T9" fmla="*/ 534418 h 550438"/>
              <a:gd name="T10" fmla="*/ 785640 w 862076"/>
              <a:gd name="T11" fmla="*/ 420360 h 550438"/>
              <a:gd name="T12" fmla="*/ 861834 w 862076"/>
              <a:gd name="T13" fmla="*/ 97194 h 550438"/>
              <a:gd name="T14" fmla="*/ 766591 w 862076"/>
              <a:gd name="T15" fmla="*/ 2145 h 550438"/>
              <a:gd name="T16" fmla="*/ 604678 w 862076"/>
              <a:gd name="T17" fmla="*/ 40165 h 5504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2076" h="550438">
                <a:moveTo>
                  <a:pt x="176098" y="116450"/>
                </a:moveTo>
                <a:cubicBezTo>
                  <a:pt x="106248" y="177569"/>
                  <a:pt x="36398" y="238688"/>
                  <a:pt x="14173" y="287900"/>
                </a:cubicBezTo>
                <a:cubicBezTo>
                  <a:pt x="-8052" y="337112"/>
                  <a:pt x="-8052" y="370450"/>
                  <a:pt x="42748" y="411725"/>
                </a:cubicBezTo>
                <a:cubicBezTo>
                  <a:pt x="93548" y="453000"/>
                  <a:pt x="222136" y="514913"/>
                  <a:pt x="318973" y="535550"/>
                </a:cubicBezTo>
                <a:cubicBezTo>
                  <a:pt x="415810" y="556187"/>
                  <a:pt x="545986" y="554600"/>
                  <a:pt x="623773" y="535550"/>
                </a:cubicBezTo>
                <a:cubicBezTo>
                  <a:pt x="701560" y="516500"/>
                  <a:pt x="746011" y="494275"/>
                  <a:pt x="785698" y="421250"/>
                </a:cubicBezTo>
                <a:cubicBezTo>
                  <a:pt x="825386" y="348225"/>
                  <a:pt x="865073" y="167250"/>
                  <a:pt x="861898" y="97400"/>
                </a:cubicBezTo>
                <a:cubicBezTo>
                  <a:pt x="858723" y="27550"/>
                  <a:pt x="809510" y="11675"/>
                  <a:pt x="766648" y="2150"/>
                </a:cubicBezTo>
                <a:cubicBezTo>
                  <a:pt x="723786" y="-7375"/>
                  <a:pt x="664254" y="16437"/>
                  <a:pt x="604723" y="4025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Text Box 66">
            <a:extLst>
              <a:ext uri="{FF2B5EF4-FFF2-40B4-BE49-F238E27FC236}">
                <a16:creationId xmlns:a16="http://schemas.microsoft.com/office/drawing/2014/main" id="{A831A9E1-128D-D8F4-64AE-49B24F04F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209925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 So, Matrix A =?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85A1D4-3989-E466-8835-7AE71F9B7F73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78780"/>
            <a:ext cx="8686800" cy="695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7B3B"/>
                </a:solidFill>
                <a:latin typeface="Comic Sans MS" panose="030F0902030302020204" pitchFamily="66" charset="0"/>
                <a:ea typeface="+mj-ea"/>
                <a:cs typeface="+mj-cs"/>
              </a:defRPr>
            </a:lvl1pPr>
          </a:lstStyle>
          <a:p>
            <a:r>
              <a:rPr lang="en-US" altLang="en-US"/>
              <a:t>Example of Adjacency Matrix</a:t>
            </a:r>
            <a:endParaRPr lang="en-US" alt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7BB776-A65E-6C30-9EAC-1E7A2698D0A4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013" name="Group 69">
            <a:extLst>
              <a:ext uri="{FF2B5EF4-FFF2-40B4-BE49-F238E27FC236}">
                <a16:creationId xmlns:a16="http://schemas.microsoft.com/office/drawing/2014/main" id="{251A71D6-0685-7A06-64EE-3EA714DF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500924"/>
              </p:ext>
            </p:extLst>
          </p:nvPr>
        </p:nvGraphicFramePr>
        <p:xfrm>
          <a:off x="3429000" y="1905000"/>
          <a:ext cx="4953000" cy="2286000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A[</a:t>
                      </a: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i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][j]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713" name="Text Box 66">
            <a:extLst>
              <a:ext uri="{FF2B5EF4-FFF2-40B4-BE49-F238E27FC236}">
                <a16:creationId xmlns:a16="http://schemas.microsoft.com/office/drawing/2014/main" id="{4315829B-D198-3ED6-81D9-FD2165CFB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299" y="5029200"/>
            <a:ext cx="23937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 So, Matrix A = </a:t>
            </a:r>
          </a:p>
        </p:txBody>
      </p:sp>
      <p:sp>
        <p:nvSpPr>
          <p:cNvPr id="28714" name="AutoShape 67">
            <a:extLst>
              <a:ext uri="{FF2B5EF4-FFF2-40B4-BE49-F238E27FC236}">
                <a16:creationId xmlns:a16="http://schemas.microsoft.com/office/drawing/2014/main" id="{3C823880-A0F9-2D9B-CC09-A699EE7996B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38800" y="4495800"/>
            <a:ext cx="1981200" cy="1524000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28715" name="Text Box 68">
            <a:extLst>
              <a:ext uri="{FF2B5EF4-FFF2-40B4-BE49-F238E27FC236}">
                <a16:creationId xmlns:a16="http://schemas.microsoft.com/office/drawing/2014/main" id="{FC4BB2F8-A1C6-A740-0D2B-9ADE752EA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796" y="4475355"/>
            <a:ext cx="16764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1    1     1     0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1     0     1     1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1     1     0     1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0     1     1     1</a:t>
            </a:r>
          </a:p>
        </p:txBody>
      </p:sp>
      <p:sp>
        <p:nvSpPr>
          <p:cNvPr id="28716" name="Oval 3">
            <a:extLst>
              <a:ext uri="{FF2B5EF4-FFF2-40B4-BE49-F238E27FC236}">
                <a16:creationId xmlns:a16="http://schemas.microsoft.com/office/drawing/2014/main" id="{1CE2AFF9-20A1-BF0D-E5A2-FF0830EF1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8717" name="Oval 4">
            <a:extLst>
              <a:ext uri="{FF2B5EF4-FFF2-40B4-BE49-F238E27FC236}">
                <a16:creationId xmlns:a16="http://schemas.microsoft.com/office/drawing/2014/main" id="{5A495C1F-AFEB-82D0-E18A-4C1B7578E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18" name="Oval 5">
            <a:extLst>
              <a:ext uri="{FF2B5EF4-FFF2-40B4-BE49-F238E27FC236}">
                <a16:creationId xmlns:a16="http://schemas.microsoft.com/office/drawing/2014/main" id="{ACEB75CC-ADE1-0F9B-FB28-658BB19BD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91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19" name="Oval 6">
            <a:extLst>
              <a:ext uri="{FF2B5EF4-FFF2-40B4-BE49-F238E27FC236}">
                <a16:creationId xmlns:a16="http://schemas.microsoft.com/office/drawing/2014/main" id="{44673DEF-7620-F17C-71A9-0478021B0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429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20" name="Line 7">
            <a:extLst>
              <a:ext uri="{FF2B5EF4-FFF2-40B4-BE49-F238E27FC236}">
                <a16:creationId xmlns:a16="http://schemas.microsoft.com/office/drawing/2014/main" id="{905945BE-A3B8-82DE-8365-9AC942DA13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2895600"/>
            <a:ext cx="2286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1" name="Line 8">
            <a:extLst>
              <a:ext uri="{FF2B5EF4-FFF2-40B4-BE49-F238E27FC236}">
                <a16:creationId xmlns:a16="http://schemas.microsoft.com/office/drawing/2014/main" id="{5A6084F8-81E3-70B2-EFA6-6EE22757E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962400"/>
            <a:ext cx="381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2" name="Line 9">
            <a:extLst>
              <a:ext uri="{FF2B5EF4-FFF2-40B4-BE49-F238E27FC236}">
                <a16:creationId xmlns:a16="http://schemas.microsoft.com/office/drawing/2014/main" id="{EE3D792E-0F45-02A1-2E8F-77CAFE01D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581400"/>
            <a:ext cx="9906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3" name="Line 10">
            <a:extLst>
              <a:ext uri="{FF2B5EF4-FFF2-40B4-BE49-F238E27FC236}">
                <a16:creationId xmlns:a16="http://schemas.microsoft.com/office/drawing/2014/main" id="{78D2046B-219F-083D-0EA1-BB827D9CE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819400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4" name="Line 11">
            <a:extLst>
              <a:ext uri="{FF2B5EF4-FFF2-40B4-BE49-F238E27FC236}">
                <a16:creationId xmlns:a16="http://schemas.microsoft.com/office/drawing/2014/main" id="{FB16E7ED-CA78-A0CF-0399-BECEC40C3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733800"/>
            <a:ext cx="3048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5" name="Freeform: Shape 24">
            <a:extLst>
              <a:ext uri="{FF2B5EF4-FFF2-40B4-BE49-F238E27FC236}">
                <a16:creationId xmlns:a16="http://schemas.microsoft.com/office/drawing/2014/main" id="{5FC44754-6A3F-F358-A1BF-F14B839B26BB}"/>
              </a:ext>
            </a:extLst>
          </p:cNvPr>
          <p:cNvSpPr>
            <a:spLocks/>
          </p:cNvSpPr>
          <p:nvPr/>
        </p:nvSpPr>
        <p:spPr bwMode="auto">
          <a:xfrm>
            <a:off x="912813" y="2079625"/>
            <a:ext cx="877887" cy="635000"/>
          </a:xfrm>
          <a:custGeom>
            <a:avLst/>
            <a:gdLst>
              <a:gd name="T0" fmla="*/ 316186 w 879130"/>
              <a:gd name="T1" fmla="*/ 635000 h 634626"/>
              <a:gd name="T2" fmla="*/ 11817 w 879130"/>
              <a:gd name="T3" fmla="*/ 501571 h 634626"/>
              <a:gd name="T4" fmla="*/ 78398 w 879130"/>
              <a:gd name="T5" fmla="*/ 168000 h 634626"/>
              <a:gd name="T6" fmla="*/ 230583 w 879130"/>
              <a:gd name="T7" fmla="*/ 44102 h 634626"/>
              <a:gd name="T8" fmla="*/ 601532 w 879130"/>
              <a:gd name="T9" fmla="*/ 5980 h 634626"/>
              <a:gd name="T10" fmla="*/ 839321 w 879130"/>
              <a:gd name="T11" fmla="*/ 25041 h 634626"/>
              <a:gd name="T12" fmla="*/ 877367 w 879130"/>
              <a:gd name="T13" fmla="*/ 234714 h 634626"/>
              <a:gd name="T14" fmla="*/ 839321 w 879130"/>
              <a:gd name="T15" fmla="*/ 349082 h 634626"/>
              <a:gd name="T16" fmla="*/ 829809 w 879130"/>
              <a:gd name="T17" fmla="*/ 463449 h 634626"/>
              <a:gd name="T18" fmla="*/ 829809 w 879130"/>
              <a:gd name="T19" fmla="*/ 463449 h 6346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79130" h="634626">
                <a:moveTo>
                  <a:pt x="316634" y="634626"/>
                </a:moveTo>
                <a:cubicBezTo>
                  <a:pt x="184077" y="606844"/>
                  <a:pt x="51521" y="579063"/>
                  <a:pt x="11834" y="501276"/>
                </a:cubicBezTo>
                <a:cubicBezTo>
                  <a:pt x="-27854" y="423488"/>
                  <a:pt x="41996" y="244101"/>
                  <a:pt x="78509" y="167901"/>
                </a:cubicBezTo>
                <a:cubicBezTo>
                  <a:pt x="115022" y="91701"/>
                  <a:pt x="143596" y="71063"/>
                  <a:pt x="230909" y="44076"/>
                </a:cubicBezTo>
                <a:cubicBezTo>
                  <a:pt x="318222" y="17088"/>
                  <a:pt x="500784" y="9151"/>
                  <a:pt x="602384" y="5976"/>
                </a:cubicBezTo>
                <a:cubicBezTo>
                  <a:pt x="703984" y="2801"/>
                  <a:pt x="794472" y="-13074"/>
                  <a:pt x="840509" y="25026"/>
                </a:cubicBezTo>
                <a:cubicBezTo>
                  <a:pt x="886546" y="63126"/>
                  <a:pt x="878609" y="180601"/>
                  <a:pt x="878609" y="234576"/>
                </a:cubicBezTo>
                <a:cubicBezTo>
                  <a:pt x="878609" y="288551"/>
                  <a:pt x="848446" y="310776"/>
                  <a:pt x="840509" y="348876"/>
                </a:cubicBezTo>
                <a:cubicBezTo>
                  <a:pt x="832572" y="386976"/>
                  <a:pt x="830984" y="463176"/>
                  <a:pt x="830984" y="463176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6" name="Freeform: Shape 25">
            <a:extLst>
              <a:ext uri="{FF2B5EF4-FFF2-40B4-BE49-F238E27FC236}">
                <a16:creationId xmlns:a16="http://schemas.microsoft.com/office/drawing/2014/main" id="{72E224E0-C286-D7A7-74D6-62AEECE2038F}"/>
              </a:ext>
            </a:extLst>
          </p:cNvPr>
          <p:cNvSpPr>
            <a:spLocks/>
          </p:cNvSpPr>
          <p:nvPr/>
        </p:nvSpPr>
        <p:spPr bwMode="auto">
          <a:xfrm>
            <a:off x="1500188" y="4589463"/>
            <a:ext cx="862012" cy="549275"/>
          </a:xfrm>
          <a:custGeom>
            <a:avLst/>
            <a:gdLst>
              <a:gd name="T0" fmla="*/ 176085 w 862076"/>
              <a:gd name="T1" fmla="*/ 116204 h 550438"/>
              <a:gd name="T2" fmla="*/ 14172 w 862076"/>
              <a:gd name="T3" fmla="*/ 287292 h 550438"/>
              <a:gd name="T4" fmla="*/ 42745 w 862076"/>
              <a:gd name="T5" fmla="*/ 410855 h 550438"/>
              <a:gd name="T6" fmla="*/ 318949 w 862076"/>
              <a:gd name="T7" fmla="*/ 534418 h 550438"/>
              <a:gd name="T8" fmla="*/ 623727 w 862076"/>
              <a:gd name="T9" fmla="*/ 534418 h 550438"/>
              <a:gd name="T10" fmla="*/ 785640 w 862076"/>
              <a:gd name="T11" fmla="*/ 420360 h 550438"/>
              <a:gd name="T12" fmla="*/ 861834 w 862076"/>
              <a:gd name="T13" fmla="*/ 97194 h 550438"/>
              <a:gd name="T14" fmla="*/ 766591 w 862076"/>
              <a:gd name="T15" fmla="*/ 2145 h 550438"/>
              <a:gd name="T16" fmla="*/ 604678 w 862076"/>
              <a:gd name="T17" fmla="*/ 40165 h 5504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2076" h="550438">
                <a:moveTo>
                  <a:pt x="176098" y="116450"/>
                </a:moveTo>
                <a:cubicBezTo>
                  <a:pt x="106248" y="177569"/>
                  <a:pt x="36398" y="238688"/>
                  <a:pt x="14173" y="287900"/>
                </a:cubicBezTo>
                <a:cubicBezTo>
                  <a:pt x="-8052" y="337112"/>
                  <a:pt x="-8052" y="370450"/>
                  <a:pt x="42748" y="411725"/>
                </a:cubicBezTo>
                <a:cubicBezTo>
                  <a:pt x="93548" y="453000"/>
                  <a:pt x="222136" y="514913"/>
                  <a:pt x="318973" y="535550"/>
                </a:cubicBezTo>
                <a:cubicBezTo>
                  <a:pt x="415810" y="556187"/>
                  <a:pt x="545986" y="554600"/>
                  <a:pt x="623773" y="535550"/>
                </a:cubicBezTo>
                <a:cubicBezTo>
                  <a:pt x="701560" y="516500"/>
                  <a:pt x="746011" y="494275"/>
                  <a:pt x="785698" y="421250"/>
                </a:cubicBezTo>
                <a:cubicBezTo>
                  <a:pt x="825386" y="348225"/>
                  <a:pt x="865073" y="167250"/>
                  <a:pt x="861898" y="97400"/>
                </a:cubicBezTo>
                <a:cubicBezTo>
                  <a:pt x="858723" y="27550"/>
                  <a:pt x="809510" y="11675"/>
                  <a:pt x="766648" y="2150"/>
                </a:cubicBezTo>
                <a:cubicBezTo>
                  <a:pt x="723786" y="-7375"/>
                  <a:pt x="664254" y="16437"/>
                  <a:pt x="604723" y="4025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8D6AB5-E5B9-1F99-5936-6E851FDE8143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78780"/>
            <a:ext cx="8686800" cy="695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7B3B"/>
                </a:solidFill>
                <a:latin typeface="Comic Sans MS" panose="030F0902030302020204" pitchFamily="66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Example of Adjacency Matrix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FD3488-7B60-E512-3B41-19066EE55FBF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49" name="Group 57">
            <a:extLst>
              <a:ext uri="{FF2B5EF4-FFF2-40B4-BE49-F238E27FC236}">
                <a16:creationId xmlns:a16="http://schemas.microsoft.com/office/drawing/2014/main" id="{2290C5F7-B6C1-0E7B-FCBF-BD222A5D3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734050"/>
              </p:ext>
            </p:extLst>
          </p:nvPr>
        </p:nvGraphicFramePr>
        <p:xfrm>
          <a:off x="3429000" y="1836738"/>
          <a:ext cx="4876800" cy="2286000"/>
        </p:xfrm>
        <a:graphic>
          <a:graphicData uri="http://schemas.openxmlformats.org/drawingml/2006/table">
            <a:tbl>
              <a:tblPr/>
              <a:tblGrid>
                <a:gridCol w="1157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A[</a:t>
                      </a: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i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][j]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37" name="Oval 5">
            <a:extLst>
              <a:ext uri="{FF2B5EF4-FFF2-40B4-BE49-F238E27FC236}">
                <a16:creationId xmlns:a16="http://schemas.microsoft.com/office/drawing/2014/main" id="{1DB2CEC6-046F-B9F6-C2B8-93D83DB1F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5146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38" name="Oval 6">
            <a:extLst>
              <a:ext uri="{FF2B5EF4-FFF2-40B4-BE49-F238E27FC236}">
                <a16:creationId xmlns:a16="http://schemas.microsoft.com/office/drawing/2014/main" id="{F4549593-3CA6-C03E-F882-F1FD9CBFB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52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39" name="Oval 7">
            <a:extLst>
              <a:ext uri="{FF2B5EF4-FFF2-40B4-BE49-F238E27FC236}">
                <a16:creationId xmlns:a16="http://schemas.microsoft.com/office/drawing/2014/main" id="{33833881-C25E-EF76-9E9F-34156E7A2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3434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40" name="Oval 8">
            <a:extLst>
              <a:ext uri="{FF2B5EF4-FFF2-40B4-BE49-F238E27FC236}">
                <a16:creationId xmlns:a16="http://schemas.microsoft.com/office/drawing/2014/main" id="{F544A4E0-474C-EC83-5059-0FF354068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814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41" name="Line 9">
            <a:extLst>
              <a:ext uri="{FF2B5EF4-FFF2-40B4-BE49-F238E27FC236}">
                <a16:creationId xmlns:a16="http://schemas.microsoft.com/office/drawing/2014/main" id="{48E9D144-9FA7-DFD8-0C37-BDA7FBB17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30480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2" name="Line 10">
            <a:extLst>
              <a:ext uri="{FF2B5EF4-FFF2-40B4-BE49-F238E27FC236}">
                <a16:creationId xmlns:a16="http://schemas.microsoft.com/office/drawing/2014/main" id="{7316D3AC-3853-7E98-7033-B7511DE1A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1148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3" name="Line 12">
            <a:extLst>
              <a:ext uri="{FF2B5EF4-FFF2-40B4-BE49-F238E27FC236}">
                <a16:creationId xmlns:a16="http://schemas.microsoft.com/office/drawing/2014/main" id="{5D5BB3BE-3E17-F54D-2B8C-63F98289F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9718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4" name="Line 13">
            <a:extLst>
              <a:ext uri="{FF2B5EF4-FFF2-40B4-BE49-F238E27FC236}">
                <a16:creationId xmlns:a16="http://schemas.microsoft.com/office/drawing/2014/main" id="{E263A65C-C0E4-BDEB-EA82-2CDEF619A5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38862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5" name="Line 53">
            <a:extLst>
              <a:ext uri="{FF2B5EF4-FFF2-40B4-BE49-F238E27FC236}">
                <a16:creationId xmlns:a16="http://schemas.microsoft.com/office/drawing/2014/main" id="{033CC13F-2F4D-E92D-D88F-FCA0B9F9B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3124200"/>
            <a:ext cx="228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6" name="Text Box 58">
            <a:extLst>
              <a:ext uri="{FF2B5EF4-FFF2-40B4-BE49-F238E27FC236}">
                <a16:creationId xmlns:a16="http://schemas.microsoft.com/office/drawing/2014/main" id="{6F992924-A56A-6A58-3B40-C9B847084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50" y="5029200"/>
            <a:ext cx="23826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 So, Matrix A = </a:t>
            </a:r>
          </a:p>
        </p:txBody>
      </p:sp>
      <p:sp>
        <p:nvSpPr>
          <p:cNvPr id="29747" name="AutoShape 59">
            <a:extLst>
              <a:ext uri="{FF2B5EF4-FFF2-40B4-BE49-F238E27FC236}">
                <a16:creationId xmlns:a16="http://schemas.microsoft.com/office/drawing/2014/main" id="{1A250DF7-9B1D-7138-D7F8-88020949C2E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38800" y="4495800"/>
            <a:ext cx="1981200" cy="1524000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29748" name="Text Box 60">
            <a:extLst>
              <a:ext uri="{FF2B5EF4-FFF2-40B4-BE49-F238E27FC236}">
                <a16:creationId xmlns:a16="http://schemas.microsoft.com/office/drawing/2014/main" id="{A4981013-3E90-5295-923D-BBA7AAEEA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645" y="4497657"/>
            <a:ext cx="1849244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0     1     1     1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0     0     0     1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0     0     0     1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0     0     0     0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DDF505-CEEC-9787-C35A-E7B44B104265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278780"/>
            <a:ext cx="8686800" cy="695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rgbClr val="007B3B"/>
                </a:solidFill>
                <a:latin typeface="Comic Sans MS" panose="030F0902030302020204" pitchFamily="66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Example of Adjacency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800701E-C94B-A17D-0C86-D0572C994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599" y="312233"/>
            <a:ext cx="8686799" cy="630253"/>
          </a:xfrm>
        </p:spPr>
        <p:txBody>
          <a:bodyPr/>
          <a:lstStyle/>
          <a:p>
            <a:pPr eaLnBrk="1" hangingPunct="1"/>
            <a:r>
              <a:rPr lang="en-US" altLang="en-US" dirty="0"/>
              <a:t>Undirected vs. Directed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>
                <a:extLst>
                  <a:ext uri="{FF2B5EF4-FFF2-40B4-BE49-F238E27FC236}">
                    <a16:creationId xmlns:a16="http://schemas.microsoft.com/office/drawing/2014/main" id="{C343D21B-54C8-3BA8-E3F3-7D50EAAF6A4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599" y="1055650"/>
                <a:ext cx="8686798" cy="4114800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400" dirty="0"/>
                  <a:t>Undirected graph</a:t>
                </a:r>
              </a:p>
              <a:p>
                <a:pPr lvl="1" eaLnBrk="1" hangingPunct="1"/>
                <a:r>
                  <a:rPr lang="en-US" altLang="en-US" sz="2000" dirty="0"/>
                  <a:t>adjacency matrix is </a:t>
                </a:r>
                <a:r>
                  <a:rPr lang="en-US" altLang="en-US" sz="2000" dirty="0">
                    <a:solidFill>
                      <a:srgbClr val="FF3300"/>
                    </a:solidFill>
                  </a:rPr>
                  <a:t>symmetric</a:t>
                </a:r>
              </a:p>
              <a:p>
                <a:pPr lvl="1" eaLnBrk="1" hangingPunct="1"/>
                <a:r>
                  <a:rPr lang="en-US" altLang="en-US" sz="2000" dirty="0"/>
                  <a:t>A[</a:t>
                </a:r>
                <a:r>
                  <a:rPr lang="en-US" altLang="en-US" sz="2000" dirty="0" err="1"/>
                  <a:t>i</a:t>
                </a:r>
                <a:r>
                  <a:rPr lang="en-US" altLang="en-US" sz="2000" dirty="0"/>
                  <a:t>][j]=A[j][</a:t>
                </a:r>
                <a:r>
                  <a:rPr lang="en-US" altLang="en-US" sz="2000" dirty="0" err="1"/>
                  <a:t>i</a:t>
                </a:r>
                <a:r>
                  <a:rPr lang="en-US" altLang="en-US" sz="2000" dirty="0"/>
                  <a:t>]</a:t>
                </a:r>
              </a:p>
              <a:p>
                <a:pPr eaLnBrk="1" hangingPunct="1"/>
                <a:r>
                  <a:rPr lang="en-US" altLang="en-US" sz="2400" dirty="0"/>
                  <a:t>Directed graph</a:t>
                </a:r>
              </a:p>
              <a:p>
                <a:pPr lvl="1" eaLnBrk="1" hangingPunct="1"/>
                <a:r>
                  <a:rPr lang="en-US" altLang="en-US" sz="2000" dirty="0"/>
                  <a:t>adjacency matrix may </a:t>
                </a:r>
                <a:r>
                  <a:rPr lang="en-US" altLang="en-US" sz="2000" dirty="0">
                    <a:solidFill>
                      <a:srgbClr val="FF3300"/>
                    </a:solidFill>
                  </a:rPr>
                  <a:t>not be symmetric</a:t>
                </a:r>
              </a:p>
              <a:p>
                <a:pPr lvl="1" eaLnBrk="1" hangingPunct="1"/>
                <a:r>
                  <a:rPr lang="en-US" altLang="en-US" sz="2000" dirty="0"/>
                  <a:t>A[</a:t>
                </a:r>
                <a:r>
                  <a:rPr lang="en-US" altLang="en-US" sz="2000" dirty="0" err="1"/>
                  <a:t>i</a:t>
                </a:r>
                <a:r>
                  <a:rPr lang="en-US" altLang="en-US" sz="2000" dirty="0"/>
                  <a:t>][j]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2" charset="2"/>
                      </a:rPr>
                      <m:t>≠</m:t>
                    </m:r>
                  </m:oMath>
                </a14:m>
                <a:r>
                  <a:rPr lang="en-US" altLang="en-US" sz="2000" dirty="0">
                    <a:sym typeface="Symbol" pitchFamily="2" charset="2"/>
                  </a:rPr>
                  <a:t> </a:t>
                </a:r>
                <a:r>
                  <a:rPr lang="en-US" altLang="en-US" sz="2000" dirty="0"/>
                  <a:t>A[j][</a:t>
                </a:r>
                <a:r>
                  <a:rPr lang="en-US" altLang="en-US" sz="2000" dirty="0" err="1"/>
                  <a:t>i</a:t>
                </a:r>
                <a:r>
                  <a:rPr lang="en-US" altLang="en-US" sz="2000" dirty="0"/>
                  <a:t>]</a:t>
                </a:r>
              </a:p>
              <a:p>
                <a:pPr eaLnBrk="1" hangingPunct="1">
                  <a:buFont typeface="Wingdings" pitchFamily="2" charset="2"/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30723" name="Rectangle 3">
                <a:extLst>
                  <a:ext uri="{FF2B5EF4-FFF2-40B4-BE49-F238E27FC236}">
                    <a16:creationId xmlns:a16="http://schemas.microsoft.com/office/drawing/2014/main" id="{C343D21B-54C8-3BA8-E3F3-7D50EAAF6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599" y="1055650"/>
                <a:ext cx="8686798" cy="4114800"/>
              </a:xfrm>
              <a:blipFill>
                <a:blip r:embed="rId2"/>
                <a:stretch>
                  <a:fillRect l="-876" t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5FE0359-B1C7-F053-53E7-1E0EEF687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11873"/>
            <a:ext cx="8675649" cy="702527"/>
          </a:xfrm>
        </p:spPr>
        <p:txBody>
          <a:bodyPr/>
          <a:lstStyle/>
          <a:p>
            <a:pPr eaLnBrk="1" hangingPunct="1"/>
            <a:r>
              <a:rPr lang="en-US" altLang="en-US" dirty="0"/>
              <a:t>Weighted Graph</a:t>
            </a:r>
          </a:p>
        </p:txBody>
      </p:sp>
      <p:graphicFrame>
        <p:nvGraphicFramePr>
          <p:cNvPr id="86087" name="Group 71">
            <a:extLst>
              <a:ext uri="{FF2B5EF4-FFF2-40B4-BE49-F238E27FC236}">
                <a16:creationId xmlns:a16="http://schemas.microsoft.com/office/drawing/2014/main" id="{A00621D0-0275-4501-C81E-39DD66285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443576"/>
              </p:ext>
            </p:extLst>
          </p:nvPr>
        </p:nvGraphicFramePr>
        <p:xfrm>
          <a:off x="3124200" y="1752600"/>
          <a:ext cx="5410200" cy="2286000"/>
        </p:xfrm>
        <a:graphic>
          <a:graphicData uri="http://schemas.openxmlformats.org/drawingml/2006/table">
            <a:tbl>
              <a:tblPr/>
              <a:tblGrid>
                <a:gridCol w="128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A[</a:t>
                      </a: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i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][j]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85" name="Oval 53">
            <a:extLst>
              <a:ext uri="{FF2B5EF4-FFF2-40B4-BE49-F238E27FC236}">
                <a16:creationId xmlns:a16="http://schemas.microsoft.com/office/drawing/2014/main" id="{A5A1661E-5437-A9E6-05F0-B0A95D40B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971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86" name="Oval 54">
            <a:extLst>
              <a:ext uri="{FF2B5EF4-FFF2-40B4-BE49-F238E27FC236}">
                <a16:creationId xmlns:a16="http://schemas.microsoft.com/office/drawing/2014/main" id="{DAB2A433-9E79-4067-6F39-DD4698DFA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810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87" name="Oval 55">
            <a:extLst>
              <a:ext uri="{FF2B5EF4-FFF2-40B4-BE49-F238E27FC236}">
                <a16:creationId xmlns:a16="http://schemas.microsoft.com/office/drawing/2014/main" id="{40F9DD7E-4A7C-9F52-42BF-B0CEAC97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8006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88" name="Oval 56">
            <a:extLst>
              <a:ext uri="{FF2B5EF4-FFF2-40B4-BE49-F238E27FC236}">
                <a16:creationId xmlns:a16="http://schemas.microsoft.com/office/drawing/2014/main" id="{762A4177-F08D-BE18-6DDB-179B11299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0386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89" name="Line 57">
            <a:extLst>
              <a:ext uri="{FF2B5EF4-FFF2-40B4-BE49-F238E27FC236}">
                <a16:creationId xmlns:a16="http://schemas.microsoft.com/office/drawing/2014/main" id="{6407AA69-3A90-5D10-DED9-EAEAAB89C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3505200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0" name="Line 58">
            <a:extLst>
              <a:ext uri="{FF2B5EF4-FFF2-40B4-BE49-F238E27FC236}">
                <a16:creationId xmlns:a16="http://schemas.microsoft.com/office/drawing/2014/main" id="{D1BAFF85-861D-3810-F133-8FED2DEEF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572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1" name="Line 59">
            <a:extLst>
              <a:ext uri="{FF2B5EF4-FFF2-40B4-BE49-F238E27FC236}">
                <a16:creationId xmlns:a16="http://schemas.microsoft.com/office/drawing/2014/main" id="{1F585E19-96A5-7731-91D5-02BA03B8A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429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2" name="Line 60">
            <a:extLst>
              <a:ext uri="{FF2B5EF4-FFF2-40B4-BE49-F238E27FC236}">
                <a16:creationId xmlns:a16="http://schemas.microsoft.com/office/drawing/2014/main" id="{D9E02C20-C85A-D4F5-176A-51837B0D05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343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3" name="Line 61">
            <a:extLst>
              <a:ext uri="{FF2B5EF4-FFF2-40B4-BE49-F238E27FC236}">
                <a16:creationId xmlns:a16="http://schemas.microsoft.com/office/drawing/2014/main" id="{904C7F0A-5F75-DDA0-D378-02C2F89B7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581400"/>
            <a:ext cx="228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4" name="Rectangle 62">
            <a:extLst>
              <a:ext uri="{FF2B5EF4-FFF2-40B4-BE49-F238E27FC236}">
                <a16:creationId xmlns:a16="http://schemas.microsoft.com/office/drawing/2014/main" id="{F58458EB-6093-9F53-E67D-0CC99E8CC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290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1795" name="Rectangle 63">
            <a:extLst>
              <a:ext uri="{FF2B5EF4-FFF2-40B4-BE49-F238E27FC236}">
                <a16:creationId xmlns:a16="http://schemas.microsoft.com/office/drawing/2014/main" id="{A8C05229-6080-2100-B5C7-3B201FA8C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2766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1796" name="Rectangle 64">
            <a:extLst>
              <a:ext uri="{FF2B5EF4-FFF2-40B4-BE49-F238E27FC236}">
                <a16:creationId xmlns:a16="http://schemas.microsoft.com/office/drawing/2014/main" id="{200D5B41-9847-9A1B-775D-C5746E134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8862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97" name="Rectangle 65">
            <a:extLst>
              <a:ext uri="{FF2B5EF4-FFF2-40B4-BE49-F238E27FC236}">
                <a16:creationId xmlns:a16="http://schemas.microsoft.com/office/drawing/2014/main" id="{68D0F159-9371-7113-25B0-C9DDCDA49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244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1798" name="Rectangle 66">
            <a:extLst>
              <a:ext uri="{FF2B5EF4-FFF2-40B4-BE49-F238E27FC236}">
                <a16:creationId xmlns:a16="http://schemas.microsoft.com/office/drawing/2014/main" id="{C7A87B42-91D6-79B0-320C-C0C1AD2D7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958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99" name="Text Box 72">
            <a:extLst>
              <a:ext uri="{FF2B5EF4-FFF2-40B4-BE49-F238E27FC236}">
                <a16:creationId xmlns:a16="http://schemas.microsoft.com/office/drawing/2014/main" id="{39ED9B87-DBD6-C780-E953-982E6FFD3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6158" y="5029200"/>
            <a:ext cx="23807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 So, Matrix A = </a:t>
            </a:r>
          </a:p>
        </p:txBody>
      </p:sp>
      <p:sp>
        <p:nvSpPr>
          <p:cNvPr id="31800" name="AutoShape 73">
            <a:extLst>
              <a:ext uri="{FF2B5EF4-FFF2-40B4-BE49-F238E27FC236}">
                <a16:creationId xmlns:a16="http://schemas.microsoft.com/office/drawing/2014/main" id="{5BA6E95D-8F2F-7116-AC66-E98CAD2DB3D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38800" y="4495800"/>
            <a:ext cx="2286000" cy="1524000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31801" name="Text Box 74">
            <a:extLst>
              <a:ext uri="{FF2B5EF4-FFF2-40B4-BE49-F238E27FC236}">
                <a16:creationId xmlns:a16="http://schemas.microsoft.com/office/drawing/2014/main" id="{5F5E6BCF-94C7-E804-D260-2D1358440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437" y="4475355"/>
            <a:ext cx="218378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 0     20     10     1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20     0       0      5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10     0       0      4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mic Sans MS" panose="030F0902030302020204" pitchFamily="66" charset="0"/>
              </a:rPr>
              <a:t> 1      5       4      0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81D1A3D-6AC8-1002-69D8-B2E02CF98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Adjacency List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47654EB-96AD-892C-9DA6-740057A76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50" y="1055649"/>
            <a:ext cx="8686798" cy="1447799"/>
          </a:xfrm>
        </p:spPr>
        <p:txBody>
          <a:bodyPr/>
          <a:lstStyle/>
          <a:p>
            <a:pPr eaLnBrk="1" hangingPunct="1">
              <a:spcAft>
                <a:spcPts val="300"/>
              </a:spcAft>
            </a:pPr>
            <a:r>
              <a:rPr lang="en-US" altLang="en-US" sz="2400" dirty="0"/>
              <a:t>An array of list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dirty="0"/>
              <a:t>the </a:t>
            </a:r>
            <a:r>
              <a:rPr lang="en-US" altLang="en-US" sz="2400" dirty="0" err="1"/>
              <a:t>i</a:t>
            </a:r>
            <a:r>
              <a:rPr lang="en-US" altLang="en-US" sz="2400" i="1" dirty="0" err="1"/>
              <a:t>th</a:t>
            </a:r>
            <a:r>
              <a:rPr lang="en-US" altLang="en-US" sz="2400" dirty="0"/>
              <a:t> element of the array is a list of vertices that connect to vertex </a:t>
            </a:r>
            <a:r>
              <a:rPr lang="en-US" altLang="en-US" sz="2400" dirty="0" err="1"/>
              <a:t>i</a:t>
            </a:r>
            <a:endParaRPr lang="en-US" altLang="en-US" sz="2400" dirty="0"/>
          </a:p>
        </p:txBody>
      </p:sp>
      <p:sp>
        <p:nvSpPr>
          <p:cNvPr id="32772" name="Oval 4">
            <a:extLst>
              <a:ext uri="{FF2B5EF4-FFF2-40B4-BE49-F238E27FC236}">
                <a16:creationId xmlns:a16="http://schemas.microsoft.com/office/drawing/2014/main" id="{67C1187F-CA31-2DEF-2596-9DC632C7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773" name="Oval 5">
            <a:extLst>
              <a:ext uri="{FF2B5EF4-FFF2-40B4-BE49-F238E27FC236}">
                <a16:creationId xmlns:a16="http://schemas.microsoft.com/office/drawing/2014/main" id="{CF0D49C9-20C4-EC75-4DA8-8DDB0CF2E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2672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74" name="Oval 6">
            <a:extLst>
              <a:ext uri="{FF2B5EF4-FFF2-40B4-BE49-F238E27FC236}">
                <a16:creationId xmlns:a16="http://schemas.microsoft.com/office/drawing/2014/main" id="{6A9BB71E-71B8-E3A0-9B6D-E9D5E02DD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257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75" name="Oval 7">
            <a:extLst>
              <a:ext uri="{FF2B5EF4-FFF2-40B4-BE49-F238E27FC236}">
                <a16:creationId xmlns:a16="http://schemas.microsoft.com/office/drawing/2014/main" id="{CD605E2B-5A33-F2A2-C3A5-0196FA352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95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776" name="Line 8">
            <a:extLst>
              <a:ext uri="{FF2B5EF4-FFF2-40B4-BE49-F238E27FC236}">
                <a16:creationId xmlns:a16="http://schemas.microsoft.com/office/drawing/2014/main" id="{E8291373-F033-E1D4-3CC5-35551FF9E0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3962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9">
            <a:extLst>
              <a:ext uri="{FF2B5EF4-FFF2-40B4-BE49-F238E27FC236}">
                <a16:creationId xmlns:a16="http://schemas.microsoft.com/office/drawing/2014/main" id="{16A85DD1-CC67-0318-D028-B6120DF918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029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10">
            <a:extLst>
              <a:ext uri="{FF2B5EF4-FFF2-40B4-BE49-F238E27FC236}">
                <a16:creationId xmlns:a16="http://schemas.microsoft.com/office/drawing/2014/main" id="{08AD5E64-9041-99B2-AF5F-B73BFF537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3886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D1AFA3C1-2941-0E08-DC29-898FC82722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4800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8121A635-2D60-22E6-30E6-9F5C69D11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038600"/>
            <a:ext cx="228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3">
            <a:extLst>
              <a:ext uri="{FF2B5EF4-FFF2-40B4-BE49-F238E27FC236}">
                <a16:creationId xmlns:a16="http://schemas.microsoft.com/office/drawing/2014/main" id="{65A5AA15-ADA1-19E4-D32B-C662BC51F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95321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782" name="Group 14">
            <a:extLst>
              <a:ext uri="{FF2B5EF4-FFF2-40B4-BE49-F238E27FC236}">
                <a16:creationId xmlns:a16="http://schemas.microsoft.com/office/drawing/2014/main" id="{41712751-0B91-5C80-12A4-156B06BFA49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648418"/>
            <a:ext cx="4648200" cy="2438400"/>
            <a:chOff x="2112" y="1488"/>
            <a:chExt cx="2928" cy="1536"/>
          </a:xfrm>
        </p:grpSpPr>
        <p:sp>
          <p:nvSpPr>
            <p:cNvPr id="32784" name="Rectangle 15">
              <a:extLst>
                <a:ext uri="{FF2B5EF4-FFF2-40B4-BE49-F238E27FC236}">
                  <a16:creationId xmlns:a16="http://schemas.microsoft.com/office/drawing/2014/main" id="{3FD37D4F-6AFA-2AF8-8C0C-53328AE9B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488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2785" name="Rectangle 16">
              <a:extLst>
                <a:ext uri="{FF2B5EF4-FFF2-40B4-BE49-F238E27FC236}">
                  <a16:creationId xmlns:a16="http://schemas.microsoft.com/office/drawing/2014/main" id="{4A5C4F9D-FC1C-14F6-EED7-8A2D6767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872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2786" name="Rectangle 17">
              <a:extLst>
                <a:ext uri="{FF2B5EF4-FFF2-40B4-BE49-F238E27FC236}">
                  <a16:creationId xmlns:a16="http://schemas.microsoft.com/office/drawing/2014/main" id="{FFF2CD74-1A59-C403-2329-54D21F8E5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2787" name="Rectangle 18">
              <a:extLst>
                <a:ext uri="{FF2B5EF4-FFF2-40B4-BE49-F238E27FC236}">
                  <a16:creationId xmlns:a16="http://schemas.microsoft.com/office/drawing/2014/main" id="{84017DB3-E6F7-9FC5-8BBC-173498BF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0"/>
              <a:ext cx="28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2788" name="Line 19">
              <a:extLst>
                <a:ext uri="{FF2B5EF4-FFF2-40B4-BE49-F238E27FC236}">
                  <a16:creationId xmlns:a16="http://schemas.microsoft.com/office/drawing/2014/main" id="{E50AA795-8134-5157-E199-93A8F14B21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64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9" name="Rectangle 20">
              <a:extLst>
                <a:ext uri="{FF2B5EF4-FFF2-40B4-BE49-F238E27FC236}">
                  <a16:creationId xmlns:a16="http://schemas.microsoft.com/office/drawing/2014/main" id="{65EEDBB9-CAE7-F856-1876-C0D4B8DC4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488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790" name="Rectangle 21">
              <a:extLst>
                <a:ext uri="{FF2B5EF4-FFF2-40B4-BE49-F238E27FC236}">
                  <a16:creationId xmlns:a16="http://schemas.microsoft.com/office/drawing/2014/main" id="{D11246FE-A503-C806-4BC1-0584EFB4D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872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791" name="Rectangle 22">
              <a:extLst>
                <a:ext uri="{FF2B5EF4-FFF2-40B4-BE49-F238E27FC236}">
                  <a16:creationId xmlns:a16="http://schemas.microsoft.com/office/drawing/2014/main" id="{0DFE0275-88F9-9DE3-E733-194812B96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256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792" name="Rectangle 23">
              <a:extLst>
                <a:ext uri="{FF2B5EF4-FFF2-40B4-BE49-F238E27FC236}">
                  <a16:creationId xmlns:a16="http://schemas.microsoft.com/office/drawing/2014/main" id="{2F1854E8-68A3-9812-0047-22FA0EEED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640"/>
              <a:ext cx="2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32793" name="Group 24">
              <a:extLst>
                <a:ext uri="{FF2B5EF4-FFF2-40B4-BE49-F238E27FC236}">
                  <a16:creationId xmlns:a16="http://schemas.microsoft.com/office/drawing/2014/main" id="{810F877D-CF55-2ED2-7E24-26F573EF0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36"/>
              <a:ext cx="480" cy="288"/>
              <a:chOff x="3024" y="1488"/>
              <a:chExt cx="480" cy="384"/>
            </a:xfrm>
          </p:grpSpPr>
          <p:sp>
            <p:nvSpPr>
              <p:cNvPr id="32813" name="Rectangle 25">
                <a:extLst>
                  <a:ext uri="{FF2B5EF4-FFF2-40B4-BE49-F238E27FC236}">
                    <a16:creationId xmlns:a16="http://schemas.microsoft.com/office/drawing/2014/main" id="{118158F8-4FAA-3BB2-E16D-04CA4E2B7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14" name="Rectangle 26">
                <a:extLst>
                  <a:ext uri="{FF2B5EF4-FFF2-40B4-BE49-F238E27FC236}">
                    <a16:creationId xmlns:a16="http://schemas.microsoft.com/office/drawing/2014/main" id="{40751E4B-1C72-356A-3DE5-58F5E1BCD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794" name="Group 27">
              <a:extLst>
                <a:ext uri="{FF2B5EF4-FFF2-40B4-BE49-F238E27FC236}">
                  <a16:creationId xmlns:a16="http://schemas.microsoft.com/office/drawing/2014/main" id="{21D83DAC-3C57-F954-AF5E-07DE720BA5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536"/>
              <a:ext cx="480" cy="288"/>
              <a:chOff x="3024" y="1488"/>
              <a:chExt cx="480" cy="384"/>
            </a:xfrm>
          </p:grpSpPr>
          <p:sp>
            <p:nvSpPr>
              <p:cNvPr id="32811" name="Rectangle 28">
                <a:extLst>
                  <a:ext uri="{FF2B5EF4-FFF2-40B4-BE49-F238E27FC236}">
                    <a16:creationId xmlns:a16="http://schemas.microsoft.com/office/drawing/2014/main" id="{4773B580-3030-9A12-BBE7-07B9AC460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12" name="Rectangle 29">
                <a:extLst>
                  <a:ext uri="{FF2B5EF4-FFF2-40B4-BE49-F238E27FC236}">
                    <a16:creationId xmlns:a16="http://schemas.microsoft.com/office/drawing/2014/main" id="{60A55729-6263-67C4-20C3-1F41EED1D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795" name="Group 30">
              <a:extLst>
                <a:ext uri="{FF2B5EF4-FFF2-40B4-BE49-F238E27FC236}">
                  <a16:creationId xmlns:a16="http://schemas.microsoft.com/office/drawing/2014/main" id="{D02ED9E8-CEBF-1644-AFBD-D66CD1ABA9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536"/>
              <a:ext cx="480" cy="288"/>
              <a:chOff x="3024" y="1488"/>
              <a:chExt cx="480" cy="384"/>
            </a:xfrm>
          </p:grpSpPr>
          <p:sp>
            <p:nvSpPr>
              <p:cNvPr id="32809" name="Rectangle 31">
                <a:extLst>
                  <a:ext uri="{FF2B5EF4-FFF2-40B4-BE49-F238E27FC236}">
                    <a16:creationId xmlns:a16="http://schemas.microsoft.com/office/drawing/2014/main" id="{F6EDEC91-48C0-A8D2-2092-F7E9CF4D2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810" name="Rectangle 32">
                <a:extLst>
                  <a:ext uri="{FF2B5EF4-FFF2-40B4-BE49-F238E27FC236}">
                    <a16:creationId xmlns:a16="http://schemas.microsoft.com/office/drawing/2014/main" id="{38FC5D5E-075D-FA30-6F24-96D953457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796" name="Group 33">
              <a:extLst>
                <a:ext uri="{FF2B5EF4-FFF2-40B4-BE49-F238E27FC236}">
                  <a16:creationId xmlns:a16="http://schemas.microsoft.com/office/drawing/2014/main" id="{A93902D0-4353-AC26-295A-4B34F70408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920"/>
              <a:ext cx="480" cy="288"/>
              <a:chOff x="3024" y="1488"/>
              <a:chExt cx="480" cy="384"/>
            </a:xfrm>
          </p:grpSpPr>
          <p:sp>
            <p:nvSpPr>
              <p:cNvPr id="32807" name="Rectangle 34">
                <a:extLst>
                  <a:ext uri="{FF2B5EF4-FFF2-40B4-BE49-F238E27FC236}">
                    <a16:creationId xmlns:a16="http://schemas.microsoft.com/office/drawing/2014/main" id="{36DF31AF-D70B-ED37-FB8A-9462E7211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808" name="Rectangle 35">
                <a:extLst>
                  <a:ext uri="{FF2B5EF4-FFF2-40B4-BE49-F238E27FC236}">
                    <a16:creationId xmlns:a16="http://schemas.microsoft.com/office/drawing/2014/main" id="{CA0FD700-DA04-CD28-F16A-76EC3A38C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797" name="Group 36">
              <a:extLst>
                <a:ext uri="{FF2B5EF4-FFF2-40B4-BE49-F238E27FC236}">
                  <a16:creationId xmlns:a16="http://schemas.microsoft.com/office/drawing/2014/main" id="{6CA04F80-ADC6-EB70-0D27-41A706D90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304"/>
              <a:ext cx="480" cy="288"/>
              <a:chOff x="3024" y="1488"/>
              <a:chExt cx="480" cy="384"/>
            </a:xfrm>
          </p:grpSpPr>
          <p:sp>
            <p:nvSpPr>
              <p:cNvPr id="32805" name="Rectangle 37">
                <a:extLst>
                  <a:ext uri="{FF2B5EF4-FFF2-40B4-BE49-F238E27FC236}">
                    <a16:creationId xmlns:a16="http://schemas.microsoft.com/office/drawing/2014/main" id="{DF566EB8-DC9F-997C-FA9F-972583401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806" name="Rectangle 38">
                <a:extLst>
                  <a:ext uri="{FF2B5EF4-FFF2-40B4-BE49-F238E27FC236}">
                    <a16:creationId xmlns:a16="http://schemas.microsoft.com/office/drawing/2014/main" id="{AC96CD95-196C-468A-85C7-05F52DBF2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488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798" name="Line 39">
              <a:extLst>
                <a:ext uri="{FF2B5EF4-FFF2-40B4-BE49-F238E27FC236}">
                  <a16:creationId xmlns:a16="http://schemas.microsoft.com/office/drawing/2014/main" id="{D629210E-CA2E-C854-A308-1BB9635DA9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192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Line 40">
              <a:extLst>
                <a:ext uri="{FF2B5EF4-FFF2-40B4-BE49-F238E27FC236}">
                  <a16:creationId xmlns:a16="http://schemas.microsoft.com/office/drawing/2014/main" id="{01427396-6578-7AAD-45F0-713A42BA9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304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Line 41">
              <a:extLst>
                <a:ext uri="{FF2B5EF4-FFF2-40B4-BE49-F238E27FC236}">
                  <a16:creationId xmlns:a16="http://schemas.microsoft.com/office/drawing/2014/main" id="{382492E5-8D1A-50CC-F00B-6549394ACD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15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42">
              <a:extLst>
                <a:ext uri="{FF2B5EF4-FFF2-40B4-BE49-F238E27FC236}">
                  <a16:creationId xmlns:a16="http://schemas.microsoft.com/office/drawing/2014/main" id="{B41ED7EB-813F-6A1E-D686-A22641EE8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6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43">
              <a:extLst>
                <a:ext uri="{FF2B5EF4-FFF2-40B4-BE49-F238E27FC236}">
                  <a16:creationId xmlns:a16="http://schemas.microsoft.com/office/drawing/2014/main" id="{57940556-D5C8-DF92-7DA3-F7BA5AD4D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6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44">
              <a:extLst>
                <a:ext uri="{FF2B5EF4-FFF2-40B4-BE49-F238E27FC236}">
                  <a16:creationId xmlns:a16="http://schemas.microsoft.com/office/drawing/2014/main" id="{32844EDA-BC2F-2B7D-9409-C3A7773C6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6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45">
              <a:extLst>
                <a:ext uri="{FF2B5EF4-FFF2-40B4-BE49-F238E27FC236}">
                  <a16:creationId xmlns:a16="http://schemas.microsoft.com/office/drawing/2014/main" id="{5696C803-9DB5-728C-C9C9-C5A2EE53A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4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83" name="Text Box 46">
            <a:extLst>
              <a:ext uri="{FF2B5EF4-FFF2-40B4-BE49-F238E27FC236}">
                <a16:creationId xmlns:a16="http://schemas.microsoft.com/office/drawing/2014/main" id="{CE816178-1CFB-A91D-2A8B-2B9C543E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194768"/>
            <a:ext cx="5715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vertex 0 connect to vertex 1, 2 and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vertex 1 connects to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vertex 2 connects to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BCB0EBB-3769-B37C-6E4D-49E519EA0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Weighted Graph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6EF1935-8F62-3DF3-E129-C83260CC4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" y="1069692"/>
            <a:ext cx="8686798" cy="83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Weighted graph: extend each node with an addition field: weight</a:t>
            </a:r>
          </a:p>
        </p:txBody>
      </p:sp>
      <p:sp>
        <p:nvSpPr>
          <p:cNvPr id="33796" name="Oval 5">
            <a:extLst>
              <a:ext uri="{FF2B5EF4-FFF2-40B4-BE49-F238E27FC236}">
                <a16:creationId xmlns:a16="http://schemas.microsoft.com/office/drawing/2014/main" id="{DCE09188-CEF6-91C2-F35E-F977A81C1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9718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797" name="Oval 6">
            <a:extLst>
              <a:ext uri="{FF2B5EF4-FFF2-40B4-BE49-F238E27FC236}">
                <a16:creationId xmlns:a16="http://schemas.microsoft.com/office/drawing/2014/main" id="{EEB5FD39-C7C9-0892-84EA-9F1C8573A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8100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798" name="Oval 7">
            <a:extLst>
              <a:ext uri="{FF2B5EF4-FFF2-40B4-BE49-F238E27FC236}">
                <a16:creationId xmlns:a16="http://schemas.microsoft.com/office/drawing/2014/main" id="{DBE4632E-8077-30F1-7B3A-A322C629B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8006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799" name="Oval 8">
            <a:extLst>
              <a:ext uri="{FF2B5EF4-FFF2-40B4-BE49-F238E27FC236}">
                <a16:creationId xmlns:a16="http://schemas.microsoft.com/office/drawing/2014/main" id="{ADFFA7F1-6BD3-7A57-A879-4B061C237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038600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00" name="Line 9">
            <a:extLst>
              <a:ext uri="{FF2B5EF4-FFF2-40B4-BE49-F238E27FC236}">
                <a16:creationId xmlns:a16="http://schemas.microsoft.com/office/drawing/2014/main" id="{73F25AEF-D46F-941F-CC67-3BE8F05C37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3505200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10">
            <a:extLst>
              <a:ext uri="{FF2B5EF4-FFF2-40B4-BE49-F238E27FC236}">
                <a16:creationId xmlns:a16="http://schemas.microsoft.com/office/drawing/2014/main" id="{EE0D99EB-4ECC-E529-6AC3-E14C8850D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572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11">
            <a:extLst>
              <a:ext uri="{FF2B5EF4-FFF2-40B4-BE49-F238E27FC236}">
                <a16:creationId xmlns:a16="http://schemas.microsoft.com/office/drawing/2014/main" id="{8ECC749A-AF1A-75BE-DEEB-BF7EE6C31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429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2">
            <a:extLst>
              <a:ext uri="{FF2B5EF4-FFF2-40B4-BE49-F238E27FC236}">
                <a16:creationId xmlns:a16="http://schemas.microsoft.com/office/drawing/2014/main" id="{0FE132C5-B814-96D1-854C-6E77E86D76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343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Line 13">
            <a:extLst>
              <a:ext uri="{FF2B5EF4-FFF2-40B4-BE49-F238E27FC236}">
                <a16:creationId xmlns:a16="http://schemas.microsoft.com/office/drawing/2014/main" id="{DA6431AE-AB34-41C8-ACDC-7884D3CFB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581400"/>
            <a:ext cx="228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Rectangle 14">
            <a:extLst>
              <a:ext uri="{FF2B5EF4-FFF2-40B4-BE49-F238E27FC236}">
                <a16:creationId xmlns:a16="http://schemas.microsoft.com/office/drawing/2014/main" id="{6C214BB9-9570-FD7A-28D5-527291485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290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3806" name="Rectangle 15">
            <a:extLst>
              <a:ext uri="{FF2B5EF4-FFF2-40B4-BE49-F238E27FC236}">
                <a16:creationId xmlns:a16="http://schemas.microsoft.com/office/drawing/2014/main" id="{319BE189-6C3B-81BB-1074-8F9CC3BE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2766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07" name="Rectangle 16">
            <a:extLst>
              <a:ext uri="{FF2B5EF4-FFF2-40B4-BE49-F238E27FC236}">
                <a16:creationId xmlns:a16="http://schemas.microsoft.com/office/drawing/2014/main" id="{FD4D513C-20B2-8A64-CD7D-9AF0B2715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8862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08" name="Rectangle 17">
            <a:extLst>
              <a:ext uri="{FF2B5EF4-FFF2-40B4-BE49-F238E27FC236}">
                <a16:creationId xmlns:a16="http://schemas.microsoft.com/office/drawing/2014/main" id="{28804CB6-86EE-ED53-2A53-4ECF9808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244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09" name="Rectangle 18">
            <a:extLst>
              <a:ext uri="{FF2B5EF4-FFF2-40B4-BE49-F238E27FC236}">
                <a16:creationId xmlns:a16="http://schemas.microsoft.com/office/drawing/2014/main" id="{DE0F6FCA-9AC5-CD23-7EA8-2FF816DA3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95800"/>
            <a:ext cx="381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10" name="Rectangle 20">
            <a:extLst>
              <a:ext uri="{FF2B5EF4-FFF2-40B4-BE49-F238E27FC236}">
                <a16:creationId xmlns:a16="http://schemas.microsoft.com/office/drawing/2014/main" id="{E1EB735D-7D94-A1C4-9BFE-6174A5363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1120" y="2875155"/>
            <a:ext cx="457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1" name="Rectangle 21">
            <a:extLst>
              <a:ext uri="{FF2B5EF4-FFF2-40B4-BE49-F238E27FC236}">
                <a16:creationId xmlns:a16="http://schemas.microsoft.com/office/drawing/2014/main" id="{49DC6147-69F3-3967-A78F-5D0B75C0A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1120" y="3484755"/>
            <a:ext cx="457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2" name="Rectangle 22">
            <a:extLst>
              <a:ext uri="{FF2B5EF4-FFF2-40B4-BE49-F238E27FC236}">
                <a16:creationId xmlns:a16="http://schemas.microsoft.com/office/drawing/2014/main" id="{9AE5862B-A100-06B8-B501-EA21E80C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1120" y="4094355"/>
            <a:ext cx="457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3" name="Rectangle 23">
            <a:extLst>
              <a:ext uri="{FF2B5EF4-FFF2-40B4-BE49-F238E27FC236}">
                <a16:creationId xmlns:a16="http://schemas.microsoft.com/office/drawing/2014/main" id="{2769CAFA-CBAB-D27D-7AE6-A0D6BB8AE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1120" y="4703955"/>
            <a:ext cx="457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4" name="Rectangle 25">
            <a:extLst>
              <a:ext uri="{FF2B5EF4-FFF2-40B4-BE49-F238E27FC236}">
                <a16:creationId xmlns:a16="http://schemas.microsoft.com/office/drawing/2014/main" id="{92D162D3-00AA-3014-189A-674009A33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920" y="2875155"/>
            <a:ext cx="45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15" name="Rectangle 26">
            <a:extLst>
              <a:ext uri="{FF2B5EF4-FFF2-40B4-BE49-F238E27FC236}">
                <a16:creationId xmlns:a16="http://schemas.microsoft.com/office/drawing/2014/main" id="{0B32A863-B39D-A9E9-E9BC-EE6F276CA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920" y="3484755"/>
            <a:ext cx="45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16" name="Rectangle 27">
            <a:extLst>
              <a:ext uri="{FF2B5EF4-FFF2-40B4-BE49-F238E27FC236}">
                <a16:creationId xmlns:a16="http://schemas.microsoft.com/office/drawing/2014/main" id="{991F0AAC-EDC4-D044-8B6E-359C6E3E6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920" y="4094355"/>
            <a:ext cx="45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17" name="Rectangle 28">
            <a:extLst>
              <a:ext uri="{FF2B5EF4-FFF2-40B4-BE49-F238E27FC236}">
                <a16:creationId xmlns:a16="http://schemas.microsoft.com/office/drawing/2014/main" id="{DB88B530-2B6F-B10E-B870-A447C2C07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920" y="4703955"/>
            <a:ext cx="45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18" name="Rectangle 30">
            <a:extLst>
              <a:ext uri="{FF2B5EF4-FFF2-40B4-BE49-F238E27FC236}">
                <a16:creationId xmlns:a16="http://schemas.microsoft.com/office/drawing/2014/main" id="{D428AB69-AFAB-B709-5DD6-AD9745640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3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19" name="Rectangle 31">
            <a:extLst>
              <a:ext uri="{FF2B5EF4-FFF2-40B4-BE49-F238E27FC236}">
                <a16:creationId xmlns:a16="http://schemas.microsoft.com/office/drawing/2014/main" id="{0DB8C2CC-D18A-8C0D-187B-CC54EB454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3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20" name="Rectangle 34">
            <a:extLst>
              <a:ext uri="{FF2B5EF4-FFF2-40B4-BE49-F238E27FC236}">
                <a16:creationId xmlns:a16="http://schemas.microsoft.com/office/drawing/2014/main" id="{96B772BE-6338-58BD-48D7-7D352591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3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21" name="Line 44">
            <a:extLst>
              <a:ext uri="{FF2B5EF4-FFF2-40B4-BE49-F238E27FC236}">
                <a16:creationId xmlns:a16="http://schemas.microsoft.com/office/drawing/2014/main" id="{232BE973-7EEE-4C19-7F58-6AB4B2F178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54120" y="2951355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2" name="Line 47">
            <a:extLst>
              <a:ext uri="{FF2B5EF4-FFF2-40B4-BE49-F238E27FC236}">
                <a16:creationId xmlns:a16="http://schemas.microsoft.com/office/drawing/2014/main" id="{69A2B1DC-4B20-7901-A8AC-1CD63ED5E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720" y="31799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3" name="Line 48">
            <a:extLst>
              <a:ext uri="{FF2B5EF4-FFF2-40B4-BE49-F238E27FC236}">
                <a16:creationId xmlns:a16="http://schemas.microsoft.com/office/drawing/2014/main" id="{10D3C461-04FD-62D8-D665-10B24BE9D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920" y="31799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Line 49">
            <a:extLst>
              <a:ext uri="{FF2B5EF4-FFF2-40B4-BE49-F238E27FC236}">
                <a16:creationId xmlns:a16="http://schemas.microsoft.com/office/drawing/2014/main" id="{C7F9D2A9-D187-6AC0-C078-EABDD7550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720" y="37895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5" name="Line 50">
            <a:extLst>
              <a:ext uri="{FF2B5EF4-FFF2-40B4-BE49-F238E27FC236}">
                <a16:creationId xmlns:a16="http://schemas.microsoft.com/office/drawing/2014/main" id="{B130880B-D6FB-BAE7-8D48-E3BCC980A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720" y="43991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6" name="Rectangle 51">
            <a:extLst>
              <a:ext uri="{FF2B5EF4-FFF2-40B4-BE49-F238E27FC236}">
                <a16:creationId xmlns:a16="http://schemas.microsoft.com/office/drawing/2014/main" id="{8A4398AE-17AA-E60F-E0F8-479E146A8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7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27" name="Rectangle 52">
            <a:extLst>
              <a:ext uri="{FF2B5EF4-FFF2-40B4-BE49-F238E27FC236}">
                <a16:creationId xmlns:a16="http://schemas.microsoft.com/office/drawing/2014/main" id="{ED2A31F8-EBAD-ACE3-77BE-10792CA57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7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3828" name="Rectangle 53">
            <a:extLst>
              <a:ext uri="{FF2B5EF4-FFF2-40B4-BE49-F238E27FC236}">
                <a16:creationId xmlns:a16="http://schemas.microsoft.com/office/drawing/2014/main" id="{0A94014B-4B3A-3D1D-F674-7C5D6C23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7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29" name="Line 54">
            <a:extLst>
              <a:ext uri="{FF2B5EF4-FFF2-40B4-BE49-F238E27FC236}">
                <a16:creationId xmlns:a16="http://schemas.microsoft.com/office/drawing/2014/main" id="{E33AE562-E3B0-4012-955A-8B8B73D95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6320" y="31799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0" name="Rectangle 55">
            <a:extLst>
              <a:ext uri="{FF2B5EF4-FFF2-40B4-BE49-F238E27FC236}">
                <a16:creationId xmlns:a16="http://schemas.microsoft.com/office/drawing/2014/main" id="{E3FEAA71-6E62-060D-D9E5-FAD1803DC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1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31" name="Rectangle 56">
            <a:extLst>
              <a:ext uri="{FF2B5EF4-FFF2-40B4-BE49-F238E27FC236}">
                <a16:creationId xmlns:a16="http://schemas.microsoft.com/office/drawing/2014/main" id="{A4839752-1439-C793-414E-9F395CDFD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1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32" name="Rectangle 57">
            <a:extLst>
              <a:ext uri="{FF2B5EF4-FFF2-40B4-BE49-F238E27FC236}">
                <a16:creationId xmlns:a16="http://schemas.microsoft.com/office/drawing/2014/main" id="{78A8CBF7-F6DB-5DA8-30CE-AA0F39727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4120" y="29513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33" name="Rectangle 59">
            <a:extLst>
              <a:ext uri="{FF2B5EF4-FFF2-40B4-BE49-F238E27FC236}">
                <a16:creationId xmlns:a16="http://schemas.microsoft.com/office/drawing/2014/main" id="{F3DA6ACE-7B91-511F-F1FE-C7C13A8A9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320" y="35609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34" name="Rectangle 60">
            <a:extLst>
              <a:ext uri="{FF2B5EF4-FFF2-40B4-BE49-F238E27FC236}">
                <a16:creationId xmlns:a16="http://schemas.microsoft.com/office/drawing/2014/main" id="{13E04B01-2B03-0086-B7F1-7C6A861A2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320" y="35609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35" name="Rectangle 61">
            <a:extLst>
              <a:ext uri="{FF2B5EF4-FFF2-40B4-BE49-F238E27FC236}">
                <a16:creationId xmlns:a16="http://schemas.microsoft.com/office/drawing/2014/main" id="{E4381CDF-867C-C71A-6817-AB11B28E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320" y="35609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36" name="Line 62">
            <a:extLst>
              <a:ext uri="{FF2B5EF4-FFF2-40B4-BE49-F238E27FC236}">
                <a16:creationId xmlns:a16="http://schemas.microsoft.com/office/drawing/2014/main" id="{120BE08A-ADE6-D09F-B79D-920EEF10F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920" y="37895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7" name="Rectangle 63">
            <a:extLst>
              <a:ext uri="{FF2B5EF4-FFF2-40B4-BE49-F238E27FC236}">
                <a16:creationId xmlns:a16="http://schemas.microsoft.com/office/drawing/2014/main" id="{67096EFD-75D0-B4FB-6644-0AA93931B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720" y="35609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38" name="Rectangle 64">
            <a:extLst>
              <a:ext uri="{FF2B5EF4-FFF2-40B4-BE49-F238E27FC236}">
                <a16:creationId xmlns:a16="http://schemas.microsoft.com/office/drawing/2014/main" id="{F1588267-D2CF-382D-AB35-7D344A48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720" y="35609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39" name="Rectangle 65">
            <a:extLst>
              <a:ext uri="{FF2B5EF4-FFF2-40B4-BE49-F238E27FC236}">
                <a16:creationId xmlns:a16="http://schemas.microsoft.com/office/drawing/2014/main" id="{5271EF00-4996-B53D-DF4A-C73A60BA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720" y="35609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40" name="Line 67">
            <a:extLst>
              <a:ext uri="{FF2B5EF4-FFF2-40B4-BE49-F238E27FC236}">
                <a16:creationId xmlns:a16="http://schemas.microsoft.com/office/drawing/2014/main" id="{03FAB178-4CB8-1F3D-0061-C98890DED0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7720" y="3560955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1" name="Rectangle 68">
            <a:extLst>
              <a:ext uri="{FF2B5EF4-FFF2-40B4-BE49-F238E27FC236}">
                <a16:creationId xmlns:a16="http://schemas.microsoft.com/office/drawing/2014/main" id="{E2691C9A-2D62-BD48-F8E3-93B088A90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320" y="41705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42" name="Rectangle 69">
            <a:extLst>
              <a:ext uri="{FF2B5EF4-FFF2-40B4-BE49-F238E27FC236}">
                <a16:creationId xmlns:a16="http://schemas.microsoft.com/office/drawing/2014/main" id="{AEAE3728-B6A1-DA12-6981-5A48B5E0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320" y="41705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3843" name="Rectangle 70">
            <a:extLst>
              <a:ext uri="{FF2B5EF4-FFF2-40B4-BE49-F238E27FC236}">
                <a16:creationId xmlns:a16="http://schemas.microsoft.com/office/drawing/2014/main" id="{A04876BB-FDD7-DF8E-8A84-39875375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320" y="41705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44" name="Line 71">
            <a:extLst>
              <a:ext uri="{FF2B5EF4-FFF2-40B4-BE49-F238E27FC236}">
                <a16:creationId xmlns:a16="http://schemas.microsoft.com/office/drawing/2014/main" id="{50E3098D-701A-B8B5-9C3A-7C90A580C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920" y="43991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Rectangle 72">
            <a:extLst>
              <a:ext uri="{FF2B5EF4-FFF2-40B4-BE49-F238E27FC236}">
                <a16:creationId xmlns:a16="http://schemas.microsoft.com/office/drawing/2014/main" id="{6D9CA00C-94DB-04D8-AA7C-857C74EB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720" y="41705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46" name="Rectangle 73">
            <a:extLst>
              <a:ext uri="{FF2B5EF4-FFF2-40B4-BE49-F238E27FC236}">
                <a16:creationId xmlns:a16="http://schemas.microsoft.com/office/drawing/2014/main" id="{1331BA22-11BD-D106-F93A-37A579B4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720" y="41705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47" name="Rectangle 74">
            <a:extLst>
              <a:ext uri="{FF2B5EF4-FFF2-40B4-BE49-F238E27FC236}">
                <a16:creationId xmlns:a16="http://schemas.microsoft.com/office/drawing/2014/main" id="{E10497D2-C962-7F9C-8BCE-CF33C49E0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720" y="41705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48" name="Rectangle 76">
            <a:extLst>
              <a:ext uri="{FF2B5EF4-FFF2-40B4-BE49-F238E27FC236}">
                <a16:creationId xmlns:a16="http://schemas.microsoft.com/office/drawing/2014/main" id="{BF9A009F-9379-011D-3D33-EB7523E5E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3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49" name="Rectangle 77">
            <a:extLst>
              <a:ext uri="{FF2B5EF4-FFF2-40B4-BE49-F238E27FC236}">
                <a16:creationId xmlns:a16="http://schemas.microsoft.com/office/drawing/2014/main" id="{2403987A-D26A-1188-9A98-C2426FA09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3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50" name="Rectangle 78">
            <a:extLst>
              <a:ext uri="{FF2B5EF4-FFF2-40B4-BE49-F238E27FC236}">
                <a16:creationId xmlns:a16="http://schemas.microsoft.com/office/drawing/2014/main" id="{ECC8D817-4D85-7F5A-95CC-DF5B81465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3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51" name="Line 79">
            <a:extLst>
              <a:ext uri="{FF2B5EF4-FFF2-40B4-BE49-F238E27FC236}">
                <a16:creationId xmlns:a16="http://schemas.microsoft.com/office/drawing/2014/main" id="{B0CF71E5-0E6D-BA39-132A-496F9FFBA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920" y="50087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2" name="Rectangle 80">
            <a:extLst>
              <a:ext uri="{FF2B5EF4-FFF2-40B4-BE49-F238E27FC236}">
                <a16:creationId xmlns:a16="http://schemas.microsoft.com/office/drawing/2014/main" id="{19F5C3B5-C2B0-4A03-B80A-2820DF100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7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53" name="Rectangle 81">
            <a:extLst>
              <a:ext uri="{FF2B5EF4-FFF2-40B4-BE49-F238E27FC236}">
                <a16:creationId xmlns:a16="http://schemas.microsoft.com/office/drawing/2014/main" id="{7FEDD716-F6A5-B4BE-3679-12F72E603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7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54" name="Rectangle 82">
            <a:extLst>
              <a:ext uri="{FF2B5EF4-FFF2-40B4-BE49-F238E27FC236}">
                <a16:creationId xmlns:a16="http://schemas.microsoft.com/office/drawing/2014/main" id="{C49791A0-5CF9-27BF-3B64-D5F448C0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7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55" name="Line 83">
            <a:extLst>
              <a:ext uri="{FF2B5EF4-FFF2-40B4-BE49-F238E27FC236}">
                <a16:creationId xmlns:a16="http://schemas.microsoft.com/office/drawing/2014/main" id="{C93AFC9E-2AC3-84AB-691D-861EE8B6C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6320" y="50087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6" name="Rectangle 84">
            <a:extLst>
              <a:ext uri="{FF2B5EF4-FFF2-40B4-BE49-F238E27FC236}">
                <a16:creationId xmlns:a16="http://schemas.microsoft.com/office/drawing/2014/main" id="{3EF54E9F-960C-F562-B63D-635B1BA61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1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57" name="Rectangle 85">
            <a:extLst>
              <a:ext uri="{FF2B5EF4-FFF2-40B4-BE49-F238E27FC236}">
                <a16:creationId xmlns:a16="http://schemas.microsoft.com/office/drawing/2014/main" id="{38D5844A-1691-C3C5-D255-4727A0F7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1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58" name="Rectangle 86">
            <a:extLst>
              <a:ext uri="{FF2B5EF4-FFF2-40B4-BE49-F238E27FC236}">
                <a16:creationId xmlns:a16="http://schemas.microsoft.com/office/drawing/2014/main" id="{72FCD8FE-E74A-F93C-F8EC-E96E73B7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4120" y="4780155"/>
            <a:ext cx="381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859" name="Line 88">
            <a:extLst>
              <a:ext uri="{FF2B5EF4-FFF2-40B4-BE49-F238E27FC236}">
                <a16:creationId xmlns:a16="http://schemas.microsoft.com/office/drawing/2014/main" id="{9D9CFC55-F313-8780-BE5D-89ACB9934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720" y="50087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0" name="Line 89">
            <a:extLst>
              <a:ext uri="{FF2B5EF4-FFF2-40B4-BE49-F238E27FC236}">
                <a16:creationId xmlns:a16="http://schemas.microsoft.com/office/drawing/2014/main" id="{0DD45AFD-B1B2-6090-4E5F-98C2100D2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7720" y="4170555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1" name="Line 90">
            <a:extLst>
              <a:ext uri="{FF2B5EF4-FFF2-40B4-BE49-F238E27FC236}">
                <a16:creationId xmlns:a16="http://schemas.microsoft.com/office/drawing/2014/main" id="{541705DF-BAE6-170A-6514-C6833BB4F9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54120" y="4780155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5468A3F-8225-FC8E-0A5D-26BE96812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63768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Comparison Of Representations</a:t>
            </a:r>
          </a:p>
        </p:txBody>
      </p:sp>
      <p:graphicFrame>
        <p:nvGraphicFramePr>
          <p:cNvPr id="141375" name="Group 63">
            <a:extLst>
              <a:ext uri="{FF2B5EF4-FFF2-40B4-BE49-F238E27FC236}">
                <a16:creationId xmlns:a16="http://schemas.microsoft.com/office/drawing/2014/main" id="{9BFBA7A2-6D12-4705-6E76-A1A37CC98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8609"/>
              </p:ext>
            </p:extLst>
          </p:nvPr>
        </p:nvGraphicFramePr>
        <p:xfrm>
          <a:off x="228599" y="1382751"/>
          <a:ext cx="8686799" cy="4206240"/>
        </p:xfrm>
        <a:graphic>
          <a:graphicData uri="http://schemas.openxmlformats.org/drawingml/2006/table">
            <a:tbl>
              <a:tblPr/>
              <a:tblGrid>
                <a:gridCol w="53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76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Cost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Adjacency Matrix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</a:rPr>
                        <a:t>Adjacency List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cs typeface="Times New Roman" panose="02020603050405020304" pitchFamily="18" charset="0"/>
                          <a:sym typeface="ZapfDingbats" pitchFamily="82" charset="2"/>
                        </a:rPr>
                        <a:t>Given two vertices u and v: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cs typeface="Times New Roman" panose="02020603050405020304" pitchFamily="18" charset="0"/>
                          <a:sym typeface="ZapfDingbats" pitchFamily="82" charset="2"/>
                        </a:rPr>
                        <a:t>find out whether u and v are adjacent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O(1)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degree of node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O(N)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cs typeface="Times New Roman" panose="02020603050405020304" pitchFamily="18" charset="0"/>
                          <a:sym typeface="ZapfDingbats" pitchFamily="82" charset="2"/>
                        </a:rPr>
                        <a:t>Given a vertex u: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sym typeface="ZapfDingbats" pitchFamily="82" charset="2"/>
                        </a:rPr>
                        <a:t>enumerate all neighbors of u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O(N)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degree of node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O(N)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74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cs typeface="Times New Roman" panose="02020603050405020304" pitchFamily="18" charset="0"/>
                          <a:sym typeface="ZapfDingbats" pitchFamily="82" charset="2"/>
                        </a:rPr>
                        <a:t>For all vertices: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cs typeface="Times New Roman" panose="02020603050405020304" pitchFamily="18" charset="0"/>
                          <a:sym typeface="ZapfDingbats" pitchFamily="82" charset="2"/>
                        </a:rPr>
                        <a:t>enumerate all neighbors of each vertex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O(N</a:t>
                      </a:r>
                      <a:r>
                        <a:rPr kumimoji="0" lang="en-US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Summations of all node degree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902030302020204" pitchFamily="66" charset="0"/>
                        </a:rPr>
                        <a:t>O(E)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1C3E58-4275-1006-2D81-D17C8B8ED850}"/>
              </a:ext>
            </a:extLst>
          </p:cNvPr>
          <p:cNvCxnSpPr>
            <a:cxnSpLocks/>
          </p:cNvCxnSpPr>
          <p:nvPr/>
        </p:nvCxnSpPr>
        <p:spPr>
          <a:xfrm>
            <a:off x="228600" y="942486"/>
            <a:ext cx="8686800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B18D481-B42B-99BE-84A1-700066C19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Complete Graph</a:t>
            </a:r>
          </a:p>
        </p:txBody>
      </p:sp>
      <p:sp>
        <p:nvSpPr>
          <p:cNvPr id="35843" name="Rectangle 8">
            <a:extLst>
              <a:ext uri="{FF2B5EF4-FFF2-40B4-BE49-F238E27FC236}">
                <a16:creationId xmlns:a16="http://schemas.microsoft.com/office/drawing/2014/main" id="{CBBF3031-29EE-2061-2BFD-CB237A0B5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2" y="2795343"/>
            <a:ext cx="4495800" cy="115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   Total number of edges in graph: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000" dirty="0">
              <a:latin typeface="Comic Sans MS" panose="030F0902030302020204" pitchFamily="66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	E = N(N-1)/2 = O(N</a:t>
            </a:r>
            <a:r>
              <a:rPr lang="en-US" altLang="en-US" sz="2000" baseline="30000" dirty="0">
                <a:latin typeface="Comic Sans MS" panose="030F0902030302020204" pitchFamily="66" charset="0"/>
              </a:rPr>
              <a:t>2</a:t>
            </a:r>
            <a:r>
              <a:rPr lang="en-US" altLang="en-US" sz="2000" dirty="0">
                <a:latin typeface="Comic Sans MS" panose="030F0902030302020204" pitchFamily="66" charset="0"/>
              </a:rPr>
              <a:t>)</a:t>
            </a:r>
          </a:p>
        </p:txBody>
      </p:sp>
      <p:sp>
        <p:nvSpPr>
          <p:cNvPr id="35846" name="Oval 4">
            <a:extLst>
              <a:ext uri="{FF2B5EF4-FFF2-40B4-BE49-F238E27FC236}">
                <a16:creationId xmlns:a16="http://schemas.microsoft.com/office/drawing/2014/main" id="{E8161FF5-A747-833C-03A0-F506AB83D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49348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7" name="Oval 5">
            <a:extLst>
              <a:ext uri="{FF2B5EF4-FFF2-40B4-BE49-F238E27FC236}">
                <a16:creationId xmlns:a16="http://schemas.microsoft.com/office/drawing/2014/main" id="{481A2F45-A2F0-0B72-0098-BB6067912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68548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8" name="Oval 6">
            <a:extLst>
              <a:ext uri="{FF2B5EF4-FFF2-40B4-BE49-F238E27FC236}">
                <a16:creationId xmlns:a16="http://schemas.microsoft.com/office/drawing/2014/main" id="{8FC80524-DA13-F98E-758A-4B1258F59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068548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9" name="Oval 7">
            <a:extLst>
              <a:ext uri="{FF2B5EF4-FFF2-40B4-BE49-F238E27FC236}">
                <a16:creationId xmlns:a16="http://schemas.microsoft.com/office/drawing/2014/main" id="{BE7CA231-1A22-CEC9-5473-66BD58433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287748"/>
            <a:ext cx="5334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50" name="Line 9">
            <a:extLst>
              <a:ext uri="{FF2B5EF4-FFF2-40B4-BE49-F238E27FC236}">
                <a16:creationId xmlns:a16="http://schemas.microsoft.com/office/drawing/2014/main" id="{018E68BA-890D-F457-EF6B-70C988AE5F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6800" y="2382748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0">
            <a:extLst>
              <a:ext uri="{FF2B5EF4-FFF2-40B4-BE49-F238E27FC236}">
                <a16:creationId xmlns:a16="http://schemas.microsoft.com/office/drawing/2014/main" id="{DCFDCA75-8BF9-1CED-C8E8-6EEB7604E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458948"/>
            <a:ext cx="152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1">
            <a:extLst>
              <a:ext uri="{FF2B5EF4-FFF2-40B4-BE49-F238E27FC236}">
                <a16:creationId xmlns:a16="http://schemas.microsoft.com/office/drawing/2014/main" id="{3B0839F8-CD61-908D-574B-AD17DB280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601948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2">
            <a:extLst>
              <a:ext uri="{FF2B5EF4-FFF2-40B4-BE49-F238E27FC236}">
                <a16:creationId xmlns:a16="http://schemas.microsoft.com/office/drawing/2014/main" id="{CFC3D921-5D3D-9EDA-E32B-393EE8FDB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37334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Line 13">
            <a:extLst>
              <a:ext uri="{FF2B5EF4-FFF2-40B4-BE49-F238E27FC236}">
                <a16:creationId xmlns:a16="http://schemas.microsoft.com/office/drawing/2014/main" id="{4E5B0FDF-848E-3852-0CA7-7F5F7E3D1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306548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5" name="Line 14">
            <a:extLst>
              <a:ext uri="{FF2B5EF4-FFF2-40B4-BE49-F238E27FC236}">
                <a16:creationId xmlns:a16="http://schemas.microsoft.com/office/drawing/2014/main" id="{1678E7D1-566B-0877-1954-74E3EAE06F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3601948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Rectangle 17">
            <a:extLst>
              <a:ext uri="{FF2B5EF4-FFF2-40B4-BE49-F238E27FC236}">
                <a16:creationId xmlns:a16="http://schemas.microsoft.com/office/drawing/2014/main" id="{0A763717-72FC-0D78-4F76-FE61F68C8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8" y="1087348"/>
            <a:ext cx="868679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Char char="•"/>
            </a:pPr>
            <a:r>
              <a:rPr lang="en-US" altLang="en-US" sz="2400" dirty="0">
                <a:latin typeface="Comic Sans MS" panose="030F0902030302020204" pitchFamily="66" charset="0"/>
              </a:rPr>
              <a:t> There is an edge between any two vertices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6058D9C-B4B2-E438-BB22-4FC3BC07A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Sparse Graph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0C668B-4658-5FF4-E0D6-59E0023B4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39748" y="2493730"/>
            <a:ext cx="3709988" cy="1366838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For 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 dirty="0"/>
              <a:t>	E = N-1= O(N) </a:t>
            </a:r>
          </a:p>
        </p:txBody>
      </p:sp>
      <p:sp>
        <p:nvSpPr>
          <p:cNvPr id="36868" name="Oval 4">
            <a:extLst>
              <a:ext uri="{FF2B5EF4-FFF2-40B4-BE49-F238E27FC236}">
                <a16:creationId xmlns:a16="http://schemas.microsoft.com/office/drawing/2014/main" id="{2BF9B141-863F-F621-E186-74837AD30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464" y="2001838"/>
            <a:ext cx="609600" cy="6858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69" name="Oval 5">
            <a:extLst>
              <a:ext uri="{FF2B5EF4-FFF2-40B4-BE49-F238E27FC236}">
                <a16:creationId xmlns:a16="http://schemas.microsoft.com/office/drawing/2014/main" id="{BFB72B10-D361-2A11-75AA-6197FD510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264" y="3525838"/>
            <a:ext cx="609600" cy="6858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70" name="Oval 6">
            <a:extLst>
              <a:ext uri="{FF2B5EF4-FFF2-40B4-BE49-F238E27FC236}">
                <a16:creationId xmlns:a16="http://schemas.microsoft.com/office/drawing/2014/main" id="{08D253D1-C242-8085-CBE3-009FE9867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464" y="3373438"/>
            <a:ext cx="609600" cy="6858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71" name="Oval 7">
            <a:extLst>
              <a:ext uri="{FF2B5EF4-FFF2-40B4-BE49-F238E27FC236}">
                <a16:creationId xmlns:a16="http://schemas.microsoft.com/office/drawing/2014/main" id="{D4277073-89AE-7E57-D5EB-0ED97F319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264" y="3525838"/>
            <a:ext cx="609600" cy="6858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72" name="Line 8">
            <a:extLst>
              <a:ext uri="{FF2B5EF4-FFF2-40B4-BE49-F238E27FC236}">
                <a16:creationId xmlns:a16="http://schemas.microsoft.com/office/drawing/2014/main" id="{390D9319-225B-3941-0607-CEF7A353CD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0864" y="2611438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6AF53BC9-0FD8-AFB6-D3EA-64271353D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9064" y="2687638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8CD619B1-DA5F-08BA-EF9C-94FC4E6B27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03864" y="3830638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Rectangle 12">
            <a:extLst>
              <a:ext uri="{FF2B5EF4-FFF2-40B4-BE49-F238E27FC236}">
                <a16:creationId xmlns:a16="http://schemas.microsoft.com/office/drawing/2014/main" id="{F6F4358E-28E6-9E69-3171-EFD358930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9" y="1074442"/>
            <a:ext cx="868679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Char char="•"/>
            </a:pPr>
            <a:r>
              <a:rPr lang="en-US" altLang="en-US" sz="2400" dirty="0">
                <a:latin typeface="Comic Sans MS" panose="030F0902030302020204" pitchFamily="66" charset="0"/>
              </a:rPr>
              <a:t>There is a very small number of edges in the graph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D872E37-76B1-D788-C0B1-A9BA556D5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6" y="301083"/>
            <a:ext cx="8709102" cy="61331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Space Requirements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1304D38-AD1F-2821-9CB0-F04410F2A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176" y="1092820"/>
            <a:ext cx="80772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Memory space:</a:t>
            </a:r>
          </a:p>
          <a:p>
            <a:pPr lvl="1" eaLnBrk="1" hangingPunct="1"/>
            <a:r>
              <a:rPr lang="en-US" altLang="en-US" sz="2000" dirty="0"/>
              <a:t>adjacency matrix		</a:t>
            </a:r>
            <a:r>
              <a:rPr lang="en-US" altLang="en-US" sz="2000" dirty="0">
                <a:solidFill>
                  <a:srgbClr val="FF3300"/>
                </a:solidFill>
              </a:rPr>
              <a:t>O(N</a:t>
            </a:r>
            <a:r>
              <a:rPr lang="en-US" altLang="en-US" sz="2000" baseline="30000" dirty="0">
                <a:solidFill>
                  <a:srgbClr val="FF3300"/>
                </a:solidFill>
              </a:rPr>
              <a:t>2</a:t>
            </a:r>
            <a:r>
              <a:rPr lang="en-US" altLang="en-US" sz="2000" dirty="0">
                <a:solidFill>
                  <a:srgbClr val="FF3300"/>
                </a:solidFill>
              </a:rPr>
              <a:t>)</a:t>
            </a:r>
          </a:p>
          <a:p>
            <a:pPr lvl="1" eaLnBrk="1" hangingPunct="1"/>
            <a:r>
              <a:rPr lang="en-US" altLang="en-US" sz="2000" dirty="0"/>
              <a:t>adjacency list			</a:t>
            </a:r>
            <a:r>
              <a:rPr lang="en-US" altLang="en-US" sz="2000" dirty="0">
                <a:solidFill>
                  <a:srgbClr val="FF3300"/>
                </a:solidFill>
              </a:rPr>
              <a:t>O(E)</a:t>
            </a:r>
          </a:p>
          <a:p>
            <a:pPr eaLnBrk="1" hangingPunct="1"/>
            <a:r>
              <a:rPr lang="en-US" altLang="en-US" sz="2400" dirty="0"/>
              <a:t>Sparse graph</a:t>
            </a:r>
          </a:p>
          <a:p>
            <a:pPr lvl="1" eaLnBrk="1" hangingPunct="1"/>
            <a:r>
              <a:rPr lang="en-US" altLang="en-US" sz="2000" dirty="0"/>
              <a:t>adjacency list is better</a:t>
            </a:r>
          </a:p>
          <a:p>
            <a:pPr eaLnBrk="1" hangingPunct="1"/>
            <a:r>
              <a:rPr lang="en-US" altLang="en-US" sz="2400" dirty="0"/>
              <a:t>Dense graph</a:t>
            </a:r>
          </a:p>
          <a:p>
            <a:pPr lvl="1" eaLnBrk="1" hangingPunct="1"/>
            <a:r>
              <a:rPr lang="en-US" altLang="en-US" sz="2000" dirty="0"/>
              <a:t>same running time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10">
            <a:extLst>
              <a:ext uri="{FF2B5EF4-FFF2-40B4-BE49-F238E27FC236}">
                <a16:creationId xmlns:a16="http://schemas.microsoft.com/office/drawing/2014/main" id="{AD3ECB28-3C89-503D-22F8-647530870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0219" y="3313981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1A0895D-6325-0BA5-12BE-D7E098D62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Graph Traversal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E62F23AE-9B56-47C0-0E8A-29BB5E334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83736"/>
            <a:ext cx="8686798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List out all cities that United Airline can reach from Hartford Airport</a:t>
            </a:r>
          </a:p>
        </p:txBody>
      </p:sp>
      <p:sp>
        <p:nvSpPr>
          <p:cNvPr id="38917" name="Oval 4">
            <a:extLst>
              <a:ext uri="{FF2B5EF4-FFF2-40B4-BE49-F238E27FC236}">
                <a16:creationId xmlns:a16="http://schemas.microsoft.com/office/drawing/2014/main" id="{DB1C1BF8-630E-9CBB-56A3-A97F9741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819" y="209478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</a:t>
            </a:r>
          </a:p>
        </p:txBody>
      </p:sp>
      <p:sp>
        <p:nvSpPr>
          <p:cNvPr id="38918" name="Oval 5">
            <a:extLst>
              <a:ext uri="{FF2B5EF4-FFF2-40B4-BE49-F238E27FC236}">
                <a16:creationId xmlns:a16="http://schemas.microsoft.com/office/drawing/2014/main" id="{FA1D708B-F302-B7FA-7A27-54322B4EE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619" y="2628181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19" name="Oval 6">
            <a:extLst>
              <a:ext uri="{FF2B5EF4-FFF2-40B4-BE49-F238E27FC236}">
                <a16:creationId xmlns:a16="http://schemas.microsoft.com/office/drawing/2014/main" id="{3428936B-6EF2-026D-1B45-92321317D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219" y="430458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LA</a:t>
            </a:r>
          </a:p>
        </p:txBody>
      </p:sp>
      <p:sp>
        <p:nvSpPr>
          <p:cNvPr id="38920" name="Oval 7">
            <a:extLst>
              <a:ext uri="{FF2B5EF4-FFF2-40B4-BE49-F238E27FC236}">
                <a16:creationId xmlns:a16="http://schemas.microsoft.com/office/drawing/2014/main" id="{9B08F050-A38A-354E-73D0-5D542DA17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819" y="285678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SF</a:t>
            </a:r>
          </a:p>
        </p:txBody>
      </p:sp>
      <p:sp>
        <p:nvSpPr>
          <p:cNvPr id="38921" name="Oval 8">
            <a:extLst>
              <a:ext uri="{FF2B5EF4-FFF2-40B4-BE49-F238E27FC236}">
                <a16:creationId xmlns:a16="http://schemas.microsoft.com/office/drawing/2014/main" id="{13074DC2-A9CF-E581-109B-27EAD9409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819" y="369498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NYC</a:t>
            </a:r>
          </a:p>
        </p:txBody>
      </p:sp>
      <p:sp>
        <p:nvSpPr>
          <p:cNvPr id="38922" name="Line 9">
            <a:extLst>
              <a:ext uri="{FF2B5EF4-FFF2-40B4-BE49-F238E27FC236}">
                <a16:creationId xmlns:a16="http://schemas.microsoft.com/office/drawing/2014/main" id="{4E17AA4E-74A9-B66F-D4E3-B0D05DD178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0219" y="2475781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3" name="Line 11">
            <a:extLst>
              <a:ext uri="{FF2B5EF4-FFF2-40B4-BE49-F238E27FC236}">
                <a16:creationId xmlns:a16="http://schemas.microsoft.com/office/drawing/2014/main" id="{86AE740A-29EC-7CF9-5D6E-D2814CF03E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2219" y="2704381"/>
            <a:ext cx="457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4" name="Line 12">
            <a:extLst>
              <a:ext uri="{FF2B5EF4-FFF2-40B4-BE49-F238E27FC236}">
                <a16:creationId xmlns:a16="http://schemas.microsoft.com/office/drawing/2014/main" id="{0101D5CF-6501-5642-859C-86A6CC6E9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4219" y="2628181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235250B3-9F72-0039-0551-DF495F22D7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819" y="4152181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6" name="Line 14">
            <a:extLst>
              <a:ext uri="{FF2B5EF4-FFF2-40B4-BE49-F238E27FC236}">
                <a16:creationId xmlns:a16="http://schemas.microsoft.com/office/drawing/2014/main" id="{68F49E6A-9DC0-6463-7FD2-D2E1DCB5F5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0419" y="2475781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7" name="Line 15">
            <a:extLst>
              <a:ext uri="{FF2B5EF4-FFF2-40B4-BE49-F238E27FC236}">
                <a16:creationId xmlns:a16="http://schemas.microsoft.com/office/drawing/2014/main" id="{AB6F8870-3FD0-50CC-9594-1D74B1F04C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3819" y="3237781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8" name="Rectangle 16">
            <a:extLst>
              <a:ext uri="{FF2B5EF4-FFF2-40B4-BE49-F238E27FC236}">
                <a16:creationId xmlns:a16="http://schemas.microsoft.com/office/drawing/2014/main" id="{606A41DF-896D-7CC8-C30C-3676CFC4B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219" y="2704381"/>
            <a:ext cx="114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Hartford</a:t>
            </a:r>
          </a:p>
        </p:txBody>
      </p:sp>
      <p:sp>
        <p:nvSpPr>
          <p:cNvPr id="38929" name="Oval 21">
            <a:extLst>
              <a:ext uri="{FF2B5EF4-FFF2-40B4-BE49-F238E27FC236}">
                <a16:creationId xmlns:a16="http://schemas.microsoft.com/office/drawing/2014/main" id="{A3562BA2-D42C-620E-F8FB-C92DA6319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019" y="4609381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W. DC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32D5D1D-981F-DF00-206A-176A8EB13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Traversal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8EC5A3F-2F3C-8423-4ECA-36048F441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50" y="1075547"/>
            <a:ext cx="8686799" cy="211370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From vertex u, list out all vertices that can be reached in graph G</a:t>
            </a:r>
          </a:p>
          <a:p>
            <a:pPr eaLnBrk="1" hangingPunct="1"/>
            <a:r>
              <a:rPr lang="en-US" altLang="en-US" sz="2400" dirty="0"/>
              <a:t>Set of nodes to expand </a:t>
            </a:r>
          </a:p>
          <a:p>
            <a:pPr eaLnBrk="1" hangingPunct="1"/>
            <a:r>
              <a:rPr lang="en-US" altLang="en-US" sz="2400" dirty="0"/>
              <a:t>Each node has a flag to indicate visited or not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2739906-B7FE-696D-4242-42FC33CE7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5" y="228600"/>
            <a:ext cx="8697951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Traversal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4D941F2-44CF-E2B0-E8FE-5D18D6FAE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091892"/>
            <a:ext cx="8665426" cy="142270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1: { </a:t>
            </a:r>
            <a:r>
              <a:rPr lang="en-US" altLang="en-US" sz="2400" dirty="0">
                <a:solidFill>
                  <a:srgbClr val="FF3300"/>
                </a:solidFill>
              </a:rPr>
              <a:t>Hartford</a:t>
            </a:r>
            <a:r>
              <a:rPr lang="en-US" altLang="en-US" sz="2400" dirty="0"/>
              <a:t> }</a:t>
            </a:r>
          </a:p>
          <a:p>
            <a:pPr lvl="1" eaLnBrk="1" hangingPunct="1"/>
            <a:r>
              <a:rPr lang="en-US" altLang="en-US" sz="2000" dirty="0"/>
              <a:t>find unvisited neighbors of Hartford</a:t>
            </a:r>
          </a:p>
          <a:p>
            <a:pPr lvl="1" eaLnBrk="1" hangingPunct="1"/>
            <a:r>
              <a:rPr lang="en-US" altLang="en-US" sz="2000" dirty="0"/>
              <a:t>{ </a:t>
            </a:r>
            <a:r>
              <a:rPr lang="en-US" altLang="en-US" sz="2000" dirty="0">
                <a:solidFill>
                  <a:srgbClr val="0000FF"/>
                </a:solidFill>
              </a:rPr>
              <a:t>Hartford</a:t>
            </a:r>
            <a:r>
              <a:rPr lang="en-US" altLang="en-US" sz="2000" dirty="0">
                <a:solidFill>
                  <a:schemeClr val="bg2"/>
                </a:solidFill>
              </a:rPr>
              <a:t>,</a:t>
            </a:r>
            <a:r>
              <a:rPr lang="en-US" altLang="en-US" sz="2000" dirty="0">
                <a:solidFill>
                  <a:srgbClr val="FF3300"/>
                </a:solidFill>
              </a:rPr>
              <a:t> NYC, CHI</a:t>
            </a:r>
            <a:r>
              <a:rPr lang="en-US" altLang="en-US" sz="2000" dirty="0"/>
              <a:t> }</a:t>
            </a:r>
          </a:p>
        </p:txBody>
      </p:sp>
      <p:sp>
        <p:nvSpPr>
          <p:cNvPr id="40964" name="Oval 4">
            <a:extLst>
              <a:ext uri="{FF2B5EF4-FFF2-40B4-BE49-F238E27FC236}">
                <a16:creationId xmlns:a16="http://schemas.microsoft.com/office/drawing/2014/main" id="{9DA3E4C4-83B6-11C9-1AC1-F1147C7B3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1242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</a:t>
            </a:r>
          </a:p>
        </p:txBody>
      </p:sp>
      <p:sp>
        <p:nvSpPr>
          <p:cNvPr id="40965" name="Oval 5">
            <a:extLst>
              <a:ext uri="{FF2B5EF4-FFF2-40B4-BE49-F238E27FC236}">
                <a16:creationId xmlns:a16="http://schemas.microsoft.com/office/drawing/2014/main" id="{5C428D3B-7051-109C-65D8-BB9179BC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576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66" name="Oval 6">
            <a:extLst>
              <a:ext uri="{FF2B5EF4-FFF2-40B4-BE49-F238E27FC236}">
                <a16:creationId xmlns:a16="http://schemas.microsoft.com/office/drawing/2014/main" id="{75620904-F3C8-3F79-47BD-201171CBE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NYC</a:t>
            </a:r>
          </a:p>
        </p:txBody>
      </p:sp>
      <p:sp>
        <p:nvSpPr>
          <p:cNvPr id="40967" name="Oval 7">
            <a:extLst>
              <a:ext uri="{FF2B5EF4-FFF2-40B4-BE49-F238E27FC236}">
                <a16:creationId xmlns:a16="http://schemas.microsoft.com/office/drawing/2014/main" id="{BA1CD4D8-6F37-6A17-BCEF-515168196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334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LA</a:t>
            </a:r>
          </a:p>
        </p:txBody>
      </p:sp>
      <p:sp>
        <p:nvSpPr>
          <p:cNvPr id="40968" name="Oval 8">
            <a:extLst>
              <a:ext uri="{FF2B5EF4-FFF2-40B4-BE49-F238E27FC236}">
                <a16:creationId xmlns:a16="http://schemas.microsoft.com/office/drawing/2014/main" id="{17998093-C0C4-D5E1-5A85-7A04D3143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SF</a:t>
            </a:r>
          </a:p>
        </p:txBody>
      </p:sp>
      <p:sp>
        <p:nvSpPr>
          <p:cNvPr id="40969" name="Line 9">
            <a:extLst>
              <a:ext uri="{FF2B5EF4-FFF2-40B4-BE49-F238E27FC236}">
                <a16:creationId xmlns:a16="http://schemas.microsoft.com/office/drawing/2014/main" id="{7163299C-977A-F1B8-DDBC-35EA66BA0A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5052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Line 10">
            <a:extLst>
              <a:ext uri="{FF2B5EF4-FFF2-40B4-BE49-F238E27FC236}">
                <a16:creationId xmlns:a16="http://schemas.microsoft.com/office/drawing/2014/main" id="{D72BE94E-30F2-BC0D-65A5-A5F70D731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343400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Line 11">
            <a:extLst>
              <a:ext uri="{FF2B5EF4-FFF2-40B4-BE49-F238E27FC236}">
                <a16:creationId xmlns:a16="http://schemas.microsoft.com/office/drawing/2014/main" id="{2FFCA6B1-39B0-BF06-0559-B48466B527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733800"/>
            <a:ext cx="457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Line 12">
            <a:extLst>
              <a:ext uri="{FF2B5EF4-FFF2-40B4-BE49-F238E27FC236}">
                <a16:creationId xmlns:a16="http://schemas.microsoft.com/office/drawing/2014/main" id="{390E41B8-D0F7-228A-3F32-0D7BE6907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6576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3" name="Line 13">
            <a:extLst>
              <a:ext uri="{FF2B5EF4-FFF2-40B4-BE49-F238E27FC236}">
                <a16:creationId xmlns:a16="http://schemas.microsoft.com/office/drawing/2014/main" id="{0EC45022-69D9-B3D8-D09B-3E907F4EDA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816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4" name="Line 14">
            <a:extLst>
              <a:ext uri="{FF2B5EF4-FFF2-40B4-BE49-F238E27FC236}">
                <a16:creationId xmlns:a16="http://schemas.microsoft.com/office/drawing/2014/main" id="{931D5835-4C42-C208-5436-2AF0F1537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505200"/>
            <a:ext cx="533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5" name="Line 15">
            <a:extLst>
              <a:ext uri="{FF2B5EF4-FFF2-40B4-BE49-F238E27FC236}">
                <a16:creationId xmlns:a16="http://schemas.microsoft.com/office/drawing/2014/main" id="{4D5CBC68-FD15-EDA8-64EA-FE1ED0359B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267200"/>
            <a:ext cx="1524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6" name="Rectangle 16">
            <a:extLst>
              <a:ext uri="{FF2B5EF4-FFF2-40B4-BE49-F238E27FC236}">
                <a16:creationId xmlns:a16="http://schemas.microsoft.com/office/drawing/2014/main" id="{CB7D7BEE-69B5-7E7A-6981-8131396A4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33800"/>
            <a:ext cx="114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Hartford</a:t>
            </a:r>
          </a:p>
        </p:txBody>
      </p:sp>
      <p:sp>
        <p:nvSpPr>
          <p:cNvPr id="40977" name="Oval 17">
            <a:extLst>
              <a:ext uri="{FF2B5EF4-FFF2-40B4-BE49-F238E27FC236}">
                <a16:creationId xmlns:a16="http://schemas.microsoft.com/office/drawing/2014/main" id="{90EB4779-F794-1551-956B-62616C2C2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486400"/>
            <a:ext cx="762000" cy="762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W. DC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F83B390-A874-134D-6490-4D93C61DA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699" y="228600"/>
            <a:ext cx="8643123" cy="706245"/>
          </a:xfrm>
        </p:spPr>
        <p:txBody>
          <a:bodyPr/>
          <a:lstStyle/>
          <a:p>
            <a:pPr eaLnBrk="1" hangingPunct="1"/>
            <a:r>
              <a:rPr lang="en-US" altLang="en-US" dirty="0"/>
              <a:t>Traversal Algorithm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BAFC2A8-4CE4-870A-3184-D3CC6CD78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064943"/>
            <a:ext cx="8643122" cy="17321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2: { </a:t>
            </a:r>
            <a:r>
              <a:rPr lang="en-US" altLang="en-US" sz="2400" dirty="0">
                <a:solidFill>
                  <a:srgbClr val="0000FF"/>
                </a:solidFill>
              </a:rPr>
              <a:t>Hartford</a:t>
            </a:r>
            <a:r>
              <a:rPr lang="en-US" altLang="en-US" sz="2400" dirty="0">
                <a:solidFill>
                  <a:schemeClr val="bg2"/>
                </a:solidFill>
              </a:rPr>
              <a:t>,</a:t>
            </a:r>
            <a:r>
              <a:rPr lang="en-US" altLang="en-US" sz="2400" dirty="0">
                <a:solidFill>
                  <a:srgbClr val="FF3300"/>
                </a:solidFill>
              </a:rPr>
              <a:t> NYC, CHI</a:t>
            </a:r>
            <a:r>
              <a:rPr lang="en-US" altLang="en-US" sz="2400" dirty="0"/>
              <a:t> }</a:t>
            </a:r>
          </a:p>
          <a:p>
            <a:pPr lvl="1" eaLnBrk="1" hangingPunct="1"/>
            <a:r>
              <a:rPr lang="en-US" altLang="en-US" sz="2000" dirty="0"/>
              <a:t>find unvisited neighbors of NYC, CHI</a:t>
            </a:r>
          </a:p>
          <a:p>
            <a:pPr lvl="1" eaLnBrk="1" hangingPunct="1"/>
            <a:r>
              <a:rPr lang="en-US" altLang="en-US" sz="2000" dirty="0"/>
              <a:t>{ </a:t>
            </a:r>
            <a:r>
              <a:rPr lang="en-US" altLang="en-US" sz="2000" dirty="0">
                <a:solidFill>
                  <a:srgbClr val="0000FF"/>
                </a:solidFill>
              </a:rPr>
              <a:t>Hartford, NYC, CHI</a:t>
            </a:r>
            <a:r>
              <a:rPr lang="en-US" altLang="en-US" sz="2000" dirty="0">
                <a:solidFill>
                  <a:schemeClr val="bg2"/>
                </a:solidFill>
              </a:rPr>
              <a:t>, </a:t>
            </a:r>
            <a:r>
              <a:rPr lang="en-US" altLang="en-US" sz="2000" dirty="0">
                <a:solidFill>
                  <a:srgbClr val="FF3300"/>
                </a:solidFill>
              </a:rPr>
              <a:t>LA, SF</a:t>
            </a:r>
            <a:r>
              <a:rPr lang="en-US" altLang="en-US" sz="2000" dirty="0"/>
              <a:t> }</a:t>
            </a:r>
          </a:p>
        </p:txBody>
      </p:sp>
      <p:sp>
        <p:nvSpPr>
          <p:cNvPr id="41988" name="Oval 4">
            <a:extLst>
              <a:ext uri="{FF2B5EF4-FFF2-40B4-BE49-F238E27FC236}">
                <a16:creationId xmlns:a16="http://schemas.microsoft.com/office/drawing/2014/main" id="{3273C6CA-337B-6861-312B-36AC18643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1242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Times New Roman" panose="02020603050405020304" pitchFamily="18" charset="0"/>
              </a:rPr>
              <a:t>CHI</a:t>
            </a:r>
          </a:p>
        </p:txBody>
      </p:sp>
      <p:sp>
        <p:nvSpPr>
          <p:cNvPr id="41989" name="Oval 5">
            <a:extLst>
              <a:ext uri="{FF2B5EF4-FFF2-40B4-BE49-F238E27FC236}">
                <a16:creationId xmlns:a16="http://schemas.microsoft.com/office/drawing/2014/main" id="{ADBC1591-C9E4-38E8-0CA9-6EFCF5E8B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576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1990" name="Oval 6">
            <a:extLst>
              <a:ext uri="{FF2B5EF4-FFF2-40B4-BE49-F238E27FC236}">
                <a16:creationId xmlns:a16="http://schemas.microsoft.com/office/drawing/2014/main" id="{C6E7B147-731A-8FF8-AE3D-579377159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Times New Roman" panose="02020603050405020304" pitchFamily="18" charset="0"/>
              </a:rPr>
              <a:t>NYC</a:t>
            </a:r>
          </a:p>
        </p:txBody>
      </p:sp>
      <p:sp>
        <p:nvSpPr>
          <p:cNvPr id="41991" name="Oval 7">
            <a:extLst>
              <a:ext uri="{FF2B5EF4-FFF2-40B4-BE49-F238E27FC236}">
                <a16:creationId xmlns:a16="http://schemas.microsoft.com/office/drawing/2014/main" id="{A6A77E74-28FC-6801-2B61-342F3D6E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334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LA</a:t>
            </a:r>
          </a:p>
        </p:txBody>
      </p:sp>
      <p:sp>
        <p:nvSpPr>
          <p:cNvPr id="41992" name="Oval 8">
            <a:extLst>
              <a:ext uri="{FF2B5EF4-FFF2-40B4-BE49-F238E27FC236}">
                <a16:creationId xmlns:a16="http://schemas.microsoft.com/office/drawing/2014/main" id="{4D26B64A-68D3-AFD4-7FCD-89E966CA9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6096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SF</a:t>
            </a:r>
          </a:p>
        </p:txBody>
      </p:sp>
      <p:sp>
        <p:nvSpPr>
          <p:cNvPr id="41993" name="Line 9">
            <a:extLst>
              <a:ext uri="{FF2B5EF4-FFF2-40B4-BE49-F238E27FC236}">
                <a16:creationId xmlns:a16="http://schemas.microsoft.com/office/drawing/2014/main" id="{B47A9E24-95FA-DFC6-AECF-E2A84D0BF0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505200"/>
            <a:ext cx="9906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4" name="Line 10">
            <a:extLst>
              <a:ext uri="{FF2B5EF4-FFF2-40B4-BE49-F238E27FC236}">
                <a16:creationId xmlns:a16="http://schemas.microsoft.com/office/drawing/2014/main" id="{84972ADB-65CB-9F11-34B9-E2C2C25ED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343400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5" name="Line 11">
            <a:extLst>
              <a:ext uri="{FF2B5EF4-FFF2-40B4-BE49-F238E27FC236}">
                <a16:creationId xmlns:a16="http://schemas.microsoft.com/office/drawing/2014/main" id="{F4596F37-6605-F9BB-F566-05F2AC0DCA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733800"/>
            <a:ext cx="457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6" name="Line 12">
            <a:extLst>
              <a:ext uri="{FF2B5EF4-FFF2-40B4-BE49-F238E27FC236}">
                <a16:creationId xmlns:a16="http://schemas.microsoft.com/office/drawing/2014/main" id="{46608A1E-D933-F265-F74E-522053A5D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6576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7" name="Line 13">
            <a:extLst>
              <a:ext uri="{FF2B5EF4-FFF2-40B4-BE49-F238E27FC236}">
                <a16:creationId xmlns:a16="http://schemas.microsoft.com/office/drawing/2014/main" id="{63F77E7C-60C0-E3BD-A077-C1BC12B787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81600"/>
            <a:ext cx="83820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8" name="Line 14">
            <a:extLst>
              <a:ext uri="{FF2B5EF4-FFF2-40B4-BE49-F238E27FC236}">
                <a16:creationId xmlns:a16="http://schemas.microsoft.com/office/drawing/2014/main" id="{EA074896-5595-B7E1-61EA-0F8DC1EE2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505200"/>
            <a:ext cx="533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9" name="Line 15">
            <a:extLst>
              <a:ext uri="{FF2B5EF4-FFF2-40B4-BE49-F238E27FC236}">
                <a16:creationId xmlns:a16="http://schemas.microsoft.com/office/drawing/2014/main" id="{50CDB35E-7990-A63D-AE4A-BB9E076870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267200"/>
            <a:ext cx="1524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0" name="Rectangle 16">
            <a:extLst>
              <a:ext uri="{FF2B5EF4-FFF2-40B4-BE49-F238E27FC236}">
                <a16:creationId xmlns:a16="http://schemas.microsoft.com/office/drawing/2014/main" id="{8B865798-AF53-402E-230E-82C11FC59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33800"/>
            <a:ext cx="114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Hartford</a:t>
            </a:r>
          </a:p>
        </p:txBody>
      </p:sp>
      <p:sp>
        <p:nvSpPr>
          <p:cNvPr id="42001" name="Oval 17">
            <a:extLst>
              <a:ext uri="{FF2B5EF4-FFF2-40B4-BE49-F238E27FC236}">
                <a16:creationId xmlns:a16="http://schemas.microsoft.com/office/drawing/2014/main" id="{67914DA8-7E44-A49E-75B6-094A3B042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86400"/>
            <a:ext cx="762000" cy="762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W. DC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E9F9BBF-CD27-5450-0841-ECB014FBB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228600"/>
            <a:ext cx="8643124" cy="719253"/>
          </a:xfrm>
        </p:spPr>
        <p:txBody>
          <a:bodyPr/>
          <a:lstStyle/>
          <a:p>
            <a:pPr eaLnBrk="1" hangingPunct="1"/>
            <a:r>
              <a:rPr lang="en-US" altLang="en-US" dirty="0"/>
              <a:t>Traversal Algorithm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3CC785A-9A7C-B970-A368-632E2F4A1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699" y="1077951"/>
            <a:ext cx="8643123" cy="141434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Step 3: {</a:t>
            </a:r>
            <a:r>
              <a:rPr lang="en-US" altLang="en-US" sz="2400" dirty="0">
                <a:solidFill>
                  <a:srgbClr val="0000FF"/>
                </a:solidFill>
              </a:rPr>
              <a:t>Hartford, NYC, CHI</a:t>
            </a:r>
            <a:r>
              <a:rPr lang="en-US" altLang="en-US" sz="2400" dirty="0">
                <a:solidFill>
                  <a:schemeClr val="bg2"/>
                </a:solidFill>
              </a:rPr>
              <a:t>, </a:t>
            </a:r>
            <a:r>
              <a:rPr lang="en-US" altLang="en-US" sz="2400" dirty="0">
                <a:solidFill>
                  <a:srgbClr val="FF3300"/>
                </a:solidFill>
              </a:rPr>
              <a:t>LA, SF</a:t>
            </a:r>
            <a:r>
              <a:rPr lang="en-US" altLang="en-US" sz="2400" dirty="0"/>
              <a:t> }</a:t>
            </a:r>
          </a:p>
          <a:p>
            <a:pPr lvl="1" eaLnBrk="1" hangingPunct="1"/>
            <a:r>
              <a:rPr lang="en-US" altLang="en-US" sz="2000" dirty="0"/>
              <a:t>find unvisited neighbors of LA, SF</a:t>
            </a:r>
          </a:p>
          <a:p>
            <a:pPr lvl="1" eaLnBrk="1" hangingPunct="1"/>
            <a:r>
              <a:rPr lang="en-US" altLang="en-US" sz="2000" dirty="0"/>
              <a:t>no other new neighbors</a:t>
            </a:r>
          </a:p>
        </p:txBody>
      </p:sp>
      <p:sp>
        <p:nvSpPr>
          <p:cNvPr id="43012" name="Oval 18">
            <a:extLst>
              <a:ext uri="{FF2B5EF4-FFF2-40B4-BE49-F238E27FC236}">
                <a16:creationId xmlns:a16="http://schemas.microsoft.com/office/drawing/2014/main" id="{A12D2B91-2505-1941-E31E-2F4B2D89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1242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Times New Roman" panose="02020603050405020304" pitchFamily="18" charset="0"/>
              </a:rPr>
              <a:t>CHI</a:t>
            </a:r>
          </a:p>
        </p:txBody>
      </p:sp>
      <p:sp>
        <p:nvSpPr>
          <p:cNvPr id="43013" name="Oval 19">
            <a:extLst>
              <a:ext uri="{FF2B5EF4-FFF2-40B4-BE49-F238E27FC236}">
                <a16:creationId xmlns:a16="http://schemas.microsoft.com/office/drawing/2014/main" id="{2AC8F9D0-5A9A-391B-4B58-0B480DBB2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576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3014" name="Oval 20">
            <a:extLst>
              <a:ext uri="{FF2B5EF4-FFF2-40B4-BE49-F238E27FC236}">
                <a16:creationId xmlns:a16="http://schemas.microsoft.com/office/drawing/2014/main" id="{BCCE490E-1D9B-4760-24AC-4D355D32C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Times New Roman" panose="02020603050405020304" pitchFamily="18" charset="0"/>
              </a:rPr>
              <a:t>NYC</a:t>
            </a:r>
          </a:p>
        </p:txBody>
      </p:sp>
      <p:sp>
        <p:nvSpPr>
          <p:cNvPr id="43015" name="Oval 21">
            <a:extLst>
              <a:ext uri="{FF2B5EF4-FFF2-40B4-BE49-F238E27FC236}">
                <a16:creationId xmlns:a16="http://schemas.microsoft.com/office/drawing/2014/main" id="{1475641A-C457-5D90-2DDA-C6510B42C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3340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LA</a:t>
            </a:r>
          </a:p>
        </p:txBody>
      </p:sp>
      <p:sp>
        <p:nvSpPr>
          <p:cNvPr id="43016" name="Oval 22">
            <a:extLst>
              <a:ext uri="{FF2B5EF4-FFF2-40B4-BE49-F238E27FC236}">
                <a16:creationId xmlns:a16="http://schemas.microsoft.com/office/drawing/2014/main" id="{5E94AECD-4F07-9915-6739-B7602B91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SF</a:t>
            </a:r>
          </a:p>
        </p:txBody>
      </p:sp>
      <p:sp>
        <p:nvSpPr>
          <p:cNvPr id="43017" name="Line 23">
            <a:extLst>
              <a:ext uri="{FF2B5EF4-FFF2-40B4-BE49-F238E27FC236}">
                <a16:creationId xmlns:a16="http://schemas.microsoft.com/office/drawing/2014/main" id="{AE75AAD2-A279-954D-93CE-2F7124E353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505200"/>
            <a:ext cx="9906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8" name="Line 24">
            <a:extLst>
              <a:ext uri="{FF2B5EF4-FFF2-40B4-BE49-F238E27FC236}">
                <a16:creationId xmlns:a16="http://schemas.microsoft.com/office/drawing/2014/main" id="{3142D2AE-77F3-8DA4-5410-A9738E8C8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343400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Line 25">
            <a:extLst>
              <a:ext uri="{FF2B5EF4-FFF2-40B4-BE49-F238E27FC236}">
                <a16:creationId xmlns:a16="http://schemas.microsoft.com/office/drawing/2014/main" id="{228C2055-2E2E-17D4-E75C-1551833170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733800"/>
            <a:ext cx="457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Line 26">
            <a:extLst>
              <a:ext uri="{FF2B5EF4-FFF2-40B4-BE49-F238E27FC236}">
                <a16:creationId xmlns:a16="http://schemas.microsoft.com/office/drawing/2014/main" id="{30790078-5193-C681-4152-AD2852D79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6576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1" name="Line 27">
            <a:extLst>
              <a:ext uri="{FF2B5EF4-FFF2-40B4-BE49-F238E27FC236}">
                <a16:creationId xmlns:a16="http://schemas.microsoft.com/office/drawing/2014/main" id="{192CA69D-A15B-1B70-4654-4F0D312825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81600"/>
            <a:ext cx="83820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2" name="Line 28">
            <a:extLst>
              <a:ext uri="{FF2B5EF4-FFF2-40B4-BE49-F238E27FC236}">
                <a16:creationId xmlns:a16="http://schemas.microsoft.com/office/drawing/2014/main" id="{A9F642D3-CC34-15BF-A072-15F3A6F42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505200"/>
            <a:ext cx="533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3" name="Line 29">
            <a:extLst>
              <a:ext uri="{FF2B5EF4-FFF2-40B4-BE49-F238E27FC236}">
                <a16:creationId xmlns:a16="http://schemas.microsoft.com/office/drawing/2014/main" id="{69E77A78-6FCB-E29C-BF5B-8B6EC389C7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267200"/>
            <a:ext cx="1524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4" name="Rectangle 30">
            <a:extLst>
              <a:ext uri="{FF2B5EF4-FFF2-40B4-BE49-F238E27FC236}">
                <a16:creationId xmlns:a16="http://schemas.microsoft.com/office/drawing/2014/main" id="{05F86001-DC7C-BC4B-3A7D-862A43B1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33800"/>
            <a:ext cx="114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Hartford</a:t>
            </a:r>
          </a:p>
        </p:txBody>
      </p:sp>
      <p:sp>
        <p:nvSpPr>
          <p:cNvPr id="43025" name="Oval 31">
            <a:extLst>
              <a:ext uri="{FF2B5EF4-FFF2-40B4-BE49-F238E27FC236}">
                <a16:creationId xmlns:a16="http://schemas.microsoft.com/office/drawing/2014/main" id="{B54ECCD6-5B94-A4F0-D774-DA020F785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86400"/>
            <a:ext cx="762000" cy="762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W. DC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C39C0F6-7F7A-4247-FC84-07CE459C2F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6" y="228600"/>
            <a:ext cx="8675648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Traversal Algorithm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C04E5C5-4A99-FA85-8F24-0F44C5D2B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175" y="1102114"/>
            <a:ext cx="8675647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Finally, we get all cities that United Airline can reach from Hartford Airport</a:t>
            </a:r>
          </a:p>
          <a:p>
            <a:pPr lvl="1" eaLnBrk="1" hangingPunct="1"/>
            <a:r>
              <a:rPr lang="en-US" altLang="en-US" sz="2000" dirty="0"/>
              <a:t>{</a:t>
            </a:r>
            <a:r>
              <a:rPr lang="en-US" altLang="en-US" sz="2000" dirty="0">
                <a:solidFill>
                  <a:srgbClr val="FF3300"/>
                </a:solidFill>
              </a:rPr>
              <a:t>Hartford, NYC, CHI, LA, SF</a:t>
            </a:r>
            <a:r>
              <a:rPr lang="en-US" altLang="en-US" sz="2000" dirty="0"/>
              <a:t> }</a:t>
            </a:r>
          </a:p>
        </p:txBody>
      </p:sp>
      <p:sp>
        <p:nvSpPr>
          <p:cNvPr id="44036" name="Oval 18">
            <a:extLst>
              <a:ext uri="{FF2B5EF4-FFF2-40B4-BE49-F238E27FC236}">
                <a16:creationId xmlns:a16="http://schemas.microsoft.com/office/drawing/2014/main" id="{F2A4F3D5-72F5-8C88-049B-EE3C12FCA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1242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Times New Roman" panose="02020603050405020304" pitchFamily="18" charset="0"/>
              </a:rPr>
              <a:t>CHI</a:t>
            </a:r>
          </a:p>
        </p:txBody>
      </p:sp>
      <p:sp>
        <p:nvSpPr>
          <p:cNvPr id="44037" name="Oval 19">
            <a:extLst>
              <a:ext uri="{FF2B5EF4-FFF2-40B4-BE49-F238E27FC236}">
                <a16:creationId xmlns:a16="http://schemas.microsoft.com/office/drawing/2014/main" id="{D5C44CD6-7C29-90BC-C5C1-48DB6B1F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576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4038" name="Oval 20">
            <a:extLst>
              <a:ext uri="{FF2B5EF4-FFF2-40B4-BE49-F238E27FC236}">
                <a16:creationId xmlns:a16="http://schemas.microsoft.com/office/drawing/2014/main" id="{97FC22A6-922D-DE03-999F-41F26097A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Times New Roman" panose="02020603050405020304" pitchFamily="18" charset="0"/>
              </a:rPr>
              <a:t>NYC</a:t>
            </a:r>
          </a:p>
        </p:txBody>
      </p:sp>
      <p:sp>
        <p:nvSpPr>
          <p:cNvPr id="44039" name="Oval 21">
            <a:extLst>
              <a:ext uri="{FF2B5EF4-FFF2-40B4-BE49-F238E27FC236}">
                <a16:creationId xmlns:a16="http://schemas.microsoft.com/office/drawing/2014/main" id="{658FBF2D-967B-752A-4D42-49E076216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3340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LA</a:t>
            </a:r>
          </a:p>
        </p:txBody>
      </p:sp>
      <p:sp>
        <p:nvSpPr>
          <p:cNvPr id="44040" name="Oval 22">
            <a:extLst>
              <a:ext uri="{FF2B5EF4-FFF2-40B4-BE49-F238E27FC236}">
                <a16:creationId xmlns:a16="http://schemas.microsoft.com/office/drawing/2014/main" id="{1094272F-1F26-09F0-2F18-F0C7F9B5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609600" cy="6096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SF</a:t>
            </a:r>
          </a:p>
        </p:txBody>
      </p:sp>
      <p:sp>
        <p:nvSpPr>
          <p:cNvPr id="44041" name="Line 23">
            <a:extLst>
              <a:ext uri="{FF2B5EF4-FFF2-40B4-BE49-F238E27FC236}">
                <a16:creationId xmlns:a16="http://schemas.microsoft.com/office/drawing/2014/main" id="{2EF3FCD5-F9E7-7752-3131-EDFB333166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505200"/>
            <a:ext cx="9906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Line 24">
            <a:extLst>
              <a:ext uri="{FF2B5EF4-FFF2-40B4-BE49-F238E27FC236}">
                <a16:creationId xmlns:a16="http://schemas.microsoft.com/office/drawing/2014/main" id="{A1AD7EBF-89B9-892D-F338-0A4B17664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343400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Line 25">
            <a:extLst>
              <a:ext uri="{FF2B5EF4-FFF2-40B4-BE49-F238E27FC236}">
                <a16:creationId xmlns:a16="http://schemas.microsoft.com/office/drawing/2014/main" id="{60031474-6D42-D98C-F21D-E5B4146070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733800"/>
            <a:ext cx="457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4" name="Line 26">
            <a:extLst>
              <a:ext uri="{FF2B5EF4-FFF2-40B4-BE49-F238E27FC236}">
                <a16:creationId xmlns:a16="http://schemas.microsoft.com/office/drawing/2014/main" id="{7599C7E3-5CA4-64DE-220D-D37672392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6576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5" name="Line 27">
            <a:extLst>
              <a:ext uri="{FF2B5EF4-FFF2-40B4-BE49-F238E27FC236}">
                <a16:creationId xmlns:a16="http://schemas.microsoft.com/office/drawing/2014/main" id="{A318A28A-40ED-EEDD-4BE4-8EDD981281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1816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6" name="Line 28">
            <a:extLst>
              <a:ext uri="{FF2B5EF4-FFF2-40B4-BE49-F238E27FC236}">
                <a16:creationId xmlns:a16="http://schemas.microsoft.com/office/drawing/2014/main" id="{4E75563D-C3FF-E7CA-778E-2F0BD1859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505200"/>
            <a:ext cx="5334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7" name="Line 29">
            <a:extLst>
              <a:ext uri="{FF2B5EF4-FFF2-40B4-BE49-F238E27FC236}">
                <a16:creationId xmlns:a16="http://schemas.microsoft.com/office/drawing/2014/main" id="{A08AB66D-1CB9-2F87-9161-B555CE13F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267200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8" name="Rectangle 30">
            <a:extLst>
              <a:ext uri="{FF2B5EF4-FFF2-40B4-BE49-F238E27FC236}">
                <a16:creationId xmlns:a16="http://schemas.microsoft.com/office/drawing/2014/main" id="{A2D92FE4-1398-C823-71C7-D51C971E6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33800"/>
            <a:ext cx="114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Hartford</a:t>
            </a:r>
          </a:p>
        </p:txBody>
      </p:sp>
      <p:sp>
        <p:nvSpPr>
          <p:cNvPr id="44049" name="Oval 31">
            <a:extLst>
              <a:ext uri="{FF2B5EF4-FFF2-40B4-BE49-F238E27FC236}">
                <a16:creationId xmlns:a16="http://schemas.microsoft.com/office/drawing/2014/main" id="{E4B7701D-F86E-9304-0D51-DAC932A25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86400"/>
            <a:ext cx="762000" cy="762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W. DC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67B3398-D3FB-F7FD-F0EE-EAF242ADA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39751"/>
            <a:ext cx="8686800" cy="674649"/>
          </a:xfrm>
        </p:spPr>
        <p:txBody>
          <a:bodyPr/>
          <a:lstStyle/>
          <a:p>
            <a:pPr eaLnBrk="1" hangingPunct="1"/>
            <a:r>
              <a:rPr lang="en-US" altLang="en-US" dirty="0"/>
              <a:t>Algorithm of Graph Traversal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12DCED1-1F5D-3111-AB48-2D43B3C6F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6" y="1104900"/>
            <a:ext cx="8686799" cy="4648200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400" dirty="0"/>
              <a:t>Mark all nodes as unvisited</a:t>
            </a: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400" dirty="0"/>
              <a:t>Pick a starting vertex </a:t>
            </a:r>
            <a:r>
              <a:rPr lang="en-US" altLang="en-US" sz="2400" dirty="0">
                <a:solidFill>
                  <a:srgbClr val="FF3300"/>
                </a:solidFill>
              </a:rPr>
              <a:t>u, </a:t>
            </a:r>
            <a:r>
              <a:rPr lang="en-US" altLang="en-US" sz="2400" dirty="0"/>
              <a:t>add </a:t>
            </a:r>
            <a:r>
              <a:rPr lang="en-US" altLang="en-US" sz="2400" dirty="0">
                <a:solidFill>
                  <a:srgbClr val="FF3300"/>
                </a:solidFill>
              </a:rPr>
              <a:t>u</a:t>
            </a:r>
            <a:r>
              <a:rPr lang="en-US" altLang="en-US" sz="2400" dirty="0"/>
              <a:t> to </a:t>
            </a:r>
            <a:r>
              <a:rPr lang="en-US" altLang="en-US" sz="2400" dirty="0">
                <a:solidFill>
                  <a:srgbClr val="0066FF"/>
                </a:solidFill>
              </a:rPr>
              <a:t>probing list</a:t>
            </a: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400" dirty="0"/>
              <a:t>While ( probing list is not empty)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dirty="0"/>
              <a:t>	{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dirty="0"/>
              <a:t>		Remove a node </a:t>
            </a:r>
            <a:r>
              <a:rPr lang="en-US" altLang="en-US" sz="2400" dirty="0">
                <a:solidFill>
                  <a:srgbClr val="FF3300"/>
                </a:solidFill>
              </a:rPr>
              <a:t>v</a:t>
            </a:r>
            <a:r>
              <a:rPr lang="en-US" altLang="en-US" sz="2400" dirty="0"/>
              <a:t> from probing list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dirty="0"/>
              <a:t>		Mark node </a:t>
            </a:r>
            <a:r>
              <a:rPr lang="en-US" altLang="en-US" sz="2400" dirty="0">
                <a:solidFill>
                  <a:srgbClr val="FF3300"/>
                </a:solidFill>
              </a:rPr>
              <a:t>v</a:t>
            </a:r>
            <a:r>
              <a:rPr lang="en-US" altLang="en-US" sz="2400" dirty="0"/>
              <a:t> as visited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dirty="0"/>
              <a:t>		For each neighbor </a:t>
            </a:r>
            <a:r>
              <a:rPr lang="en-US" altLang="en-US" sz="2400" dirty="0">
                <a:solidFill>
                  <a:srgbClr val="FF3300"/>
                </a:solidFill>
              </a:rPr>
              <a:t>w</a:t>
            </a:r>
            <a:r>
              <a:rPr lang="en-US" altLang="en-US" sz="2400" dirty="0"/>
              <a:t> of </a:t>
            </a:r>
            <a:r>
              <a:rPr lang="en-US" altLang="en-US" sz="2400" dirty="0">
                <a:solidFill>
                  <a:srgbClr val="FF3300"/>
                </a:solidFill>
              </a:rPr>
              <a:t>v</a:t>
            </a:r>
            <a:r>
              <a:rPr lang="en-US" altLang="en-US" sz="2400" dirty="0"/>
              <a:t>, if </a:t>
            </a:r>
            <a:r>
              <a:rPr lang="en-US" altLang="en-US" sz="2400" dirty="0">
                <a:solidFill>
                  <a:srgbClr val="FF3300"/>
                </a:solidFill>
              </a:rPr>
              <a:t>w</a:t>
            </a:r>
            <a:r>
              <a:rPr lang="en-US" altLang="en-US" sz="2400" dirty="0"/>
              <a:t> is unvisited, 		add </a:t>
            </a:r>
            <a:r>
              <a:rPr lang="en-US" altLang="en-US" sz="2400" dirty="0">
                <a:solidFill>
                  <a:srgbClr val="FF3300"/>
                </a:solidFill>
              </a:rPr>
              <a:t>w</a:t>
            </a:r>
            <a:r>
              <a:rPr lang="en-US" altLang="en-US" sz="2400" dirty="0"/>
              <a:t> to the probing list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dirty="0"/>
              <a:t>	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3AA7CDB-BDBF-0ED1-D1EF-4553D19CC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Graph Traversal Algorithms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D2D9DB7-22E2-2470-B487-F8B910169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50" y="1086698"/>
            <a:ext cx="8686799" cy="14111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Two algorithms</a:t>
            </a:r>
          </a:p>
          <a:p>
            <a:pPr lvl="1" eaLnBrk="1" hangingPunct="1"/>
            <a:r>
              <a:rPr lang="en-US" altLang="en-US" sz="2000" dirty="0"/>
              <a:t>Depth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dirty="0"/>
              <a:t>First Traversal</a:t>
            </a:r>
          </a:p>
          <a:p>
            <a:pPr lvl="1" eaLnBrk="1" hangingPunct="1"/>
            <a:r>
              <a:rPr lang="en-US" altLang="en-US" sz="2000" dirty="0"/>
              <a:t>Breadth First Traversal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6B5E3D8-29D7-CC4C-B319-092FC4629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75" y="228600"/>
            <a:ext cx="8697951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6B45939-8A3E-C22A-99D2-E6F864465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174" y="1104900"/>
            <a:ext cx="8697951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Probing List is implemented as </a:t>
            </a:r>
            <a:r>
              <a:rPr lang="en-US" altLang="en-US" sz="2400" dirty="0">
                <a:solidFill>
                  <a:srgbClr val="FF3300"/>
                </a:solidFill>
              </a:rPr>
              <a:t>stack</a:t>
            </a:r>
            <a:r>
              <a:rPr lang="en-US" altLang="en-US" sz="2400" dirty="0"/>
              <a:t> (LIFO)</a:t>
            </a:r>
          </a:p>
          <a:p>
            <a:pPr eaLnBrk="1" hangingPunct="1"/>
            <a:r>
              <a:rPr lang="en-US" altLang="en-US" sz="2400" dirty="0"/>
              <a:t>Example</a:t>
            </a:r>
          </a:p>
          <a:p>
            <a:pPr lvl="1" eaLnBrk="1" hangingPunct="1"/>
            <a:r>
              <a:rPr lang="en-US" altLang="en-US" sz="2000" dirty="0"/>
              <a:t>A’s neighbor: B, C, E</a:t>
            </a:r>
          </a:p>
          <a:p>
            <a:pPr lvl="1" eaLnBrk="1" hangingPunct="1"/>
            <a:r>
              <a:rPr lang="en-US" altLang="en-US" sz="2000" dirty="0"/>
              <a:t>B’s neighbor: A, C, F</a:t>
            </a:r>
          </a:p>
          <a:p>
            <a:pPr lvl="1" eaLnBrk="1" hangingPunct="1"/>
            <a:r>
              <a:rPr lang="en-US" altLang="en-US" sz="2000" dirty="0"/>
              <a:t>C’s neighbor: A, B, D</a:t>
            </a:r>
          </a:p>
          <a:p>
            <a:pPr lvl="1" eaLnBrk="1" hangingPunct="1"/>
            <a:r>
              <a:rPr lang="en-US" altLang="en-US" sz="2000" dirty="0"/>
              <a:t>D’s neighbor: E, C, F</a:t>
            </a:r>
          </a:p>
          <a:p>
            <a:pPr lvl="1" eaLnBrk="1" hangingPunct="1"/>
            <a:r>
              <a:rPr lang="en-US" altLang="en-US" sz="2000" dirty="0"/>
              <a:t>E’s neighbor: A, D</a:t>
            </a:r>
          </a:p>
          <a:p>
            <a:pPr lvl="1" eaLnBrk="1" hangingPunct="1"/>
            <a:r>
              <a:rPr lang="en-US" altLang="en-US" sz="2000" dirty="0"/>
              <a:t>F’s neighbor: B, D</a:t>
            </a:r>
          </a:p>
          <a:p>
            <a:pPr lvl="1" eaLnBrk="1" hangingPunct="1"/>
            <a:r>
              <a:rPr lang="en-US" altLang="en-US" sz="2000" dirty="0">
                <a:solidFill>
                  <a:srgbClr val="FF3300"/>
                </a:solidFill>
              </a:rPr>
              <a:t>start from vertex A</a:t>
            </a:r>
          </a:p>
        </p:txBody>
      </p:sp>
      <p:sp>
        <p:nvSpPr>
          <p:cNvPr id="47108" name="Line 52">
            <a:extLst>
              <a:ext uri="{FF2B5EF4-FFF2-40B4-BE49-F238E27FC236}">
                <a16:creationId xmlns:a16="http://schemas.microsoft.com/office/drawing/2014/main" id="{533A2294-49E8-F67A-216C-7DEA884DB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8100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9" name="Line 53">
            <a:extLst>
              <a:ext uri="{FF2B5EF4-FFF2-40B4-BE49-F238E27FC236}">
                <a16:creationId xmlns:a16="http://schemas.microsoft.com/office/drawing/2014/main" id="{E4A639DB-B0C5-FA97-9787-F6B3D0B673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30480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Line 54">
            <a:extLst>
              <a:ext uri="{FF2B5EF4-FFF2-40B4-BE49-F238E27FC236}">
                <a16:creationId xmlns:a16="http://schemas.microsoft.com/office/drawing/2014/main" id="{BB1B025E-7005-B263-19C0-886E23C41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7432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Line 55">
            <a:extLst>
              <a:ext uri="{FF2B5EF4-FFF2-40B4-BE49-F238E27FC236}">
                <a16:creationId xmlns:a16="http://schemas.microsoft.com/office/drawing/2014/main" id="{0CE2A721-14A7-34F8-25B2-D7407A3DC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895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Line 56">
            <a:extLst>
              <a:ext uri="{FF2B5EF4-FFF2-40B4-BE49-F238E27FC236}">
                <a16:creationId xmlns:a16="http://schemas.microsoft.com/office/drawing/2014/main" id="{EBF46A5E-83E0-E5CC-5FDD-B0F83C8AD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7338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Line 57">
            <a:extLst>
              <a:ext uri="{FF2B5EF4-FFF2-40B4-BE49-F238E27FC236}">
                <a16:creationId xmlns:a16="http://schemas.microsoft.com/office/drawing/2014/main" id="{C8A89C7C-D835-8081-D84A-FC693E2B78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39624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4" name="Line 58">
            <a:extLst>
              <a:ext uri="{FF2B5EF4-FFF2-40B4-BE49-F238E27FC236}">
                <a16:creationId xmlns:a16="http://schemas.microsoft.com/office/drawing/2014/main" id="{B0680442-AED1-8813-78F7-0C41F796D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8862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Line 59">
            <a:extLst>
              <a:ext uri="{FF2B5EF4-FFF2-40B4-BE49-F238E27FC236}">
                <a16:creationId xmlns:a16="http://schemas.microsoft.com/office/drawing/2014/main" id="{A71E0BB8-71AE-801D-0DB5-E791C11054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648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Oval 60">
            <a:extLst>
              <a:ext uri="{FF2B5EF4-FFF2-40B4-BE49-F238E27FC236}">
                <a16:creationId xmlns:a16="http://schemas.microsoft.com/office/drawing/2014/main" id="{F5530F20-6B88-425D-F062-3E43F35FA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7117" name="Oval 61">
            <a:extLst>
              <a:ext uri="{FF2B5EF4-FFF2-40B4-BE49-F238E27FC236}">
                <a16:creationId xmlns:a16="http://schemas.microsoft.com/office/drawing/2014/main" id="{EC03D2F4-CEB3-C09D-A430-87724AD18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505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7118" name="Oval 62">
            <a:extLst>
              <a:ext uri="{FF2B5EF4-FFF2-40B4-BE49-F238E27FC236}">
                <a16:creationId xmlns:a16="http://schemas.microsoft.com/office/drawing/2014/main" id="{8C45BC90-9E82-D115-1A99-A39F4873E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6576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7119" name="Oval 63">
            <a:extLst>
              <a:ext uri="{FF2B5EF4-FFF2-40B4-BE49-F238E27FC236}">
                <a16:creationId xmlns:a16="http://schemas.microsoft.com/office/drawing/2014/main" id="{C9F2145F-E5C4-D2E0-C47F-860A1290A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7120" name="Oval 64">
            <a:extLst>
              <a:ext uri="{FF2B5EF4-FFF2-40B4-BE49-F238E27FC236}">
                <a16:creationId xmlns:a16="http://schemas.microsoft.com/office/drawing/2014/main" id="{2E851BAD-5661-6E6C-67AA-DDF0F724C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4196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7121" name="Oval 65">
            <a:extLst>
              <a:ext uri="{FF2B5EF4-FFF2-40B4-BE49-F238E27FC236}">
                <a16:creationId xmlns:a16="http://schemas.microsoft.com/office/drawing/2014/main" id="{0E025B71-6536-0CC6-C130-65A276E4B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343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8" name="Rectangle 12">
            <a:extLst>
              <a:ext uri="{FF2B5EF4-FFF2-40B4-BE49-F238E27FC236}">
                <a16:creationId xmlns:a16="http://schemas.microsoft.com/office/drawing/2014/main" id="{D73E9883-F57E-71F3-DEFE-AC021F00A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48139" name="Rectangle 13">
            <a:extLst>
              <a:ext uri="{FF2B5EF4-FFF2-40B4-BE49-F238E27FC236}">
                <a16:creationId xmlns:a16="http://schemas.microsoft.com/office/drawing/2014/main" id="{DF9D8C34-2D35-1165-1A8A-A65B0E972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502025"/>
            <a:ext cx="5789341" cy="2286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Initial State</a:t>
            </a:r>
          </a:p>
          <a:p>
            <a:pPr lvl="1" eaLnBrk="1" hangingPunct="1"/>
            <a:r>
              <a:rPr lang="en-US" altLang="en-US" sz="2000" dirty="0"/>
              <a:t>Visited Vertices  { }</a:t>
            </a:r>
          </a:p>
          <a:p>
            <a:pPr lvl="1" eaLnBrk="1" hangingPunct="1"/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</a:t>
            </a:r>
            <a:r>
              <a:rPr lang="en-US" altLang="en-US" sz="2000" dirty="0"/>
              <a:t> }</a:t>
            </a:r>
          </a:p>
          <a:p>
            <a:pPr lvl="1" eaLnBrk="1" hangingPunct="1"/>
            <a:r>
              <a:rPr lang="en-US" altLang="en-US" sz="2000" dirty="0"/>
              <a:t>Unvisited Vertices { A, B, C, D, E, F }</a:t>
            </a:r>
          </a:p>
        </p:txBody>
      </p:sp>
      <p:sp>
        <p:nvSpPr>
          <p:cNvPr id="48146" name="Text Box 53">
            <a:extLst>
              <a:ext uri="{FF2B5EF4-FFF2-40B4-BE49-F238E27FC236}">
                <a16:creationId xmlns:a16="http://schemas.microsoft.com/office/drawing/2014/main" id="{636D2A0D-B135-70C3-8FE0-4FD69EBC1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48147" name="Rectangle 59">
            <a:extLst>
              <a:ext uri="{FF2B5EF4-FFF2-40B4-BE49-F238E27FC236}">
                <a16:creationId xmlns:a16="http://schemas.microsoft.com/office/drawing/2014/main" id="{B17775C1-AF21-A23C-083A-87C4CA3E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724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148" name="Rectangle 60">
            <a:extLst>
              <a:ext uri="{FF2B5EF4-FFF2-40B4-BE49-F238E27FC236}">
                <a16:creationId xmlns:a16="http://schemas.microsoft.com/office/drawing/2014/main" id="{ADDC87A1-63A2-E6AF-6244-8DAFCBE20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029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149" name="Rectangle 61">
            <a:extLst>
              <a:ext uri="{FF2B5EF4-FFF2-40B4-BE49-F238E27FC236}">
                <a16:creationId xmlns:a16="http://schemas.microsoft.com/office/drawing/2014/main" id="{0A091802-E91C-B20F-A303-728D4A2CE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150" name="Rectangle 62">
            <a:extLst>
              <a:ext uri="{FF2B5EF4-FFF2-40B4-BE49-F238E27FC236}">
                <a16:creationId xmlns:a16="http://schemas.microsoft.com/office/drawing/2014/main" id="{06FC3C2D-1C2D-AD05-1AAA-5BCA3D609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419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151" name="Rectangle 63">
            <a:extLst>
              <a:ext uri="{FF2B5EF4-FFF2-40B4-BE49-F238E27FC236}">
                <a16:creationId xmlns:a16="http://schemas.microsoft.com/office/drawing/2014/main" id="{43F00041-E60C-F4AD-2F9C-2E5227308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638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8152" name="Rectangle 64">
            <a:extLst>
              <a:ext uri="{FF2B5EF4-FFF2-40B4-BE49-F238E27FC236}">
                <a16:creationId xmlns:a16="http://schemas.microsoft.com/office/drawing/2014/main" id="{BA3992DF-83F8-4FF9-1F2D-ECB7309D5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14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153" name="Text Box 66">
            <a:extLst>
              <a:ext uri="{FF2B5EF4-FFF2-40B4-BE49-F238E27FC236}">
                <a16:creationId xmlns:a16="http://schemas.microsoft.com/office/drawing/2014/main" id="{C2F2102B-48C7-AE0A-58DE-1064D6D5C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5626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</a:p>
        </p:txBody>
      </p:sp>
      <p:sp>
        <p:nvSpPr>
          <p:cNvPr id="2" name="Line 2">
            <a:extLst>
              <a:ext uri="{FF2B5EF4-FFF2-40B4-BE49-F238E27FC236}">
                <a16:creationId xmlns:a16="http://schemas.microsoft.com/office/drawing/2014/main" id="{6BEA2E44-F53F-964B-5DD2-BCC2DB413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5ABC6D72-5990-EAFC-1C01-C7C0BF301C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386224AC-1E22-ABB7-2287-A1348ABD8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EBE88363-3254-8D2F-0A6F-3B6195EBA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2B26E1AA-5A9F-FF51-F2B4-A4FBE58283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7C1F8D1-795A-99DD-0B1C-96AC780725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8D57901-2D46-0FCB-8735-31D359813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3C25629B-492D-30A2-7217-3818A883EE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7410E2D0-3788-F8FC-D97D-DFC79AD61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BF9DA071-F81A-3347-3211-889B1A540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C242FE7A-05F4-D62A-9081-5919D5A4E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4D1C799E-E08D-4EB0-5F11-E10137A9B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4" name="Oval 18">
            <a:extLst>
              <a:ext uri="{FF2B5EF4-FFF2-40B4-BE49-F238E27FC236}">
                <a16:creationId xmlns:a16="http://schemas.microsoft.com/office/drawing/2014/main" id="{463D7209-91EA-05C2-D5E9-035CE38CF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5" name="Oval 20">
            <a:extLst>
              <a:ext uri="{FF2B5EF4-FFF2-40B4-BE49-F238E27FC236}">
                <a16:creationId xmlns:a16="http://schemas.microsoft.com/office/drawing/2014/main" id="{0C6DFDB8-EB47-C1DB-A64F-652563CBA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2">
            <a:extLst>
              <a:ext uri="{FF2B5EF4-FFF2-40B4-BE49-F238E27FC236}">
                <a16:creationId xmlns:a16="http://schemas.microsoft.com/office/drawing/2014/main" id="{64FB14E3-6114-E157-627D-B8265D538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5" name="Line 3">
            <a:extLst>
              <a:ext uri="{FF2B5EF4-FFF2-40B4-BE49-F238E27FC236}">
                <a16:creationId xmlns:a16="http://schemas.microsoft.com/office/drawing/2014/main" id="{6D4FA86D-D7D9-08EB-00B6-425D36239C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6" name="Line 4">
            <a:extLst>
              <a:ext uri="{FF2B5EF4-FFF2-40B4-BE49-F238E27FC236}">
                <a16:creationId xmlns:a16="http://schemas.microsoft.com/office/drawing/2014/main" id="{55602859-3BAA-F6C9-E0FE-188599BED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7" name="Line 5">
            <a:extLst>
              <a:ext uri="{FF2B5EF4-FFF2-40B4-BE49-F238E27FC236}">
                <a16:creationId xmlns:a16="http://schemas.microsoft.com/office/drawing/2014/main" id="{D021DD87-C08A-55B3-C465-C7B68ADE7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Line 6">
            <a:extLst>
              <a:ext uri="{FF2B5EF4-FFF2-40B4-BE49-F238E27FC236}">
                <a16:creationId xmlns:a16="http://schemas.microsoft.com/office/drawing/2014/main" id="{DD5A7869-00CD-4528-74B1-2C6FF24AB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Line 7">
            <a:extLst>
              <a:ext uri="{FF2B5EF4-FFF2-40B4-BE49-F238E27FC236}">
                <a16:creationId xmlns:a16="http://schemas.microsoft.com/office/drawing/2014/main" id="{EEC09313-10FF-3015-7196-E55ED74B4E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Line 8">
            <a:extLst>
              <a:ext uri="{FF2B5EF4-FFF2-40B4-BE49-F238E27FC236}">
                <a16:creationId xmlns:a16="http://schemas.microsoft.com/office/drawing/2014/main" id="{FA3C7DCD-AC70-4623-3F33-E35451786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1" name="Line 9">
            <a:extLst>
              <a:ext uri="{FF2B5EF4-FFF2-40B4-BE49-F238E27FC236}">
                <a16:creationId xmlns:a16="http://schemas.microsoft.com/office/drawing/2014/main" id="{B199C7B7-8FA1-B80E-286A-B0BEEA68C3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3" name="Rectangle 11">
            <a:extLst>
              <a:ext uri="{FF2B5EF4-FFF2-40B4-BE49-F238E27FC236}">
                <a16:creationId xmlns:a16="http://schemas.microsoft.com/office/drawing/2014/main" id="{980C1C4F-714F-06D1-338B-45EF0671E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505199"/>
            <a:ext cx="5247114" cy="265027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Peek a vertex from stack, it is A,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Find A’s first unvisited neighbor, push it into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Visited Vertices  { A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Probing vertices { </a:t>
            </a:r>
            <a:r>
              <a:rPr lang="en-US" altLang="en-US" sz="2200" dirty="0">
                <a:solidFill>
                  <a:srgbClr val="FF3300"/>
                </a:solidFill>
              </a:rPr>
              <a:t>A, B</a:t>
            </a:r>
            <a:r>
              <a:rPr lang="en-US" altLang="en-US" sz="2200" dirty="0"/>
              <a:t>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Unvisited Vertices { B, C, D, E, F }</a:t>
            </a:r>
            <a:endParaRPr lang="en-US" altLang="en-US" sz="2000" dirty="0"/>
          </a:p>
        </p:txBody>
      </p:sp>
      <p:sp>
        <p:nvSpPr>
          <p:cNvPr id="49164" name="Oval 12">
            <a:extLst>
              <a:ext uri="{FF2B5EF4-FFF2-40B4-BE49-F238E27FC236}">
                <a16:creationId xmlns:a16="http://schemas.microsoft.com/office/drawing/2014/main" id="{96517ADA-F958-EA18-F046-0288F8C0C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65" name="Oval 13">
            <a:extLst>
              <a:ext uri="{FF2B5EF4-FFF2-40B4-BE49-F238E27FC236}">
                <a16:creationId xmlns:a16="http://schemas.microsoft.com/office/drawing/2014/main" id="{776C0DBB-475B-2FF5-85A7-CD9EA8F6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66" name="Oval 14">
            <a:extLst>
              <a:ext uri="{FF2B5EF4-FFF2-40B4-BE49-F238E27FC236}">
                <a16:creationId xmlns:a16="http://schemas.microsoft.com/office/drawing/2014/main" id="{BF4F5FBA-984E-4105-3E72-1D9809EC9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9167" name="Oval 15">
            <a:extLst>
              <a:ext uri="{FF2B5EF4-FFF2-40B4-BE49-F238E27FC236}">
                <a16:creationId xmlns:a16="http://schemas.microsoft.com/office/drawing/2014/main" id="{7D4B4139-D7C3-19AD-936A-D604FFA0A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9168" name="Oval 16">
            <a:extLst>
              <a:ext uri="{FF2B5EF4-FFF2-40B4-BE49-F238E27FC236}">
                <a16:creationId xmlns:a16="http://schemas.microsoft.com/office/drawing/2014/main" id="{5B243753-F5F6-A98B-DA35-69DE6DCE2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9169" name="Oval 17">
            <a:extLst>
              <a:ext uri="{FF2B5EF4-FFF2-40B4-BE49-F238E27FC236}">
                <a16:creationId xmlns:a16="http://schemas.microsoft.com/office/drawing/2014/main" id="{522A2482-27F9-95FA-CA79-7E852B93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49171" name="Rectangle 35">
            <a:extLst>
              <a:ext uri="{FF2B5EF4-FFF2-40B4-BE49-F238E27FC236}">
                <a16:creationId xmlns:a16="http://schemas.microsoft.com/office/drawing/2014/main" id="{74CF483C-1BC0-23FA-ABEF-27B1387B9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72" name="Rectangle 36">
            <a:extLst>
              <a:ext uri="{FF2B5EF4-FFF2-40B4-BE49-F238E27FC236}">
                <a16:creationId xmlns:a16="http://schemas.microsoft.com/office/drawing/2014/main" id="{B76F37C5-7394-3F78-273D-12760095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73" name="Rectangle 37">
            <a:extLst>
              <a:ext uri="{FF2B5EF4-FFF2-40B4-BE49-F238E27FC236}">
                <a16:creationId xmlns:a16="http://schemas.microsoft.com/office/drawing/2014/main" id="{B6B79477-8438-BFAA-8980-7BDEB1D05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74" name="Rectangle 38">
            <a:extLst>
              <a:ext uri="{FF2B5EF4-FFF2-40B4-BE49-F238E27FC236}">
                <a16:creationId xmlns:a16="http://schemas.microsoft.com/office/drawing/2014/main" id="{6B779159-2445-7955-2AB2-F480E195D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75" name="Rectangle 39">
            <a:extLst>
              <a:ext uri="{FF2B5EF4-FFF2-40B4-BE49-F238E27FC236}">
                <a16:creationId xmlns:a16="http://schemas.microsoft.com/office/drawing/2014/main" id="{A43F819D-2F86-8F0A-619E-356677C31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76" name="Rectangle 40">
            <a:extLst>
              <a:ext uri="{FF2B5EF4-FFF2-40B4-BE49-F238E27FC236}">
                <a16:creationId xmlns:a16="http://schemas.microsoft.com/office/drawing/2014/main" id="{56C04EC5-B555-05D9-E4EB-694D3890F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77" name="Text Box 41">
            <a:extLst>
              <a:ext uri="{FF2B5EF4-FFF2-40B4-BE49-F238E27FC236}">
                <a16:creationId xmlns:a16="http://schemas.microsoft.com/office/drawing/2014/main" id="{9AFC7AAA-4E3C-BFD2-7FF4-4DF36C40A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49178" name="Rectangle 49">
            <a:extLst>
              <a:ext uri="{FF2B5EF4-FFF2-40B4-BE49-F238E27FC236}">
                <a16:creationId xmlns:a16="http://schemas.microsoft.com/office/drawing/2014/main" id="{C9FCBCC1-B0DC-5C7F-148B-6367D17D3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79" name="Rectangle 50">
            <a:extLst>
              <a:ext uri="{FF2B5EF4-FFF2-40B4-BE49-F238E27FC236}">
                <a16:creationId xmlns:a16="http://schemas.microsoft.com/office/drawing/2014/main" id="{F518914D-E58C-643D-52DD-ADB199B17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80" name="Rectangle 51">
            <a:extLst>
              <a:ext uri="{FF2B5EF4-FFF2-40B4-BE49-F238E27FC236}">
                <a16:creationId xmlns:a16="http://schemas.microsoft.com/office/drawing/2014/main" id="{CA19095E-81A9-DAD9-8BD7-9D78144B9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81" name="Rectangle 52">
            <a:extLst>
              <a:ext uri="{FF2B5EF4-FFF2-40B4-BE49-F238E27FC236}">
                <a16:creationId xmlns:a16="http://schemas.microsoft.com/office/drawing/2014/main" id="{69F85ADF-139A-2CDE-3512-99F279D7C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82" name="Rectangle 53">
            <a:extLst>
              <a:ext uri="{FF2B5EF4-FFF2-40B4-BE49-F238E27FC236}">
                <a16:creationId xmlns:a16="http://schemas.microsoft.com/office/drawing/2014/main" id="{FBF60701-C32B-C5A5-870D-0C71466A7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83" name="Rectangle 54">
            <a:extLst>
              <a:ext uri="{FF2B5EF4-FFF2-40B4-BE49-F238E27FC236}">
                <a16:creationId xmlns:a16="http://schemas.microsoft.com/office/drawing/2014/main" id="{50DB38F0-08E5-9CA0-C0DC-626054DA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9184" name="AutoShape 55">
            <a:extLst>
              <a:ext uri="{FF2B5EF4-FFF2-40B4-BE49-F238E27FC236}">
                <a16:creationId xmlns:a16="http://schemas.microsoft.com/office/drawing/2014/main" id="{90FD0282-B492-2219-543D-1D0638004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5CC04777-FD28-E3A5-7BA0-BD3E9CF8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42B08C9-97A0-00F9-9EB2-CEB332952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11">
            <a:extLst>
              <a:ext uri="{FF2B5EF4-FFF2-40B4-BE49-F238E27FC236}">
                <a16:creationId xmlns:a16="http://schemas.microsoft.com/office/drawing/2014/main" id="{6E971621-AC67-DF3F-F717-ED572F1FC6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657600"/>
            <a:ext cx="5410200" cy="268744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Peek a vertex from stack, it is B,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Find B’s first unvisited neighbor, push it in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Visited Vertices  { A, B</a:t>
            </a:r>
            <a:r>
              <a:rPr lang="en-US" altLang="en-US" sz="2200" dirty="0">
                <a:solidFill>
                  <a:srgbClr val="FF3300"/>
                </a:solidFill>
              </a:rPr>
              <a:t> </a:t>
            </a:r>
            <a:r>
              <a:rPr lang="en-US" altLang="en-US" sz="22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Probing Vertices { </a:t>
            </a:r>
            <a:r>
              <a:rPr lang="en-US" altLang="en-US" sz="2200" dirty="0">
                <a:solidFill>
                  <a:srgbClr val="FF3300"/>
                </a:solidFill>
              </a:rPr>
              <a:t>A, B, C</a:t>
            </a:r>
            <a:r>
              <a:rPr lang="en-US" altLang="en-US" sz="2200" dirty="0"/>
              <a:t>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Unvisited Vertices { C, D, E, F }</a:t>
            </a:r>
            <a:endParaRPr lang="en-US" altLang="en-US" sz="2000" dirty="0"/>
          </a:p>
        </p:txBody>
      </p:sp>
      <p:sp>
        <p:nvSpPr>
          <p:cNvPr id="50181" name="Rectangle 19">
            <a:extLst>
              <a:ext uri="{FF2B5EF4-FFF2-40B4-BE49-F238E27FC236}">
                <a16:creationId xmlns:a16="http://schemas.microsoft.com/office/drawing/2014/main" id="{2B5E9A73-C075-600E-B3E2-8BC35604D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2" name="Rectangle 20">
            <a:extLst>
              <a:ext uri="{FF2B5EF4-FFF2-40B4-BE49-F238E27FC236}">
                <a16:creationId xmlns:a16="http://schemas.microsoft.com/office/drawing/2014/main" id="{3A2A6D31-1DBA-F2BE-B473-9804C2D91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0183" name="Rectangle 21">
            <a:extLst>
              <a:ext uri="{FF2B5EF4-FFF2-40B4-BE49-F238E27FC236}">
                <a16:creationId xmlns:a16="http://schemas.microsoft.com/office/drawing/2014/main" id="{33617087-FA2B-F236-F22D-5D743B487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0184" name="Rectangle 22">
            <a:extLst>
              <a:ext uri="{FF2B5EF4-FFF2-40B4-BE49-F238E27FC236}">
                <a16:creationId xmlns:a16="http://schemas.microsoft.com/office/drawing/2014/main" id="{444FB53D-533E-C10C-2A2C-10EE49DDC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5" name="Rectangle 23">
            <a:extLst>
              <a:ext uri="{FF2B5EF4-FFF2-40B4-BE49-F238E27FC236}">
                <a16:creationId xmlns:a16="http://schemas.microsoft.com/office/drawing/2014/main" id="{EC10C0A8-3BBF-6AE2-0FDB-2DB0CCF14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0186" name="Rectangle 24">
            <a:extLst>
              <a:ext uri="{FF2B5EF4-FFF2-40B4-BE49-F238E27FC236}">
                <a16:creationId xmlns:a16="http://schemas.microsoft.com/office/drawing/2014/main" id="{4455834D-FFFF-8B28-E5B3-5793AE32A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7" name="Text Box 26">
            <a:extLst>
              <a:ext uri="{FF2B5EF4-FFF2-40B4-BE49-F238E27FC236}">
                <a16:creationId xmlns:a16="http://schemas.microsoft.com/office/drawing/2014/main" id="{5CE82A6C-A55B-25C4-F964-3E8312520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0188" name="Rectangle 35">
            <a:extLst>
              <a:ext uri="{FF2B5EF4-FFF2-40B4-BE49-F238E27FC236}">
                <a16:creationId xmlns:a16="http://schemas.microsoft.com/office/drawing/2014/main" id="{D3122B4C-5D50-EA0F-B0C0-B1DA500C3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9" name="Rectangle 36">
            <a:extLst>
              <a:ext uri="{FF2B5EF4-FFF2-40B4-BE49-F238E27FC236}">
                <a16:creationId xmlns:a16="http://schemas.microsoft.com/office/drawing/2014/main" id="{4936DC4B-6D9A-F233-1A3B-17F0EE31B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90" name="Rectangle 37">
            <a:extLst>
              <a:ext uri="{FF2B5EF4-FFF2-40B4-BE49-F238E27FC236}">
                <a16:creationId xmlns:a16="http://schemas.microsoft.com/office/drawing/2014/main" id="{62A923AC-19C6-BA5C-C3F5-99E233C8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0191" name="Rectangle 38">
            <a:extLst>
              <a:ext uri="{FF2B5EF4-FFF2-40B4-BE49-F238E27FC236}">
                <a16:creationId xmlns:a16="http://schemas.microsoft.com/office/drawing/2014/main" id="{C2E8705E-550A-A449-7627-EA9CB77B6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92" name="Rectangle 39">
            <a:extLst>
              <a:ext uri="{FF2B5EF4-FFF2-40B4-BE49-F238E27FC236}">
                <a16:creationId xmlns:a16="http://schemas.microsoft.com/office/drawing/2014/main" id="{4518B92E-971F-18C7-344D-4102A18C8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0193" name="Rectangle 40">
            <a:extLst>
              <a:ext uri="{FF2B5EF4-FFF2-40B4-BE49-F238E27FC236}">
                <a16:creationId xmlns:a16="http://schemas.microsoft.com/office/drawing/2014/main" id="{6B4A2069-5C12-5C1E-E742-913FDC95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94" name="AutoShape 42">
            <a:extLst>
              <a:ext uri="{FF2B5EF4-FFF2-40B4-BE49-F238E27FC236}">
                <a16:creationId xmlns:a16="http://schemas.microsoft.com/office/drawing/2014/main" id="{9EB28419-2A08-8919-5AFE-3747C8AED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95" name="Line 43">
            <a:extLst>
              <a:ext uri="{FF2B5EF4-FFF2-40B4-BE49-F238E27FC236}">
                <a16:creationId xmlns:a16="http://schemas.microsoft.com/office/drawing/2014/main" id="{4B4B036F-8687-6840-3C4A-2F0170B58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6" name="Line 44">
            <a:extLst>
              <a:ext uri="{FF2B5EF4-FFF2-40B4-BE49-F238E27FC236}">
                <a16:creationId xmlns:a16="http://schemas.microsoft.com/office/drawing/2014/main" id="{8CA5883A-F56A-21B3-37F7-B08561E973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7" name="Line 45">
            <a:extLst>
              <a:ext uri="{FF2B5EF4-FFF2-40B4-BE49-F238E27FC236}">
                <a16:creationId xmlns:a16="http://schemas.microsoft.com/office/drawing/2014/main" id="{F9E60C81-8CF7-B9BA-9565-23846E2FB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8" name="Line 46">
            <a:extLst>
              <a:ext uri="{FF2B5EF4-FFF2-40B4-BE49-F238E27FC236}">
                <a16:creationId xmlns:a16="http://schemas.microsoft.com/office/drawing/2014/main" id="{02C088FA-759B-1FB2-48F3-F3F25377C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9" name="Line 47">
            <a:extLst>
              <a:ext uri="{FF2B5EF4-FFF2-40B4-BE49-F238E27FC236}">
                <a16:creationId xmlns:a16="http://schemas.microsoft.com/office/drawing/2014/main" id="{417521BE-7E12-6427-DD32-B5B17BABF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0" name="Line 48">
            <a:extLst>
              <a:ext uri="{FF2B5EF4-FFF2-40B4-BE49-F238E27FC236}">
                <a16:creationId xmlns:a16="http://schemas.microsoft.com/office/drawing/2014/main" id="{852C6401-1848-FB88-F44C-B1DAFFFEF4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1" name="Line 49">
            <a:extLst>
              <a:ext uri="{FF2B5EF4-FFF2-40B4-BE49-F238E27FC236}">
                <a16:creationId xmlns:a16="http://schemas.microsoft.com/office/drawing/2014/main" id="{1CE56E56-F680-A3EA-0431-3C66BDE6F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2" name="Line 50">
            <a:extLst>
              <a:ext uri="{FF2B5EF4-FFF2-40B4-BE49-F238E27FC236}">
                <a16:creationId xmlns:a16="http://schemas.microsoft.com/office/drawing/2014/main" id="{B6E0E821-CBF6-925E-C49E-5F141411C2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3" name="Oval 51">
            <a:extLst>
              <a:ext uri="{FF2B5EF4-FFF2-40B4-BE49-F238E27FC236}">
                <a16:creationId xmlns:a16="http://schemas.microsoft.com/office/drawing/2014/main" id="{76BB5F6E-882E-DABB-1A91-B862EEC49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0204" name="Oval 52">
            <a:extLst>
              <a:ext uri="{FF2B5EF4-FFF2-40B4-BE49-F238E27FC236}">
                <a16:creationId xmlns:a16="http://schemas.microsoft.com/office/drawing/2014/main" id="{6EA4FD6F-5DAE-AB89-7883-542041F46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0205" name="Oval 53">
            <a:extLst>
              <a:ext uri="{FF2B5EF4-FFF2-40B4-BE49-F238E27FC236}">
                <a16:creationId xmlns:a16="http://schemas.microsoft.com/office/drawing/2014/main" id="{C25377EF-D5EE-7404-CF46-6B50AF6B3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0206" name="Oval 54">
            <a:extLst>
              <a:ext uri="{FF2B5EF4-FFF2-40B4-BE49-F238E27FC236}">
                <a16:creationId xmlns:a16="http://schemas.microsoft.com/office/drawing/2014/main" id="{0A88BD5D-C464-938B-597C-690EDF6AC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0207" name="Oval 55">
            <a:extLst>
              <a:ext uri="{FF2B5EF4-FFF2-40B4-BE49-F238E27FC236}">
                <a16:creationId xmlns:a16="http://schemas.microsoft.com/office/drawing/2014/main" id="{E583A73F-F326-60F7-BB4B-849FF761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0208" name="Oval 56">
            <a:extLst>
              <a:ext uri="{FF2B5EF4-FFF2-40B4-BE49-F238E27FC236}">
                <a16:creationId xmlns:a16="http://schemas.microsoft.com/office/drawing/2014/main" id="{04D23D3D-DAF6-E643-DBB4-2008C915F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90692B2A-1334-CEE6-A550-A2DD3DCEE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F3485BD-81B2-DF01-2C36-912116942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11">
            <a:extLst>
              <a:ext uri="{FF2B5EF4-FFF2-40B4-BE49-F238E27FC236}">
                <a16:creationId xmlns:a16="http://schemas.microsoft.com/office/drawing/2014/main" id="{DD157F81-0FFE-52AF-8171-9E0FB4A04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599"/>
            <a:ext cx="5475714" cy="249787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Peek a vertex from stack, it is C,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Find C’s first unvisited neighbor, push it in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Visited Vertices  { A, B, C</a:t>
            </a:r>
            <a:r>
              <a:rPr lang="en-US" altLang="en-US" sz="2200" dirty="0">
                <a:solidFill>
                  <a:srgbClr val="FF3300"/>
                </a:solidFill>
              </a:rPr>
              <a:t> </a:t>
            </a:r>
            <a:r>
              <a:rPr lang="en-US" altLang="en-US" sz="22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Probing Vertices { </a:t>
            </a:r>
            <a:r>
              <a:rPr lang="en-US" altLang="en-US" sz="2200" dirty="0">
                <a:solidFill>
                  <a:srgbClr val="FF3300"/>
                </a:solidFill>
              </a:rPr>
              <a:t>A, B, C, D</a:t>
            </a:r>
            <a:r>
              <a:rPr lang="en-US" altLang="en-US" sz="2200" dirty="0"/>
              <a:t>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Unvisited Vertices { D, E, F }</a:t>
            </a:r>
            <a:endParaRPr lang="en-US" altLang="en-US" sz="2000" dirty="0"/>
          </a:p>
        </p:txBody>
      </p:sp>
      <p:sp>
        <p:nvSpPr>
          <p:cNvPr id="51205" name="Text Box 26">
            <a:extLst>
              <a:ext uri="{FF2B5EF4-FFF2-40B4-BE49-F238E27FC236}">
                <a16:creationId xmlns:a16="http://schemas.microsoft.com/office/drawing/2014/main" id="{9A6A2777-6B27-CD3E-E416-176FC79E3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1206" name="Line 43">
            <a:extLst>
              <a:ext uri="{FF2B5EF4-FFF2-40B4-BE49-F238E27FC236}">
                <a16:creationId xmlns:a16="http://schemas.microsoft.com/office/drawing/2014/main" id="{4130CEC6-D9D3-828D-302A-834FBD9A6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Line 44">
            <a:extLst>
              <a:ext uri="{FF2B5EF4-FFF2-40B4-BE49-F238E27FC236}">
                <a16:creationId xmlns:a16="http://schemas.microsoft.com/office/drawing/2014/main" id="{CA749639-FA1A-BE30-75A4-A0F0C7C98D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8" name="Line 45">
            <a:extLst>
              <a:ext uri="{FF2B5EF4-FFF2-40B4-BE49-F238E27FC236}">
                <a16:creationId xmlns:a16="http://schemas.microsoft.com/office/drawing/2014/main" id="{94482F0E-6D63-06B6-6604-101A52BDC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9" name="Line 46">
            <a:extLst>
              <a:ext uri="{FF2B5EF4-FFF2-40B4-BE49-F238E27FC236}">
                <a16:creationId xmlns:a16="http://schemas.microsoft.com/office/drawing/2014/main" id="{0396DBCC-7006-8CCB-C46B-869B4D5CD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0" name="Line 47">
            <a:extLst>
              <a:ext uri="{FF2B5EF4-FFF2-40B4-BE49-F238E27FC236}">
                <a16:creationId xmlns:a16="http://schemas.microsoft.com/office/drawing/2014/main" id="{3E460558-3479-7060-2EA6-960CD64A5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Line 48">
            <a:extLst>
              <a:ext uri="{FF2B5EF4-FFF2-40B4-BE49-F238E27FC236}">
                <a16:creationId xmlns:a16="http://schemas.microsoft.com/office/drawing/2014/main" id="{77D7ACC0-E629-5E6D-21D9-0C5BDB1A81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2" name="Line 49">
            <a:extLst>
              <a:ext uri="{FF2B5EF4-FFF2-40B4-BE49-F238E27FC236}">
                <a16:creationId xmlns:a16="http://schemas.microsoft.com/office/drawing/2014/main" id="{E2181137-1BB0-B4C0-4D18-78C1868E0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3" name="Line 50">
            <a:extLst>
              <a:ext uri="{FF2B5EF4-FFF2-40B4-BE49-F238E27FC236}">
                <a16:creationId xmlns:a16="http://schemas.microsoft.com/office/drawing/2014/main" id="{8C2747EE-79EB-5394-0FF5-396737A8B3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4" name="Oval 51">
            <a:extLst>
              <a:ext uri="{FF2B5EF4-FFF2-40B4-BE49-F238E27FC236}">
                <a16:creationId xmlns:a16="http://schemas.microsoft.com/office/drawing/2014/main" id="{ABDE6268-4962-5131-4A4B-7E1AF7B1A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1215" name="Oval 52">
            <a:extLst>
              <a:ext uri="{FF2B5EF4-FFF2-40B4-BE49-F238E27FC236}">
                <a16:creationId xmlns:a16="http://schemas.microsoft.com/office/drawing/2014/main" id="{0A3266BA-1450-8574-7442-3D868C0D1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1216" name="Oval 53">
            <a:extLst>
              <a:ext uri="{FF2B5EF4-FFF2-40B4-BE49-F238E27FC236}">
                <a16:creationId xmlns:a16="http://schemas.microsoft.com/office/drawing/2014/main" id="{EDF4366B-8E72-61BA-F495-586796D95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1217" name="Oval 54">
            <a:extLst>
              <a:ext uri="{FF2B5EF4-FFF2-40B4-BE49-F238E27FC236}">
                <a16:creationId xmlns:a16="http://schemas.microsoft.com/office/drawing/2014/main" id="{37B2C894-212B-4DCE-31C0-A02221793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1218" name="Oval 55">
            <a:extLst>
              <a:ext uri="{FF2B5EF4-FFF2-40B4-BE49-F238E27FC236}">
                <a16:creationId xmlns:a16="http://schemas.microsoft.com/office/drawing/2014/main" id="{58ACA881-804C-41E1-BB5C-5CFAC61CC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1219" name="Oval 56">
            <a:extLst>
              <a:ext uri="{FF2B5EF4-FFF2-40B4-BE49-F238E27FC236}">
                <a16:creationId xmlns:a16="http://schemas.microsoft.com/office/drawing/2014/main" id="{170B6050-647C-A380-9471-E75CDC90E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1220" name="Rectangle 57">
            <a:extLst>
              <a:ext uri="{FF2B5EF4-FFF2-40B4-BE49-F238E27FC236}">
                <a16:creationId xmlns:a16="http://schemas.microsoft.com/office/drawing/2014/main" id="{00C2B6E5-5D0F-154C-0239-C24C65DBD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1221" name="Rectangle 58">
            <a:extLst>
              <a:ext uri="{FF2B5EF4-FFF2-40B4-BE49-F238E27FC236}">
                <a16:creationId xmlns:a16="http://schemas.microsoft.com/office/drawing/2014/main" id="{E7E07615-F6E9-BBD2-65CB-A2FFE7B58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1222" name="Rectangle 59">
            <a:extLst>
              <a:ext uri="{FF2B5EF4-FFF2-40B4-BE49-F238E27FC236}">
                <a16:creationId xmlns:a16="http://schemas.microsoft.com/office/drawing/2014/main" id="{EF97FDAA-93DA-066B-38A9-1CF139108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1223" name="Rectangle 60">
            <a:extLst>
              <a:ext uri="{FF2B5EF4-FFF2-40B4-BE49-F238E27FC236}">
                <a16:creationId xmlns:a16="http://schemas.microsoft.com/office/drawing/2014/main" id="{8D88C14D-46F5-47D7-E4D3-23281C7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24" name="Rectangle 61">
            <a:extLst>
              <a:ext uri="{FF2B5EF4-FFF2-40B4-BE49-F238E27FC236}">
                <a16:creationId xmlns:a16="http://schemas.microsoft.com/office/drawing/2014/main" id="{C28FA5FE-9F07-B58F-9476-1A134E962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1225" name="Rectangle 62">
            <a:extLst>
              <a:ext uri="{FF2B5EF4-FFF2-40B4-BE49-F238E27FC236}">
                <a16:creationId xmlns:a16="http://schemas.microsoft.com/office/drawing/2014/main" id="{A667EF17-FAC3-DBC4-C5FE-2060BF4ED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26" name="Rectangle 63">
            <a:extLst>
              <a:ext uri="{FF2B5EF4-FFF2-40B4-BE49-F238E27FC236}">
                <a16:creationId xmlns:a16="http://schemas.microsoft.com/office/drawing/2014/main" id="{8F049212-C73E-19F3-3DEE-BBDB5EF4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27" name="Rectangle 64">
            <a:extLst>
              <a:ext uri="{FF2B5EF4-FFF2-40B4-BE49-F238E27FC236}">
                <a16:creationId xmlns:a16="http://schemas.microsoft.com/office/drawing/2014/main" id="{66F87DB5-C63C-EB06-6075-79BFAD4C9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1228" name="Rectangle 65">
            <a:extLst>
              <a:ext uri="{FF2B5EF4-FFF2-40B4-BE49-F238E27FC236}">
                <a16:creationId xmlns:a16="http://schemas.microsoft.com/office/drawing/2014/main" id="{571DB3D4-B8E1-C150-4F51-34AD9D2C4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1229" name="Rectangle 66">
            <a:extLst>
              <a:ext uri="{FF2B5EF4-FFF2-40B4-BE49-F238E27FC236}">
                <a16:creationId xmlns:a16="http://schemas.microsoft.com/office/drawing/2014/main" id="{26562D95-951B-70C1-DA3C-6F055C7B3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30" name="Rectangle 67">
            <a:extLst>
              <a:ext uri="{FF2B5EF4-FFF2-40B4-BE49-F238E27FC236}">
                <a16:creationId xmlns:a16="http://schemas.microsoft.com/office/drawing/2014/main" id="{9DF71F30-7197-5C3C-10AA-0A8BCD940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1231" name="Rectangle 68">
            <a:extLst>
              <a:ext uri="{FF2B5EF4-FFF2-40B4-BE49-F238E27FC236}">
                <a16:creationId xmlns:a16="http://schemas.microsoft.com/office/drawing/2014/main" id="{B345D3E7-B804-847A-9EF3-2FD203A45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32" name="AutoShape 69">
            <a:extLst>
              <a:ext uri="{FF2B5EF4-FFF2-40B4-BE49-F238E27FC236}">
                <a16:creationId xmlns:a16="http://schemas.microsoft.com/office/drawing/2014/main" id="{58CCAA8D-E52A-D0FC-03F2-995C4BC99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D71385B4-FE90-6E4E-3559-B8B480FEC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9BA8AC3-ABE0-F2C5-E236-16B5A960A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11">
            <a:extLst>
              <a:ext uri="{FF2B5EF4-FFF2-40B4-BE49-F238E27FC236}">
                <a16:creationId xmlns:a16="http://schemas.microsoft.com/office/drawing/2014/main" id="{90DF8752-36C7-F852-8B41-87CBE1464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72468"/>
            <a:ext cx="5247114" cy="2728332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Peek a vertex from stack, it is D,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Find D’s first unvisited neighbor, push it in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Visited Vertices  { A, B, C, D</a:t>
            </a:r>
            <a:r>
              <a:rPr lang="en-US" altLang="en-US" dirty="0">
                <a:solidFill>
                  <a:srgbClr val="FF3300"/>
                </a:solidFill>
              </a:rPr>
              <a:t> </a:t>
            </a:r>
            <a:r>
              <a:rPr lang="en-US" altLang="en-US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Probing Vertices { </a:t>
            </a:r>
            <a:r>
              <a:rPr lang="en-US" altLang="en-US" dirty="0">
                <a:solidFill>
                  <a:srgbClr val="FF3300"/>
                </a:solidFill>
              </a:rPr>
              <a:t>A, B, C, D, E</a:t>
            </a:r>
            <a:r>
              <a:rPr lang="en-US" altLang="en-US" dirty="0"/>
              <a:t>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Unvisited Vertices { E, F }</a:t>
            </a:r>
          </a:p>
        </p:txBody>
      </p:sp>
      <p:sp>
        <p:nvSpPr>
          <p:cNvPr id="52229" name="Text Box 57">
            <a:extLst>
              <a:ext uri="{FF2B5EF4-FFF2-40B4-BE49-F238E27FC236}">
                <a16:creationId xmlns:a16="http://schemas.microsoft.com/office/drawing/2014/main" id="{730812CD-CE6A-2FC9-3DE7-4301CA78A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2230" name="Line 58">
            <a:extLst>
              <a:ext uri="{FF2B5EF4-FFF2-40B4-BE49-F238E27FC236}">
                <a16:creationId xmlns:a16="http://schemas.microsoft.com/office/drawing/2014/main" id="{F3C870D5-0190-F285-C98E-F2AD002C7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1" name="Line 59">
            <a:extLst>
              <a:ext uri="{FF2B5EF4-FFF2-40B4-BE49-F238E27FC236}">
                <a16:creationId xmlns:a16="http://schemas.microsoft.com/office/drawing/2014/main" id="{3B6436ED-259B-3E99-BF1E-344233B115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2" name="Line 60">
            <a:extLst>
              <a:ext uri="{FF2B5EF4-FFF2-40B4-BE49-F238E27FC236}">
                <a16:creationId xmlns:a16="http://schemas.microsoft.com/office/drawing/2014/main" id="{37486957-28D9-B841-50F7-4DFD21D55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3" name="Line 61">
            <a:extLst>
              <a:ext uri="{FF2B5EF4-FFF2-40B4-BE49-F238E27FC236}">
                <a16:creationId xmlns:a16="http://schemas.microsoft.com/office/drawing/2014/main" id="{EFA3FC1F-4449-3B80-45DF-2C046D39F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4" name="Line 62">
            <a:extLst>
              <a:ext uri="{FF2B5EF4-FFF2-40B4-BE49-F238E27FC236}">
                <a16:creationId xmlns:a16="http://schemas.microsoft.com/office/drawing/2014/main" id="{35C99496-736B-6857-6A8A-6A214F979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5" name="Line 63">
            <a:extLst>
              <a:ext uri="{FF2B5EF4-FFF2-40B4-BE49-F238E27FC236}">
                <a16:creationId xmlns:a16="http://schemas.microsoft.com/office/drawing/2014/main" id="{07E64E28-D4FB-2D86-CF9D-CDC7C29AA8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6" name="Line 64">
            <a:extLst>
              <a:ext uri="{FF2B5EF4-FFF2-40B4-BE49-F238E27FC236}">
                <a16:creationId xmlns:a16="http://schemas.microsoft.com/office/drawing/2014/main" id="{6CE5671A-BFF9-EC83-130C-3CE5FB42C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7" name="Line 65">
            <a:extLst>
              <a:ext uri="{FF2B5EF4-FFF2-40B4-BE49-F238E27FC236}">
                <a16:creationId xmlns:a16="http://schemas.microsoft.com/office/drawing/2014/main" id="{81EC20A5-F2B1-8B20-A5A4-F6C31E70DC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8" name="Oval 66">
            <a:extLst>
              <a:ext uri="{FF2B5EF4-FFF2-40B4-BE49-F238E27FC236}">
                <a16:creationId xmlns:a16="http://schemas.microsoft.com/office/drawing/2014/main" id="{294BA6D4-CE5D-A889-A66B-A3328E3A9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2239" name="Oval 67">
            <a:extLst>
              <a:ext uri="{FF2B5EF4-FFF2-40B4-BE49-F238E27FC236}">
                <a16:creationId xmlns:a16="http://schemas.microsoft.com/office/drawing/2014/main" id="{C3ECE894-ACA0-F17B-76A9-B373BD4E0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2240" name="Oval 68">
            <a:extLst>
              <a:ext uri="{FF2B5EF4-FFF2-40B4-BE49-F238E27FC236}">
                <a16:creationId xmlns:a16="http://schemas.microsoft.com/office/drawing/2014/main" id="{A5F0AE2D-6EF9-3F34-0574-74BDB0FEA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2241" name="Oval 69">
            <a:extLst>
              <a:ext uri="{FF2B5EF4-FFF2-40B4-BE49-F238E27FC236}">
                <a16:creationId xmlns:a16="http://schemas.microsoft.com/office/drawing/2014/main" id="{5AE91F68-CECE-2715-35B1-9390B7E57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2242" name="Oval 70">
            <a:extLst>
              <a:ext uri="{FF2B5EF4-FFF2-40B4-BE49-F238E27FC236}">
                <a16:creationId xmlns:a16="http://schemas.microsoft.com/office/drawing/2014/main" id="{2E3BB6F5-4571-8089-0EBA-0E38F9AF3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2243" name="Oval 71">
            <a:extLst>
              <a:ext uri="{FF2B5EF4-FFF2-40B4-BE49-F238E27FC236}">
                <a16:creationId xmlns:a16="http://schemas.microsoft.com/office/drawing/2014/main" id="{F5E3B9BB-6D63-7FCE-2393-237F29C64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2244" name="Rectangle 72">
            <a:extLst>
              <a:ext uri="{FF2B5EF4-FFF2-40B4-BE49-F238E27FC236}">
                <a16:creationId xmlns:a16="http://schemas.microsoft.com/office/drawing/2014/main" id="{D4F9194E-95AA-B828-1DA5-E18A00232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2245" name="Rectangle 73">
            <a:extLst>
              <a:ext uri="{FF2B5EF4-FFF2-40B4-BE49-F238E27FC236}">
                <a16:creationId xmlns:a16="http://schemas.microsoft.com/office/drawing/2014/main" id="{58A4654B-770C-7DA2-1557-BC9038F69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2246" name="Rectangle 74">
            <a:extLst>
              <a:ext uri="{FF2B5EF4-FFF2-40B4-BE49-F238E27FC236}">
                <a16:creationId xmlns:a16="http://schemas.microsoft.com/office/drawing/2014/main" id="{A0C27226-AFB7-6675-0A65-8FF97C083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2247" name="Rectangle 75">
            <a:extLst>
              <a:ext uri="{FF2B5EF4-FFF2-40B4-BE49-F238E27FC236}">
                <a16:creationId xmlns:a16="http://schemas.microsoft.com/office/drawing/2014/main" id="{C308A3C1-354B-29BF-477E-62AAFB383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2248" name="Rectangle 76">
            <a:extLst>
              <a:ext uri="{FF2B5EF4-FFF2-40B4-BE49-F238E27FC236}">
                <a16:creationId xmlns:a16="http://schemas.microsoft.com/office/drawing/2014/main" id="{EA1E138F-D67C-86AA-55E4-EB04EEC04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2249" name="Rectangle 77">
            <a:extLst>
              <a:ext uri="{FF2B5EF4-FFF2-40B4-BE49-F238E27FC236}">
                <a16:creationId xmlns:a16="http://schemas.microsoft.com/office/drawing/2014/main" id="{A12646D4-56C3-E71D-E141-1773F16C5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50" name="Rectangle 78">
            <a:extLst>
              <a:ext uri="{FF2B5EF4-FFF2-40B4-BE49-F238E27FC236}">
                <a16:creationId xmlns:a16="http://schemas.microsoft.com/office/drawing/2014/main" id="{E02FE052-FB57-1A0E-0312-49DFF01F1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2251" name="Rectangle 79">
            <a:extLst>
              <a:ext uri="{FF2B5EF4-FFF2-40B4-BE49-F238E27FC236}">
                <a16:creationId xmlns:a16="http://schemas.microsoft.com/office/drawing/2014/main" id="{8C9B940F-7DB8-8867-69C1-E18E2EA77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2252" name="Rectangle 80">
            <a:extLst>
              <a:ext uri="{FF2B5EF4-FFF2-40B4-BE49-F238E27FC236}">
                <a16:creationId xmlns:a16="http://schemas.microsoft.com/office/drawing/2014/main" id="{F1260F01-20C8-6DE9-5A7C-2CEC2F7D0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2253" name="Rectangle 81">
            <a:extLst>
              <a:ext uri="{FF2B5EF4-FFF2-40B4-BE49-F238E27FC236}">
                <a16:creationId xmlns:a16="http://schemas.microsoft.com/office/drawing/2014/main" id="{1EC7396D-13CA-0875-20C1-ED2313D30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54" name="Rectangle 82">
            <a:extLst>
              <a:ext uri="{FF2B5EF4-FFF2-40B4-BE49-F238E27FC236}">
                <a16:creationId xmlns:a16="http://schemas.microsoft.com/office/drawing/2014/main" id="{0A1C98F6-7D26-DDBE-CF0E-6DC0B681B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2255" name="Rectangle 83">
            <a:extLst>
              <a:ext uri="{FF2B5EF4-FFF2-40B4-BE49-F238E27FC236}">
                <a16:creationId xmlns:a16="http://schemas.microsoft.com/office/drawing/2014/main" id="{A3FC1161-61A0-95BF-4564-2064250B9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56" name="AutoShape 84">
            <a:extLst>
              <a:ext uri="{FF2B5EF4-FFF2-40B4-BE49-F238E27FC236}">
                <a16:creationId xmlns:a16="http://schemas.microsoft.com/office/drawing/2014/main" id="{E18D852A-9997-D5C6-33ED-9227581E9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ED79F61E-1B99-B749-BCAC-2E516EDBB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DF44A21-4EBB-F53C-6011-CCDEC95FA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11">
            <a:extLst>
              <a:ext uri="{FF2B5EF4-FFF2-40B4-BE49-F238E27FC236}">
                <a16:creationId xmlns:a16="http://schemas.microsoft.com/office/drawing/2014/main" id="{784C5118-17E5-9E72-3CDB-9469776D2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599"/>
            <a:ext cx="5399514" cy="270974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E,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E’s first unvisited neighbor, no vertex found, Pop 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A, B, C, D</a:t>
            </a:r>
            <a:r>
              <a:rPr lang="en-US" altLang="en-US" sz="2000" dirty="0"/>
              <a:t>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F }</a:t>
            </a:r>
          </a:p>
        </p:txBody>
      </p:sp>
      <p:sp>
        <p:nvSpPr>
          <p:cNvPr id="53253" name="Text Box 49">
            <a:extLst>
              <a:ext uri="{FF2B5EF4-FFF2-40B4-BE49-F238E27FC236}">
                <a16:creationId xmlns:a16="http://schemas.microsoft.com/office/drawing/2014/main" id="{B18EFA53-DFB8-CC46-F2C9-BA9B9A172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3254" name="Line 50">
            <a:extLst>
              <a:ext uri="{FF2B5EF4-FFF2-40B4-BE49-F238E27FC236}">
                <a16:creationId xmlns:a16="http://schemas.microsoft.com/office/drawing/2014/main" id="{800FEDF1-22DC-576C-834A-3A2EF58C5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Line 51">
            <a:extLst>
              <a:ext uri="{FF2B5EF4-FFF2-40B4-BE49-F238E27FC236}">
                <a16:creationId xmlns:a16="http://schemas.microsoft.com/office/drawing/2014/main" id="{7F20B229-74EF-9F4A-C9EA-8A980DB452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Line 52">
            <a:extLst>
              <a:ext uri="{FF2B5EF4-FFF2-40B4-BE49-F238E27FC236}">
                <a16:creationId xmlns:a16="http://schemas.microsoft.com/office/drawing/2014/main" id="{2D7D2B5A-E113-2EB8-D23D-FB2A7C10BD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Line 53">
            <a:extLst>
              <a:ext uri="{FF2B5EF4-FFF2-40B4-BE49-F238E27FC236}">
                <a16:creationId xmlns:a16="http://schemas.microsoft.com/office/drawing/2014/main" id="{C4E8914B-3A8D-6072-666F-4E3A87C49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Line 54">
            <a:extLst>
              <a:ext uri="{FF2B5EF4-FFF2-40B4-BE49-F238E27FC236}">
                <a16:creationId xmlns:a16="http://schemas.microsoft.com/office/drawing/2014/main" id="{1A09793D-0D1C-C055-8F14-82A3868237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55">
            <a:extLst>
              <a:ext uri="{FF2B5EF4-FFF2-40B4-BE49-F238E27FC236}">
                <a16:creationId xmlns:a16="http://schemas.microsoft.com/office/drawing/2014/main" id="{79DD3C8D-F5A0-2D1A-4E76-04C2B96EDA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Line 56">
            <a:extLst>
              <a:ext uri="{FF2B5EF4-FFF2-40B4-BE49-F238E27FC236}">
                <a16:creationId xmlns:a16="http://schemas.microsoft.com/office/drawing/2014/main" id="{BA82AE76-1EF9-F2C4-B55A-EDE2F1284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1" name="Line 57">
            <a:extLst>
              <a:ext uri="{FF2B5EF4-FFF2-40B4-BE49-F238E27FC236}">
                <a16:creationId xmlns:a16="http://schemas.microsoft.com/office/drawing/2014/main" id="{14C00115-1298-7877-ECEA-A01D54C6F6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2" name="Oval 58">
            <a:extLst>
              <a:ext uri="{FF2B5EF4-FFF2-40B4-BE49-F238E27FC236}">
                <a16:creationId xmlns:a16="http://schemas.microsoft.com/office/drawing/2014/main" id="{743300E5-8A3A-0363-0457-91946D990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3263" name="Oval 59">
            <a:extLst>
              <a:ext uri="{FF2B5EF4-FFF2-40B4-BE49-F238E27FC236}">
                <a16:creationId xmlns:a16="http://schemas.microsoft.com/office/drawing/2014/main" id="{16B64F27-7580-8432-0332-A5B436ACD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3264" name="Oval 60">
            <a:extLst>
              <a:ext uri="{FF2B5EF4-FFF2-40B4-BE49-F238E27FC236}">
                <a16:creationId xmlns:a16="http://schemas.microsoft.com/office/drawing/2014/main" id="{4B8688AE-5FB6-03D3-F7AE-AEF40A075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3265" name="Oval 61">
            <a:extLst>
              <a:ext uri="{FF2B5EF4-FFF2-40B4-BE49-F238E27FC236}">
                <a16:creationId xmlns:a16="http://schemas.microsoft.com/office/drawing/2014/main" id="{250E15A5-5A72-1B11-030D-899507461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3266" name="Oval 62">
            <a:extLst>
              <a:ext uri="{FF2B5EF4-FFF2-40B4-BE49-F238E27FC236}">
                <a16:creationId xmlns:a16="http://schemas.microsoft.com/office/drawing/2014/main" id="{3F9D05C9-E56F-FF25-99F9-A9F89774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3267" name="Oval 63">
            <a:extLst>
              <a:ext uri="{FF2B5EF4-FFF2-40B4-BE49-F238E27FC236}">
                <a16:creationId xmlns:a16="http://schemas.microsoft.com/office/drawing/2014/main" id="{21E2B8B2-CD08-A4FC-5509-6C5BE6DEC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3268" name="Rectangle 64">
            <a:extLst>
              <a:ext uri="{FF2B5EF4-FFF2-40B4-BE49-F238E27FC236}">
                <a16:creationId xmlns:a16="http://schemas.microsoft.com/office/drawing/2014/main" id="{ABFE6426-164A-72B3-C776-A7667B381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3269" name="Rectangle 65">
            <a:extLst>
              <a:ext uri="{FF2B5EF4-FFF2-40B4-BE49-F238E27FC236}">
                <a16:creationId xmlns:a16="http://schemas.microsoft.com/office/drawing/2014/main" id="{D6C1F7F7-B28C-3A23-0639-F930F555B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3270" name="Rectangle 66">
            <a:extLst>
              <a:ext uri="{FF2B5EF4-FFF2-40B4-BE49-F238E27FC236}">
                <a16:creationId xmlns:a16="http://schemas.microsoft.com/office/drawing/2014/main" id="{604F0E12-C3CC-F04C-56AF-B372CC3FC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3271" name="Rectangle 67">
            <a:extLst>
              <a:ext uri="{FF2B5EF4-FFF2-40B4-BE49-F238E27FC236}">
                <a16:creationId xmlns:a16="http://schemas.microsoft.com/office/drawing/2014/main" id="{D4B3632D-2C49-F18F-891A-16A071892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3272" name="Rectangle 68">
            <a:extLst>
              <a:ext uri="{FF2B5EF4-FFF2-40B4-BE49-F238E27FC236}">
                <a16:creationId xmlns:a16="http://schemas.microsoft.com/office/drawing/2014/main" id="{6D136C16-F348-4624-B245-88E1C298A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3273" name="Rectangle 69">
            <a:extLst>
              <a:ext uri="{FF2B5EF4-FFF2-40B4-BE49-F238E27FC236}">
                <a16:creationId xmlns:a16="http://schemas.microsoft.com/office/drawing/2014/main" id="{83EE441E-F17C-1535-66E6-414E4094D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3274" name="Rectangle 70">
            <a:extLst>
              <a:ext uri="{FF2B5EF4-FFF2-40B4-BE49-F238E27FC236}">
                <a16:creationId xmlns:a16="http://schemas.microsoft.com/office/drawing/2014/main" id="{C4EC728D-323B-86B0-EB08-F7E0C6A5F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3275" name="Rectangle 71">
            <a:extLst>
              <a:ext uri="{FF2B5EF4-FFF2-40B4-BE49-F238E27FC236}">
                <a16:creationId xmlns:a16="http://schemas.microsoft.com/office/drawing/2014/main" id="{65A12C1F-9610-33F0-729F-E1E962D9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3276" name="Rectangle 72">
            <a:extLst>
              <a:ext uri="{FF2B5EF4-FFF2-40B4-BE49-F238E27FC236}">
                <a16:creationId xmlns:a16="http://schemas.microsoft.com/office/drawing/2014/main" id="{BB98E658-A06E-B151-3AEB-959411D6C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3277" name="Rectangle 73">
            <a:extLst>
              <a:ext uri="{FF2B5EF4-FFF2-40B4-BE49-F238E27FC236}">
                <a16:creationId xmlns:a16="http://schemas.microsoft.com/office/drawing/2014/main" id="{F8628D33-B7A4-5DA2-9B4C-1A500BA7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3278" name="Rectangle 74">
            <a:extLst>
              <a:ext uri="{FF2B5EF4-FFF2-40B4-BE49-F238E27FC236}">
                <a16:creationId xmlns:a16="http://schemas.microsoft.com/office/drawing/2014/main" id="{5A002489-3068-10F3-50C9-D60B5FB0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3279" name="Rectangle 75">
            <a:extLst>
              <a:ext uri="{FF2B5EF4-FFF2-40B4-BE49-F238E27FC236}">
                <a16:creationId xmlns:a16="http://schemas.microsoft.com/office/drawing/2014/main" id="{6CA16814-B5B8-33CF-953E-572CA74A5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3280" name="AutoShape 76">
            <a:extLst>
              <a:ext uri="{FF2B5EF4-FFF2-40B4-BE49-F238E27FC236}">
                <a16:creationId xmlns:a16="http://schemas.microsoft.com/office/drawing/2014/main" id="{27DA9981-2266-F9F4-AFE9-6E72B789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6B21AEBC-1B58-B609-CB61-548712AB9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832589C-D5C9-B4B0-A7D9-872143B29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>
            <a:extLst>
              <a:ext uri="{FF2B5EF4-FFF2-40B4-BE49-F238E27FC236}">
                <a16:creationId xmlns:a16="http://schemas.microsoft.com/office/drawing/2014/main" id="{4470B0FB-5E43-BD37-DB1B-E7259FFF6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600"/>
            <a:ext cx="5399514" cy="2286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D,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D’s first unvisited neighbor, push it in stack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A, B, C, D, F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F }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5E1DD2D3-0707-AE5D-AE1D-2AB3AE08F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66FF"/>
                </a:solidFill>
                <a:latin typeface="Times New Roman" panose="02020603050405020304" pitchFamily="18" charset="0"/>
              </a:rPr>
              <a:t>stack</a:t>
            </a:r>
          </a:p>
        </p:txBody>
      </p:sp>
      <p:sp>
        <p:nvSpPr>
          <p:cNvPr id="54278" name="Line 6">
            <a:extLst>
              <a:ext uri="{FF2B5EF4-FFF2-40B4-BE49-F238E27FC236}">
                <a16:creationId xmlns:a16="http://schemas.microsoft.com/office/drawing/2014/main" id="{DF16C78E-8FCE-1D46-EC77-5495ABC01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9" name="Line 7">
            <a:extLst>
              <a:ext uri="{FF2B5EF4-FFF2-40B4-BE49-F238E27FC236}">
                <a16:creationId xmlns:a16="http://schemas.microsoft.com/office/drawing/2014/main" id="{BA4ADF10-13EF-8BBF-4263-995E5EB5F9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0" name="Line 8">
            <a:extLst>
              <a:ext uri="{FF2B5EF4-FFF2-40B4-BE49-F238E27FC236}">
                <a16:creationId xmlns:a16="http://schemas.microsoft.com/office/drawing/2014/main" id="{86A58C65-8EE6-0CFB-8C29-30E70D425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1" name="Line 9">
            <a:extLst>
              <a:ext uri="{FF2B5EF4-FFF2-40B4-BE49-F238E27FC236}">
                <a16:creationId xmlns:a16="http://schemas.microsoft.com/office/drawing/2014/main" id="{B7C07133-389F-6381-ADD4-FB37A4E38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Line 10">
            <a:extLst>
              <a:ext uri="{FF2B5EF4-FFF2-40B4-BE49-F238E27FC236}">
                <a16:creationId xmlns:a16="http://schemas.microsoft.com/office/drawing/2014/main" id="{A4FB9B30-A63B-E49C-0B70-473E6318D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Line 11">
            <a:extLst>
              <a:ext uri="{FF2B5EF4-FFF2-40B4-BE49-F238E27FC236}">
                <a16:creationId xmlns:a16="http://schemas.microsoft.com/office/drawing/2014/main" id="{A70F2EAD-3C44-FB41-CF94-DFF4669706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Line 12">
            <a:extLst>
              <a:ext uri="{FF2B5EF4-FFF2-40B4-BE49-F238E27FC236}">
                <a16:creationId xmlns:a16="http://schemas.microsoft.com/office/drawing/2014/main" id="{A52D8B26-2410-21EF-70A4-6F7474EB01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5" name="Line 13">
            <a:extLst>
              <a:ext uri="{FF2B5EF4-FFF2-40B4-BE49-F238E27FC236}">
                <a16:creationId xmlns:a16="http://schemas.microsoft.com/office/drawing/2014/main" id="{F7EBB361-D487-94CA-DD2A-C2508E28EC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6" name="Oval 14">
            <a:extLst>
              <a:ext uri="{FF2B5EF4-FFF2-40B4-BE49-F238E27FC236}">
                <a16:creationId xmlns:a16="http://schemas.microsoft.com/office/drawing/2014/main" id="{1A06C04F-95AF-D956-90F8-834882798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4287" name="Oval 15">
            <a:extLst>
              <a:ext uri="{FF2B5EF4-FFF2-40B4-BE49-F238E27FC236}">
                <a16:creationId xmlns:a16="http://schemas.microsoft.com/office/drawing/2014/main" id="{A064FBB1-6B8C-1F3E-D7FE-9041FA303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4288" name="Oval 16">
            <a:extLst>
              <a:ext uri="{FF2B5EF4-FFF2-40B4-BE49-F238E27FC236}">
                <a16:creationId xmlns:a16="http://schemas.microsoft.com/office/drawing/2014/main" id="{F7CF0163-07D7-671C-5E08-DBB653084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4289" name="Oval 17">
            <a:extLst>
              <a:ext uri="{FF2B5EF4-FFF2-40B4-BE49-F238E27FC236}">
                <a16:creationId xmlns:a16="http://schemas.microsoft.com/office/drawing/2014/main" id="{090FC298-6371-7273-13B9-A2D38358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4290" name="Oval 18">
            <a:extLst>
              <a:ext uri="{FF2B5EF4-FFF2-40B4-BE49-F238E27FC236}">
                <a16:creationId xmlns:a16="http://schemas.microsoft.com/office/drawing/2014/main" id="{55DF68E9-4020-0C5F-7847-3B128C0CB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4291" name="Oval 19">
            <a:extLst>
              <a:ext uri="{FF2B5EF4-FFF2-40B4-BE49-F238E27FC236}">
                <a16:creationId xmlns:a16="http://schemas.microsoft.com/office/drawing/2014/main" id="{9C5252AB-74E6-7C9B-843D-7F53AD4E5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4292" name="Rectangle 20">
            <a:extLst>
              <a:ext uri="{FF2B5EF4-FFF2-40B4-BE49-F238E27FC236}">
                <a16:creationId xmlns:a16="http://schemas.microsoft.com/office/drawing/2014/main" id="{631B6550-7D99-DA5C-C312-EB7A38471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4293" name="Rectangle 21">
            <a:extLst>
              <a:ext uri="{FF2B5EF4-FFF2-40B4-BE49-F238E27FC236}">
                <a16:creationId xmlns:a16="http://schemas.microsoft.com/office/drawing/2014/main" id="{3895840C-2F18-3041-9E78-6047A6B59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4294" name="Rectangle 22">
            <a:extLst>
              <a:ext uri="{FF2B5EF4-FFF2-40B4-BE49-F238E27FC236}">
                <a16:creationId xmlns:a16="http://schemas.microsoft.com/office/drawing/2014/main" id="{0EEC2A3C-FA83-6CFE-7BDA-96808813C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4295" name="Rectangle 23">
            <a:extLst>
              <a:ext uri="{FF2B5EF4-FFF2-40B4-BE49-F238E27FC236}">
                <a16:creationId xmlns:a16="http://schemas.microsoft.com/office/drawing/2014/main" id="{B1A46225-E66B-F7FB-3DC6-454D6F5AD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4296" name="Rectangle 24">
            <a:extLst>
              <a:ext uri="{FF2B5EF4-FFF2-40B4-BE49-F238E27FC236}">
                <a16:creationId xmlns:a16="http://schemas.microsoft.com/office/drawing/2014/main" id="{120CBDCF-AE99-7EC1-04C8-9A9E9EA8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4297" name="Rectangle 25">
            <a:extLst>
              <a:ext uri="{FF2B5EF4-FFF2-40B4-BE49-F238E27FC236}">
                <a16:creationId xmlns:a16="http://schemas.microsoft.com/office/drawing/2014/main" id="{7E5504C8-BA14-1865-5495-4E22ED32E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4298" name="Rectangle 26">
            <a:extLst>
              <a:ext uri="{FF2B5EF4-FFF2-40B4-BE49-F238E27FC236}">
                <a16:creationId xmlns:a16="http://schemas.microsoft.com/office/drawing/2014/main" id="{6EE81BB4-0479-2EBE-CAD9-F5784C411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4299" name="Rectangle 27">
            <a:extLst>
              <a:ext uri="{FF2B5EF4-FFF2-40B4-BE49-F238E27FC236}">
                <a16:creationId xmlns:a16="http://schemas.microsoft.com/office/drawing/2014/main" id="{925CDECD-0BB4-3BFC-34AB-981A9A9FC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4300" name="Rectangle 28">
            <a:extLst>
              <a:ext uri="{FF2B5EF4-FFF2-40B4-BE49-F238E27FC236}">
                <a16:creationId xmlns:a16="http://schemas.microsoft.com/office/drawing/2014/main" id="{CFBFBE00-DD89-6489-E450-E5A8A8144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4301" name="Rectangle 29">
            <a:extLst>
              <a:ext uri="{FF2B5EF4-FFF2-40B4-BE49-F238E27FC236}">
                <a16:creationId xmlns:a16="http://schemas.microsoft.com/office/drawing/2014/main" id="{4A27A673-FD75-E488-58F1-3F2E58A21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4302" name="Rectangle 30">
            <a:extLst>
              <a:ext uri="{FF2B5EF4-FFF2-40B4-BE49-F238E27FC236}">
                <a16:creationId xmlns:a16="http://schemas.microsoft.com/office/drawing/2014/main" id="{81C3D27B-9EC6-A24A-9420-CB9C68C1C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4303" name="Rectangle 31">
            <a:extLst>
              <a:ext uri="{FF2B5EF4-FFF2-40B4-BE49-F238E27FC236}">
                <a16:creationId xmlns:a16="http://schemas.microsoft.com/office/drawing/2014/main" id="{906E8B0F-7711-9C0D-10CB-41F7EB316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4304" name="AutoShape 32">
            <a:extLst>
              <a:ext uri="{FF2B5EF4-FFF2-40B4-BE49-F238E27FC236}">
                <a16:creationId xmlns:a16="http://schemas.microsoft.com/office/drawing/2014/main" id="{EDAFBF93-D17C-4144-2677-30DA2E0F9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53E05731-88BF-C66F-BBC9-1209032C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2FDA68A-384D-0D74-87BB-CE77E97E7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>
            <a:extLst>
              <a:ext uri="{FF2B5EF4-FFF2-40B4-BE49-F238E27FC236}">
                <a16:creationId xmlns:a16="http://schemas.microsoft.com/office/drawing/2014/main" id="{C38338F1-99B3-0A49-8BDD-1D568276B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600"/>
            <a:ext cx="5399514" cy="276550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F,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F’s first unvisited neighbor, no vertex found, Pop 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E, F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A, B, C, D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165F6CDD-5663-39E2-1842-0D9F7ABFF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5302" name="Line 6">
            <a:extLst>
              <a:ext uri="{FF2B5EF4-FFF2-40B4-BE49-F238E27FC236}">
                <a16:creationId xmlns:a16="http://schemas.microsoft.com/office/drawing/2014/main" id="{530C3315-1D95-AB37-F412-C816E2D93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3" name="Line 7">
            <a:extLst>
              <a:ext uri="{FF2B5EF4-FFF2-40B4-BE49-F238E27FC236}">
                <a16:creationId xmlns:a16="http://schemas.microsoft.com/office/drawing/2014/main" id="{BB3BBC71-14FC-C029-32A5-3AD4581729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4" name="Line 8">
            <a:extLst>
              <a:ext uri="{FF2B5EF4-FFF2-40B4-BE49-F238E27FC236}">
                <a16:creationId xmlns:a16="http://schemas.microsoft.com/office/drawing/2014/main" id="{275C8F28-89ED-99D8-3478-FCA6B16D3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5" name="Line 9">
            <a:extLst>
              <a:ext uri="{FF2B5EF4-FFF2-40B4-BE49-F238E27FC236}">
                <a16:creationId xmlns:a16="http://schemas.microsoft.com/office/drawing/2014/main" id="{CEE49BC6-D38A-E995-9AE1-C260ED70C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6" name="Line 10">
            <a:extLst>
              <a:ext uri="{FF2B5EF4-FFF2-40B4-BE49-F238E27FC236}">
                <a16:creationId xmlns:a16="http://schemas.microsoft.com/office/drawing/2014/main" id="{4CC7301A-304E-57EB-3945-6169FDD9D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7" name="Line 11">
            <a:extLst>
              <a:ext uri="{FF2B5EF4-FFF2-40B4-BE49-F238E27FC236}">
                <a16:creationId xmlns:a16="http://schemas.microsoft.com/office/drawing/2014/main" id="{59399F81-5021-3346-B632-70DB686B34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8" name="Line 12">
            <a:extLst>
              <a:ext uri="{FF2B5EF4-FFF2-40B4-BE49-F238E27FC236}">
                <a16:creationId xmlns:a16="http://schemas.microsoft.com/office/drawing/2014/main" id="{0C55432C-EB67-BCE4-7E57-E5D2960C1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9" name="Line 13">
            <a:extLst>
              <a:ext uri="{FF2B5EF4-FFF2-40B4-BE49-F238E27FC236}">
                <a16:creationId xmlns:a16="http://schemas.microsoft.com/office/drawing/2014/main" id="{C95F4E80-8650-2B57-578A-412D94F5CB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0" name="Oval 14">
            <a:extLst>
              <a:ext uri="{FF2B5EF4-FFF2-40B4-BE49-F238E27FC236}">
                <a16:creationId xmlns:a16="http://schemas.microsoft.com/office/drawing/2014/main" id="{0AABF32D-5A24-2DCD-C94E-4BF14795B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5311" name="Oval 15">
            <a:extLst>
              <a:ext uri="{FF2B5EF4-FFF2-40B4-BE49-F238E27FC236}">
                <a16:creationId xmlns:a16="http://schemas.microsoft.com/office/drawing/2014/main" id="{D030AD41-6AB9-F700-8F7D-7D6EC9E38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5312" name="Oval 16">
            <a:extLst>
              <a:ext uri="{FF2B5EF4-FFF2-40B4-BE49-F238E27FC236}">
                <a16:creationId xmlns:a16="http://schemas.microsoft.com/office/drawing/2014/main" id="{DCF6595A-CB08-3C53-28C4-965AECB52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5313" name="Oval 17">
            <a:extLst>
              <a:ext uri="{FF2B5EF4-FFF2-40B4-BE49-F238E27FC236}">
                <a16:creationId xmlns:a16="http://schemas.microsoft.com/office/drawing/2014/main" id="{0137D815-7E42-2E9D-09EE-35C395A29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5314" name="Oval 18">
            <a:extLst>
              <a:ext uri="{FF2B5EF4-FFF2-40B4-BE49-F238E27FC236}">
                <a16:creationId xmlns:a16="http://schemas.microsoft.com/office/drawing/2014/main" id="{87CF8726-B775-BC58-1FD0-077E133A5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5315" name="Oval 19">
            <a:extLst>
              <a:ext uri="{FF2B5EF4-FFF2-40B4-BE49-F238E27FC236}">
                <a16:creationId xmlns:a16="http://schemas.microsoft.com/office/drawing/2014/main" id="{AC7DF667-15B7-8402-6988-D4FD2207E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5316" name="Rectangle 20">
            <a:extLst>
              <a:ext uri="{FF2B5EF4-FFF2-40B4-BE49-F238E27FC236}">
                <a16:creationId xmlns:a16="http://schemas.microsoft.com/office/drawing/2014/main" id="{45BB1959-F9FD-FD39-9FE5-76A07CC7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5317" name="Rectangle 21">
            <a:extLst>
              <a:ext uri="{FF2B5EF4-FFF2-40B4-BE49-F238E27FC236}">
                <a16:creationId xmlns:a16="http://schemas.microsoft.com/office/drawing/2014/main" id="{08E60BEB-FC79-85D4-2F46-197300C24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5318" name="Rectangle 22">
            <a:extLst>
              <a:ext uri="{FF2B5EF4-FFF2-40B4-BE49-F238E27FC236}">
                <a16:creationId xmlns:a16="http://schemas.microsoft.com/office/drawing/2014/main" id="{8FCFC1B4-D5D7-0D3D-6F78-CBA4154E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5319" name="Rectangle 23">
            <a:extLst>
              <a:ext uri="{FF2B5EF4-FFF2-40B4-BE49-F238E27FC236}">
                <a16:creationId xmlns:a16="http://schemas.microsoft.com/office/drawing/2014/main" id="{4CE25420-9EB0-3A33-532C-975C3735C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5320" name="Rectangle 24">
            <a:extLst>
              <a:ext uri="{FF2B5EF4-FFF2-40B4-BE49-F238E27FC236}">
                <a16:creationId xmlns:a16="http://schemas.microsoft.com/office/drawing/2014/main" id="{1D311E93-4473-373F-B105-A584AC6E5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5321" name="Rectangle 25">
            <a:extLst>
              <a:ext uri="{FF2B5EF4-FFF2-40B4-BE49-F238E27FC236}">
                <a16:creationId xmlns:a16="http://schemas.microsoft.com/office/drawing/2014/main" id="{506217E4-FF6D-6B84-B6AA-1BC0C5D2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5322" name="Rectangle 26">
            <a:extLst>
              <a:ext uri="{FF2B5EF4-FFF2-40B4-BE49-F238E27FC236}">
                <a16:creationId xmlns:a16="http://schemas.microsoft.com/office/drawing/2014/main" id="{A054D8F2-BFCE-F517-D204-E5B14A285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5323" name="Rectangle 27">
            <a:extLst>
              <a:ext uri="{FF2B5EF4-FFF2-40B4-BE49-F238E27FC236}">
                <a16:creationId xmlns:a16="http://schemas.microsoft.com/office/drawing/2014/main" id="{88FEF47E-B34C-705C-2C74-C70D8D89F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5324" name="Rectangle 28">
            <a:extLst>
              <a:ext uri="{FF2B5EF4-FFF2-40B4-BE49-F238E27FC236}">
                <a16:creationId xmlns:a16="http://schemas.microsoft.com/office/drawing/2014/main" id="{9E76032F-61FD-A39F-862B-9F1F530E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5325" name="Rectangle 29">
            <a:extLst>
              <a:ext uri="{FF2B5EF4-FFF2-40B4-BE49-F238E27FC236}">
                <a16:creationId xmlns:a16="http://schemas.microsoft.com/office/drawing/2014/main" id="{B849CFDE-05BA-EA7C-84CE-50234FC1F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5326" name="Rectangle 30">
            <a:extLst>
              <a:ext uri="{FF2B5EF4-FFF2-40B4-BE49-F238E27FC236}">
                <a16:creationId xmlns:a16="http://schemas.microsoft.com/office/drawing/2014/main" id="{EDC6BA0A-6190-5862-DA72-A3A7F8945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5327" name="Rectangle 31">
            <a:extLst>
              <a:ext uri="{FF2B5EF4-FFF2-40B4-BE49-F238E27FC236}">
                <a16:creationId xmlns:a16="http://schemas.microsoft.com/office/drawing/2014/main" id="{6F3861C1-A31B-F5EC-4C10-2E86B7EF4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5328" name="AutoShape 32">
            <a:extLst>
              <a:ext uri="{FF2B5EF4-FFF2-40B4-BE49-F238E27FC236}">
                <a16:creationId xmlns:a16="http://schemas.microsoft.com/office/drawing/2014/main" id="{C329CF23-9C68-168C-B4D2-05C57CF1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98257428-7E25-09C3-B2AA-A5850BD5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B65D61F-0CDF-B021-334B-0EB3844DC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>
            <a:extLst>
              <a:ext uri="{FF2B5EF4-FFF2-40B4-BE49-F238E27FC236}">
                <a16:creationId xmlns:a16="http://schemas.microsoft.com/office/drawing/2014/main" id="{7FF009DB-F1B6-3F26-0FB3-7ECC1B7E5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600"/>
            <a:ext cx="5399514" cy="277665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D,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D’s first unvisited neighbor, no vertex found, Pop 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E, F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A, B, C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56325" name="Text Box 5">
            <a:extLst>
              <a:ext uri="{FF2B5EF4-FFF2-40B4-BE49-F238E27FC236}">
                <a16:creationId xmlns:a16="http://schemas.microsoft.com/office/drawing/2014/main" id="{2357370C-1CF7-A5B6-630B-778E5A44E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6326" name="Line 6">
            <a:extLst>
              <a:ext uri="{FF2B5EF4-FFF2-40B4-BE49-F238E27FC236}">
                <a16:creationId xmlns:a16="http://schemas.microsoft.com/office/drawing/2014/main" id="{36214EB8-9476-ED41-63CA-BDD956E0E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7" name="Line 7">
            <a:extLst>
              <a:ext uri="{FF2B5EF4-FFF2-40B4-BE49-F238E27FC236}">
                <a16:creationId xmlns:a16="http://schemas.microsoft.com/office/drawing/2014/main" id="{EDA09C85-46F6-D553-EE69-9579B2EC7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8" name="Line 8">
            <a:extLst>
              <a:ext uri="{FF2B5EF4-FFF2-40B4-BE49-F238E27FC236}">
                <a16:creationId xmlns:a16="http://schemas.microsoft.com/office/drawing/2014/main" id="{BB7C8099-9BB4-E2A8-34DF-5363EED75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9" name="Line 9">
            <a:extLst>
              <a:ext uri="{FF2B5EF4-FFF2-40B4-BE49-F238E27FC236}">
                <a16:creationId xmlns:a16="http://schemas.microsoft.com/office/drawing/2014/main" id="{C8C2592A-4080-069F-7D7D-7A82BC52A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0" name="Line 10">
            <a:extLst>
              <a:ext uri="{FF2B5EF4-FFF2-40B4-BE49-F238E27FC236}">
                <a16:creationId xmlns:a16="http://schemas.microsoft.com/office/drawing/2014/main" id="{BA94118F-626A-C3C4-458C-2309C8F0A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1" name="Line 11">
            <a:extLst>
              <a:ext uri="{FF2B5EF4-FFF2-40B4-BE49-F238E27FC236}">
                <a16:creationId xmlns:a16="http://schemas.microsoft.com/office/drawing/2014/main" id="{748C8BB9-34E6-0C06-BD79-BD29BDB077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2" name="Line 12">
            <a:extLst>
              <a:ext uri="{FF2B5EF4-FFF2-40B4-BE49-F238E27FC236}">
                <a16:creationId xmlns:a16="http://schemas.microsoft.com/office/drawing/2014/main" id="{975EEB36-C72F-C185-EB34-102B42A0A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3" name="Line 13">
            <a:extLst>
              <a:ext uri="{FF2B5EF4-FFF2-40B4-BE49-F238E27FC236}">
                <a16:creationId xmlns:a16="http://schemas.microsoft.com/office/drawing/2014/main" id="{31CBBA7D-2292-79DD-0DDE-62A99B6DEF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4" name="Oval 14">
            <a:extLst>
              <a:ext uri="{FF2B5EF4-FFF2-40B4-BE49-F238E27FC236}">
                <a16:creationId xmlns:a16="http://schemas.microsoft.com/office/drawing/2014/main" id="{BBCCFABE-868E-F486-8782-2BDBBB5D7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6335" name="Oval 15">
            <a:extLst>
              <a:ext uri="{FF2B5EF4-FFF2-40B4-BE49-F238E27FC236}">
                <a16:creationId xmlns:a16="http://schemas.microsoft.com/office/drawing/2014/main" id="{D8DBB35A-3706-80D7-3922-29ECA300C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6336" name="Oval 16">
            <a:extLst>
              <a:ext uri="{FF2B5EF4-FFF2-40B4-BE49-F238E27FC236}">
                <a16:creationId xmlns:a16="http://schemas.microsoft.com/office/drawing/2014/main" id="{41A69A8D-16CE-CFE8-E1DD-3A98FA140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6337" name="Oval 17">
            <a:extLst>
              <a:ext uri="{FF2B5EF4-FFF2-40B4-BE49-F238E27FC236}">
                <a16:creationId xmlns:a16="http://schemas.microsoft.com/office/drawing/2014/main" id="{4485568E-1664-1628-4877-80EC17A53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6338" name="Oval 18">
            <a:extLst>
              <a:ext uri="{FF2B5EF4-FFF2-40B4-BE49-F238E27FC236}">
                <a16:creationId xmlns:a16="http://schemas.microsoft.com/office/drawing/2014/main" id="{2205E4DA-42A8-7C74-4068-2AF6D2B5E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6339" name="Oval 19">
            <a:extLst>
              <a:ext uri="{FF2B5EF4-FFF2-40B4-BE49-F238E27FC236}">
                <a16:creationId xmlns:a16="http://schemas.microsoft.com/office/drawing/2014/main" id="{04C493F1-8273-2637-771A-D7E097FCA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6340" name="Rectangle 20">
            <a:extLst>
              <a:ext uri="{FF2B5EF4-FFF2-40B4-BE49-F238E27FC236}">
                <a16:creationId xmlns:a16="http://schemas.microsoft.com/office/drawing/2014/main" id="{B41723DC-5FC6-14FA-8418-BFA51B005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41" name="Rectangle 21">
            <a:extLst>
              <a:ext uri="{FF2B5EF4-FFF2-40B4-BE49-F238E27FC236}">
                <a16:creationId xmlns:a16="http://schemas.microsoft.com/office/drawing/2014/main" id="{A7821E8A-A91A-3817-A827-450CBF187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6342" name="Rectangle 22">
            <a:extLst>
              <a:ext uri="{FF2B5EF4-FFF2-40B4-BE49-F238E27FC236}">
                <a16:creationId xmlns:a16="http://schemas.microsoft.com/office/drawing/2014/main" id="{A92E585A-B62E-ED8C-56FA-253F243FA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6343" name="Rectangle 23">
            <a:extLst>
              <a:ext uri="{FF2B5EF4-FFF2-40B4-BE49-F238E27FC236}">
                <a16:creationId xmlns:a16="http://schemas.microsoft.com/office/drawing/2014/main" id="{03791072-3411-80C5-42A4-12CF3867B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44" name="Rectangle 24">
            <a:extLst>
              <a:ext uri="{FF2B5EF4-FFF2-40B4-BE49-F238E27FC236}">
                <a16:creationId xmlns:a16="http://schemas.microsoft.com/office/drawing/2014/main" id="{CCC93851-A1B8-C859-CC96-CFA40C106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6345" name="Rectangle 25">
            <a:extLst>
              <a:ext uri="{FF2B5EF4-FFF2-40B4-BE49-F238E27FC236}">
                <a16:creationId xmlns:a16="http://schemas.microsoft.com/office/drawing/2014/main" id="{D2614484-32A0-C6FE-EB8B-B512DE6BB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46" name="Rectangle 26">
            <a:extLst>
              <a:ext uri="{FF2B5EF4-FFF2-40B4-BE49-F238E27FC236}">
                <a16:creationId xmlns:a16="http://schemas.microsoft.com/office/drawing/2014/main" id="{8F9B07BB-CE5C-352A-EAED-6892FBD4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6347" name="Rectangle 27">
            <a:extLst>
              <a:ext uri="{FF2B5EF4-FFF2-40B4-BE49-F238E27FC236}">
                <a16:creationId xmlns:a16="http://schemas.microsoft.com/office/drawing/2014/main" id="{875A0A77-92F0-265A-F0EC-D472B5AE7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6348" name="Rectangle 28">
            <a:extLst>
              <a:ext uri="{FF2B5EF4-FFF2-40B4-BE49-F238E27FC236}">
                <a16:creationId xmlns:a16="http://schemas.microsoft.com/office/drawing/2014/main" id="{58989F6B-8A94-2F96-32DD-5A49263C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6349" name="Rectangle 29">
            <a:extLst>
              <a:ext uri="{FF2B5EF4-FFF2-40B4-BE49-F238E27FC236}">
                <a16:creationId xmlns:a16="http://schemas.microsoft.com/office/drawing/2014/main" id="{FAF4C7DE-BBE8-6058-B8D7-731ED2E3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50" name="Rectangle 30">
            <a:extLst>
              <a:ext uri="{FF2B5EF4-FFF2-40B4-BE49-F238E27FC236}">
                <a16:creationId xmlns:a16="http://schemas.microsoft.com/office/drawing/2014/main" id="{FE651ECD-6DFC-7C7C-850F-0D8A19153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6351" name="Rectangle 31">
            <a:extLst>
              <a:ext uri="{FF2B5EF4-FFF2-40B4-BE49-F238E27FC236}">
                <a16:creationId xmlns:a16="http://schemas.microsoft.com/office/drawing/2014/main" id="{276DE517-2129-4FE6-E3AA-FC09C2A47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52" name="AutoShape 32">
            <a:extLst>
              <a:ext uri="{FF2B5EF4-FFF2-40B4-BE49-F238E27FC236}">
                <a16:creationId xmlns:a16="http://schemas.microsoft.com/office/drawing/2014/main" id="{B27D85CD-426B-AE08-01DD-F73F8E35F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19DADBE3-061B-2956-7714-BF2C181F6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79BF0C7-43DF-B47B-F630-7C7A8B2DD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>
            <a:extLst>
              <a:ext uri="{FF2B5EF4-FFF2-40B4-BE49-F238E27FC236}">
                <a16:creationId xmlns:a16="http://schemas.microsoft.com/office/drawing/2014/main" id="{2E8CF754-3157-A752-605D-2596C1FF1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600"/>
            <a:ext cx="5399514" cy="270974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C,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C’s first unvisited neighbor, no vertex found, Pop 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E, F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A, B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57349" name="Text Box 5">
            <a:extLst>
              <a:ext uri="{FF2B5EF4-FFF2-40B4-BE49-F238E27FC236}">
                <a16:creationId xmlns:a16="http://schemas.microsoft.com/office/drawing/2014/main" id="{D3E75B8B-11DD-B454-1AB9-8B6141AAE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7350" name="Line 6">
            <a:extLst>
              <a:ext uri="{FF2B5EF4-FFF2-40B4-BE49-F238E27FC236}">
                <a16:creationId xmlns:a16="http://schemas.microsoft.com/office/drawing/2014/main" id="{F9A9783B-BD58-A5BE-A10E-0D11DD35F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1" name="Line 7">
            <a:extLst>
              <a:ext uri="{FF2B5EF4-FFF2-40B4-BE49-F238E27FC236}">
                <a16:creationId xmlns:a16="http://schemas.microsoft.com/office/drawing/2014/main" id="{A56974A9-60DF-AA17-1ADE-7C749956A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2" name="Line 8">
            <a:extLst>
              <a:ext uri="{FF2B5EF4-FFF2-40B4-BE49-F238E27FC236}">
                <a16:creationId xmlns:a16="http://schemas.microsoft.com/office/drawing/2014/main" id="{71541A29-3D8D-5494-A64E-DAA416EEA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3" name="Line 9">
            <a:extLst>
              <a:ext uri="{FF2B5EF4-FFF2-40B4-BE49-F238E27FC236}">
                <a16:creationId xmlns:a16="http://schemas.microsoft.com/office/drawing/2014/main" id="{5F38AB41-4929-DD85-E849-B47208F9A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4" name="Line 10">
            <a:extLst>
              <a:ext uri="{FF2B5EF4-FFF2-40B4-BE49-F238E27FC236}">
                <a16:creationId xmlns:a16="http://schemas.microsoft.com/office/drawing/2014/main" id="{0D06CAC2-FA26-CCCC-238F-65283DAC4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Line 11">
            <a:extLst>
              <a:ext uri="{FF2B5EF4-FFF2-40B4-BE49-F238E27FC236}">
                <a16:creationId xmlns:a16="http://schemas.microsoft.com/office/drawing/2014/main" id="{E917BE0D-EF5D-128C-E396-366E1B1847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6" name="Line 12">
            <a:extLst>
              <a:ext uri="{FF2B5EF4-FFF2-40B4-BE49-F238E27FC236}">
                <a16:creationId xmlns:a16="http://schemas.microsoft.com/office/drawing/2014/main" id="{897FBE81-80F8-1832-C6B8-7CEED1C71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7" name="Line 13">
            <a:extLst>
              <a:ext uri="{FF2B5EF4-FFF2-40B4-BE49-F238E27FC236}">
                <a16:creationId xmlns:a16="http://schemas.microsoft.com/office/drawing/2014/main" id="{AD12E11E-17E3-18F3-2814-4DC70B45D3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8" name="Oval 14">
            <a:extLst>
              <a:ext uri="{FF2B5EF4-FFF2-40B4-BE49-F238E27FC236}">
                <a16:creationId xmlns:a16="http://schemas.microsoft.com/office/drawing/2014/main" id="{02AA1497-0888-2587-FC6C-FAFC056C5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7359" name="Oval 15">
            <a:extLst>
              <a:ext uri="{FF2B5EF4-FFF2-40B4-BE49-F238E27FC236}">
                <a16:creationId xmlns:a16="http://schemas.microsoft.com/office/drawing/2014/main" id="{68289077-1DBB-2FDC-3F58-3884B7426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7360" name="Oval 16">
            <a:extLst>
              <a:ext uri="{FF2B5EF4-FFF2-40B4-BE49-F238E27FC236}">
                <a16:creationId xmlns:a16="http://schemas.microsoft.com/office/drawing/2014/main" id="{3FF8B7F5-ABE8-98FF-CF72-96DCB25D2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7361" name="Oval 17">
            <a:extLst>
              <a:ext uri="{FF2B5EF4-FFF2-40B4-BE49-F238E27FC236}">
                <a16:creationId xmlns:a16="http://schemas.microsoft.com/office/drawing/2014/main" id="{49BC1806-A7C1-3AC5-B7F7-51F3C6B3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7362" name="Oval 18">
            <a:extLst>
              <a:ext uri="{FF2B5EF4-FFF2-40B4-BE49-F238E27FC236}">
                <a16:creationId xmlns:a16="http://schemas.microsoft.com/office/drawing/2014/main" id="{156E4F7A-7BA4-7A58-7BBF-9D208DEA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7363" name="Oval 19">
            <a:extLst>
              <a:ext uri="{FF2B5EF4-FFF2-40B4-BE49-F238E27FC236}">
                <a16:creationId xmlns:a16="http://schemas.microsoft.com/office/drawing/2014/main" id="{9CBBAA65-BCF6-0922-2E20-C4B615660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7364" name="Rectangle 20">
            <a:extLst>
              <a:ext uri="{FF2B5EF4-FFF2-40B4-BE49-F238E27FC236}">
                <a16:creationId xmlns:a16="http://schemas.microsoft.com/office/drawing/2014/main" id="{598A0498-F660-DBCC-B180-50E846519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65" name="Rectangle 21">
            <a:extLst>
              <a:ext uri="{FF2B5EF4-FFF2-40B4-BE49-F238E27FC236}">
                <a16:creationId xmlns:a16="http://schemas.microsoft.com/office/drawing/2014/main" id="{28E86BDA-FE09-2B41-1F4C-A6EBB6BBB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66" name="Rectangle 22">
            <a:extLst>
              <a:ext uri="{FF2B5EF4-FFF2-40B4-BE49-F238E27FC236}">
                <a16:creationId xmlns:a16="http://schemas.microsoft.com/office/drawing/2014/main" id="{BF696D83-EAEE-63A1-DEEE-11D85AA4C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7367" name="Rectangle 23">
            <a:extLst>
              <a:ext uri="{FF2B5EF4-FFF2-40B4-BE49-F238E27FC236}">
                <a16:creationId xmlns:a16="http://schemas.microsoft.com/office/drawing/2014/main" id="{61E2F3CD-DB37-086D-2538-34A53AD28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68" name="Rectangle 24">
            <a:extLst>
              <a:ext uri="{FF2B5EF4-FFF2-40B4-BE49-F238E27FC236}">
                <a16:creationId xmlns:a16="http://schemas.microsoft.com/office/drawing/2014/main" id="{A5AEE994-0BD7-07A9-3442-3638DF2E5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7369" name="Rectangle 25">
            <a:extLst>
              <a:ext uri="{FF2B5EF4-FFF2-40B4-BE49-F238E27FC236}">
                <a16:creationId xmlns:a16="http://schemas.microsoft.com/office/drawing/2014/main" id="{DBAB5FC9-A218-CD14-CEA3-5B7B89765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70" name="Rectangle 26">
            <a:extLst>
              <a:ext uri="{FF2B5EF4-FFF2-40B4-BE49-F238E27FC236}">
                <a16:creationId xmlns:a16="http://schemas.microsoft.com/office/drawing/2014/main" id="{4ABA6930-384C-DD41-F6FE-03E95633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71" name="Rectangle 27">
            <a:extLst>
              <a:ext uri="{FF2B5EF4-FFF2-40B4-BE49-F238E27FC236}">
                <a16:creationId xmlns:a16="http://schemas.microsoft.com/office/drawing/2014/main" id="{C2F9F977-A0C0-7F4B-FC67-E9ABE4E18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7372" name="Rectangle 28">
            <a:extLst>
              <a:ext uri="{FF2B5EF4-FFF2-40B4-BE49-F238E27FC236}">
                <a16:creationId xmlns:a16="http://schemas.microsoft.com/office/drawing/2014/main" id="{0E83A8BE-1F90-7ED4-5FB4-6D336B613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7373" name="Rectangle 29">
            <a:extLst>
              <a:ext uri="{FF2B5EF4-FFF2-40B4-BE49-F238E27FC236}">
                <a16:creationId xmlns:a16="http://schemas.microsoft.com/office/drawing/2014/main" id="{8AB0169D-FAEC-E110-17AE-4D4E43C9D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74" name="Rectangle 30">
            <a:extLst>
              <a:ext uri="{FF2B5EF4-FFF2-40B4-BE49-F238E27FC236}">
                <a16:creationId xmlns:a16="http://schemas.microsoft.com/office/drawing/2014/main" id="{B67AFB33-1201-5637-AEF1-ABEE990A9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7375" name="Rectangle 31">
            <a:extLst>
              <a:ext uri="{FF2B5EF4-FFF2-40B4-BE49-F238E27FC236}">
                <a16:creationId xmlns:a16="http://schemas.microsoft.com/office/drawing/2014/main" id="{6F487E78-753D-D59F-54F5-54E9AE5F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76" name="AutoShape 32">
            <a:extLst>
              <a:ext uri="{FF2B5EF4-FFF2-40B4-BE49-F238E27FC236}">
                <a16:creationId xmlns:a16="http://schemas.microsoft.com/office/drawing/2014/main" id="{A53C4566-0EE2-73DF-9C07-D4D943699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896B7C3E-5607-7F5F-26D3-BED32324D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6B22966-678F-167A-CE6D-DDB835A10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>
            <a:extLst>
              <a:ext uri="{FF2B5EF4-FFF2-40B4-BE49-F238E27FC236}">
                <a16:creationId xmlns:a16="http://schemas.microsoft.com/office/drawing/2014/main" id="{C56C098D-DE29-B555-B804-62367E318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600"/>
            <a:ext cx="5399514" cy="276550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B,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B’s first unvisited neighbor, no vertex found, Pop 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E, F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</a:t>
            </a:r>
            <a:r>
              <a:rPr lang="en-US" altLang="en-US" sz="2000" dirty="0">
                <a:solidFill>
                  <a:srgbClr val="FF3300"/>
                </a:solidFill>
              </a:rPr>
              <a:t>A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D6BC2001-5882-8EA5-FF27-4AB8FF8E9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8374" name="Line 6">
            <a:extLst>
              <a:ext uri="{FF2B5EF4-FFF2-40B4-BE49-F238E27FC236}">
                <a16:creationId xmlns:a16="http://schemas.microsoft.com/office/drawing/2014/main" id="{4509BD5F-7E0F-43BB-7600-9407DDCAC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5" name="Line 7">
            <a:extLst>
              <a:ext uri="{FF2B5EF4-FFF2-40B4-BE49-F238E27FC236}">
                <a16:creationId xmlns:a16="http://schemas.microsoft.com/office/drawing/2014/main" id="{ABF1AD01-3F04-FFD9-AF29-519124DCCF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6" name="Line 8">
            <a:extLst>
              <a:ext uri="{FF2B5EF4-FFF2-40B4-BE49-F238E27FC236}">
                <a16:creationId xmlns:a16="http://schemas.microsoft.com/office/drawing/2014/main" id="{8128EC0B-BAF7-5618-1889-F9EF4D983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7" name="Line 9">
            <a:extLst>
              <a:ext uri="{FF2B5EF4-FFF2-40B4-BE49-F238E27FC236}">
                <a16:creationId xmlns:a16="http://schemas.microsoft.com/office/drawing/2014/main" id="{05E112F8-EC18-6D37-D5A2-425A1A85D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8" name="Line 10">
            <a:extLst>
              <a:ext uri="{FF2B5EF4-FFF2-40B4-BE49-F238E27FC236}">
                <a16:creationId xmlns:a16="http://schemas.microsoft.com/office/drawing/2014/main" id="{6789A9D8-1135-6D8C-BC16-3E768257E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Line 11">
            <a:extLst>
              <a:ext uri="{FF2B5EF4-FFF2-40B4-BE49-F238E27FC236}">
                <a16:creationId xmlns:a16="http://schemas.microsoft.com/office/drawing/2014/main" id="{6E775959-A435-5BF5-9AE8-DC34913352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0" name="Line 12">
            <a:extLst>
              <a:ext uri="{FF2B5EF4-FFF2-40B4-BE49-F238E27FC236}">
                <a16:creationId xmlns:a16="http://schemas.microsoft.com/office/drawing/2014/main" id="{6263563B-F9E5-7891-F956-FEF1BD344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1" name="Line 13">
            <a:extLst>
              <a:ext uri="{FF2B5EF4-FFF2-40B4-BE49-F238E27FC236}">
                <a16:creationId xmlns:a16="http://schemas.microsoft.com/office/drawing/2014/main" id="{E36BA391-EEA6-68C4-A886-6F290CAA48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2" name="Oval 14">
            <a:extLst>
              <a:ext uri="{FF2B5EF4-FFF2-40B4-BE49-F238E27FC236}">
                <a16:creationId xmlns:a16="http://schemas.microsoft.com/office/drawing/2014/main" id="{95B5D9D1-66F6-599C-E58D-CCFAAED16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8383" name="Oval 15">
            <a:extLst>
              <a:ext uri="{FF2B5EF4-FFF2-40B4-BE49-F238E27FC236}">
                <a16:creationId xmlns:a16="http://schemas.microsoft.com/office/drawing/2014/main" id="{A12D53D2-5010-8F04-3DD8-CE51E3416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8384" name="Oval 16">
            <a:extLst>
              <a:ext uri="{FF2B5EF4-FFF2-40B4-BE49-F238E27FC236}">
                <a16:creationId xmlns:a16="http://schemas.microsoft.com/office/drawing/2014/main" id="{281BF79B-0516-8D6E-0911-18F08763A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8385" name="Oval 17">
            <a:extLst>
              <a:ext uri="{FF2B5EF4-FFF2-40B4-BE49-F238E27FC236}">
                <a16:creationId xmlns:a16="http://schemas.microsoft.com/office/drawing/2014/main" id="{E420D188-8168-6052-4867-B983A3F09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8386" name="Oval 18">
            <a:extLst>
              <a:ext uri="{FF2B5EF4-FFF2-40B4-BE49-F238E27FC236}">
                <a16:creationId xmlns:a16="http://schemas.microsoft.com/office/drawing/2014/main" id="{D43DE6A0-A4CF-94EC-DBCF-C17F4FFCE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8387" name="Oval 19">
            <a:extLst>
              <a:ext uri="{FF2B5EF4-FFF2-40B4-BE49-F238E27FC236}">
                <a16:creationId xmlns:a16="http://schemas.microsoft.com/office/drawing/2014/main" id="{408275DE-768B-4C55-DF4C-BFBEB38F0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8388" name="Rectangle 20">
            <a:extLst>
              <a:ext uri="{FF2B5EF4-FFF2-40B4-BE49-F238E27FC236}">
                <a16:creationId xmlns:a16="http://schemas.microsoft.com/office/drawing/2014/main" id="{DA80982B-2AC1-8719-05F6-30C8E1798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89" name="Rectangle 21">
            <a:extLst>
              <a:ext uri="{FF2B5EF4-FFF2-40B4-BE49-F238E27FC236}">
                <a16:creationId xmlns:a16="http://schemas.microsoft.com/office/drawing/2014/main" id="{9211BB21-4239-39F9-616D-97670152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0" name="Rectangle 22">
            <a:extLst>
              <a:ext uri="{FF2B5EF4-FFF2-40B4-BE49-F238E27FC236}">
                <a16:creationId xmlns:a16="http://schemas.microsoft.com/office/drawing/2014/main" id="{F16F75E6-B3C4-139F-1E1C-28AFDE2AB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1" name="Rectangle 23">
            <a:extLst>
              <a:ext uri="{FF2B5EF4-FFF2-40B4-BE49-F238E27FC236}">
                <a16:creationId xmlns:a16="http://schemas.microsoft.com/office/drawing/2014/main" id="{65A8F478-1B8A-F22F-6DFC-3B3E85A8C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2" name="Rectangle 24">
            <a:extLst>
              <a:ext uri="{FF2B5EF4-FFF2-40B4-BE49-F238E27FC236}">
                <a16:creationId xmlns:a16="http://schemas.microsoft.com/office/drawing/2014/main" id="{E84BCFC0-D15B-0B7A-3EB5-F0718B359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8393" name="Rectangle 25">
            <a:extLst>
              <a:ext uri="{FF2B5EF4-FFF2-40B4-BE49-F238E27FC236}">
                <a16:creationId xmlns:a16="http://schemas.microsoft.com/office/drawing/2014/main" id="{6CC48F73-11DE-CB1C-77AE-16BA9E334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4" name="Rectangle 26">
            <a:extLst>
              <a:ext uri="{FF2B5EF4-FFF2-40B4-BE49-F238E27FC236}">
                <a16:creationId xmlns:a16="http://schemas.microsoft.com/office/drawing/2014/main" id="{B06B9D3D-3107-CA00-1E76-C2CAB5470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5" name="Rectangle 27">
            <a:extLst>
              <a:ext uri="{FF2B5EF4-FFF2-40B4-BE49-F238E27FC236}">
                <a16:creationId xmlns:a16="http://schemas.microsoft.com/office/drawing/2014/main" id="{388E5639-6ED2-D264-CA4C-0AA5D33C2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6" name="Rectangle 28">
            <a:extLst>
              <a:ext uri="{FF2B5EF4-FFF2-40B4-BE49-F238E27FC236}">
                <a16:creationId xmlns:a16="http://schemas.microsoft.com/office/drawing/2014/main" id="{58BBD423-F9DB-7DAC-C42E-3DCCABED4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8397" name="Rectangle 29">
            <a:extLst>
              <a:ext uri="{FF2B5EF4-FFF2-40B4-BE49-F238E27FC236}">
                <a16:creationId xmlns:a16="http://schemas.microsoft.com/office/drawing/2014/main" id="{1FF05DF9-7A78-2CF2-698C-9FBD8644B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98" name="Rectangle 30">
            <a:extLst>
              <a:ext uri="{FF2B5EF4-FFF2-40B4-BE49-F238E27FC236}">
                <a16:creationId xmlns:a16="http://schemas.microsoft.com/office/drawing/2014/main" id="{41F1552E-C2A2-EF86-8148-1C970ED63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8399" name="Rectangle 31">
            <a:extLst>
              <a:ext uri="{FF2B5EF4-FFF2-40B4-BE49-F238E27FC236}">
                <a16:creationId xmlns:a16="http://schemas.microsoft.com/office/drawing/2014/main" id="{2657F282-C6F0-EB3C-84C9-99DF943D3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400" name="AutoShape 32">
            <a:extLst>
              <a:ext uri="{FF2B5EF4-FFF2-40B4-BE49-F238E27FC236}">
                <a16:creationId xmlns:a16="http://schemas.microsoft.com/office/drawing/2014/main" id="{B22A0873-18D6-7AA4-CB2D-1FE1DB94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66F52931-0634-1AF8-884C-1681D9345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2CC25C6-6084-AFBE-2110-D4A2CD65F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>
            <a:extLst>
              <a:ext uri="{FF2B5EF4-FFF2-40B4-BE49-F238E27FC236}">
                <a16:creationId xmlns:a16="http://schemas.microsoft.com/office/drawing/2014/main" id="{453A110C-B57B-3D4B-BAC2-410DBE289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599"/>
            <a:ext cx="5399514" cy="284356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Peek a vertex from stack, it is A,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A’s first unvisited neighbor, no vertex found, Pop 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A, B, C, D, E, F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</a:t>
            </a:r>
            <a:r>
              <a:rPr lang="en-US" altLang="en-US" sz="2000" dirty="0">
                <a:solidFill>
                  <a:srgbClr val="FF3300"/>
                </a:solidFill>
              </a:rPr>
              <a:t>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B3DE6497-28CE-5C1F-DC35-4F5F5D223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stack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59398" name="Line 6">
            <a:extLst>
              <a:ext uri="{FF2B5EF4-FFF2-40B4-BE49-F238E27FC236}">
                <a16:creationId xmlns:a16="http://schemas.microsoft.com/office/drawing/2014/main" id="{7A077D68-E9DA-07FA-9453-6850A1FBB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Line 7">
            <a:extLst>
              <a:ext uri="{FF2B5EF4-FFF2-40B4-BE49-F238E27FC236}">
                <a16:creationId xmlns:a16="http://schemas.microsoft.com/office/drawing/2014/main" id="{49A2684E-2213-51F1-0BBC-F33C2DAE33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0" name="Line 8">
            <a:extLst>
              <a:ext uri="{FF2B5EF4-FFF2-40B4-BE49-F238E27FC236}">
                <a16:creationId xmlns:a16="http://schemas.microsoft.com/office/drawing/2014/main" id="{C0C58AC8-F582-B196-3193-94FFC3517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Line 9">
            <a:extLst>
              <a:ext uri="{FF2B5EF4-FFF2-40B4-BE49-F238E27FC236}">
                <a16:creationId xmlns:a16="http://schemas.microsoft.com/office/drawing/2014/main" id="{3C877682-0F3C-ED1F-87F1-E167650C4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2" name="Line 10">
            <a:extLst>
              <a:ext uri="{FF2B5EF4-FFF2-40B4-BE49-F238E27FC236}">
                <a16:creationId xmlns:a16="http://schemas.microsoft.com/office/drawing/2014/main" id="{ACB86DBB-169A-BC1D-E8F5-7E2AA4E0A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Line 11">
            <a:extLst>
              <a:ext uri="{FF2B5EF4-FFF2-40B4-BE49-F238E27FC236}">
                <a16:creationId xmlns:a16="http://schemas.microsoft.com/office/drawing/2014/main" id="{838577A3-820A-C089-3C7A-479C66ED4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4" name="Line 12">
            <a:extLst>
              <a:ext uri="{FF2B5EF4-FFF2-40B4-BE49-F238E27FC236}">
                <a16:creationId xmlns:a16="http://schemas.microsoft.com/office/drawing/2014/main" id="{1899D1A6-5513-45ED-C483-DEBC28BF3D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5" name="Line 13">
            <a:extLst>
              <a:ext uri="{FF2B5EF4-FFF2-40B4-BE49-F238E27FC236}">
                <a16:creationId xmlns:a16="http://schemas.microsoft.com/office/drawing/2014/main" id="{0ECAA33C-E078-3A80-6A4A-65C1E85AFB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8B7EE8F4-B58F-A76C-72DE-84D34633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29EF7E0E-D0E4-0653-D195-0F8E164F6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5EF8B8E5-0E0E-DB71-5EAB-A30337873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6F5CDD06-F004-D5CF-91A4-D128E787B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9410" name="Oval 18">
            <a:extLst>
              <a:ext uri="{FF2B5EF4-FFF2-40B4-BE49-F238E27FC236}">
                <a16:creationId xmlns:a16="http://schemas.microsoft.com/office/drawing/2014/main" id="{F9BB76CB-AF15-523C-561C-B8B158539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9411" name="Oval 19">
            <a:extLst>
              <a:ext uri="{FF2B5EF4-FFF2-40B4-BE49-F238E27FC236}">
                <a16:creationId xmlns:a16="http://schemas.microsoft.com/office/drawing/2014/main" id="{23A3A525-52A9-D00C-58AA-4DB094A4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9412" name="Rectangle 20">
            <a:extLst>
              <a:ext uri="{FF2B5EF4-FFF2-40B4-BE49-F238E27FC236}">
                <a16:creationId xmlns:a16="http://schemas.microsoft.com/office/drawing/2014/main" id="{6A72116A-6E5E-980B-2768-952C2E489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13" name="Rectangle 21">
            <a:extLst>
              <a:ext uri="{FF2B5EF4-FFF2-40B4-BE49-F238E27FC236}">
                <a16:creationId xmlns:a16="http://schemas.microsoft.com/office/drawing/2014/main" id="{AA0E771F-CC15-D1AF-A938-AAD0E739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14" name="Rectangle 22">
            <a:extLst>
              <a:ext uri="{FF2B5EF4-FFF2-40B4-BE49-F238E27FC236}">
                <a16:creationId xmlns:a16="http://schemas.microsoft.com/office/drawing/2014/main" id="{634FC467-CA24-C524-7DEF-C39253D5D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15" name="Rectangle 23">
            <a:extLst>
              <a:ext uri="{FF2B5EF4-FFF2-40B4-BE49-F238E27FC236}">
                <a16:creationId xmlns:a16="http://schemas.microsoft.com/office/drawing/2014/main" id="{CA3E45DB-35E8-5A40-079E-118D82167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16" name="Rectangle 24">
            <a:extLst>
              <a:ext uri="{FF2B5EF4-FFF2-40B4-BE49-F238E27FC236}">
                <a16:creationId xmlns:a16="http://schemas.microsoft.com/office/drawing/2014/main" id="{427B381C-08D8-5261-1AF3-25B60D3F0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17" name="Rectangle 25">
            <a:extLst>
              <a:ext uri="{FF2B5EF4-FFF2-40B4-BE49-F238E27FC236}">
                <a16:creationId xmlns:a16="http://schemas.microsoft.com/office/drawing/2014/main" id="{268EE115-27EC-E2FB-B2B8-C21D2A085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18" name="Rectangle 26">
            <a:extLst>
              <a:ext uri="{FF2B5EF4-FFF2-40B4-BE49-F238E27FC236}">
                <a16:creationId xmlns:a16="http://schemas.microsoft.com/office/drawing/2014/main" id="{FD92D6CC-069F-FB90-86C2-7933F5331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19" name="Rectangle 27">
            <a:extLst>
              <a:ext uri="{FF2B5EF4-FFF2-40B4-BE49-F238E27FC236}">
                <a16:creationId xmlns:a16="http://schemas.microsoft.com/office/drawing/2014/main" id="{0AD4FEA9-6C40-B163-1D75-4F2E53BEC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20" name="Rectangle 28">
            <a:extLst>
              <a:ext uri="{FF2B5EF4-FFF2-40B4-BE49-F238E27FC236}">
                <a16:creationId xmlns:a16="http://schemas.microsoft.com/office/drawing/2014/main" id="{D8B8F3A5-AB2D-B233-274B-0A89AF615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21" name="Rectangle 29">
            <a:extLst>
              <a:ext uri="{FF2B5EF4-FFF2-40B4-BE49-F238E27FC236}">
                <a16:creationId xmlns:a16="http://schemas.microsoft.com/office/drawing/2014/main" id="{6D00E57E-8437-FFCF-586F-FA2E1548B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22" name="Rectangle 30">
            <a:extLst>
              <a:ext uri="{FF2B5EF4-FFF2-40B4-BE49-F238E27FC236}">
                <a16:creationId xmlns:a16="http://schemas.microsoft.com/office/drawing/2014/main" id="{E3B7D906-C6C4-BB63-A09A-FB1CCF70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9423" name="Rectangle 31">
            <a:extLst>
              <a:ext uri="{FF2B5EF4-FFF2-40B4-BE49-F238E27FC236}">
                <a16:creationId xmlns:a16="http://schemas.microsoft.com/office/drawing/2014/main" id="{15347CA6-539E-B73F-8713-F5BE69641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24" name="AutoShape 32">
            <a:extLst>
              <a:ext uri="{FF2B5EF4-FFF2-40B4-BE49-F238E27FC236}">
                <a16:creationId xmlns:a16="http://schemas.microsoft.com/office/drawing/2014/main" id="{68A05B65-761D-A9AB-2F6A-2AFFDB019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1816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C244F459-63EC-6E2E-38BE-374AC3E59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9FB46AD-2892-B238-896A-9BFD0C573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>
            <a:extLst>
              <a:ext uri="{FF2B5EF4-FFF2-40B4-BE49-F238E27FC236}">
                <a16:creationId xmlns:a16="http://schemas.microsoft.com/office/drawing/2014/main" id="{2EB54089-D7E5-ED5A-773A-D28E6A892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657600"/>
            <a:ext cx="5399514" cy="194031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Now probing list is empty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End of Depth First Traversal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Visited Vertices  { A, B, C, D, E, F</a:t>
            </a:r>
            <a:r>
              <a:rPr lang="en-US" altLang="en-US" sz="2400" dirty="0">
                <a:solidFill>
                  <a:srgbClr val="FF3300"/>
                </a:solidFill>
              </a:rPr>
              <a:t> </a:t>
            </a:r>
            <a:r>
              <a:rPr lang="en-US" altLang="en-US" sz="24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Probing Vertices {</a:t>
            </a:r>
            <a:r>
              <a:rPr lang="en-US" altLang="en-US" sz="2400" dirty="0">
                <a:solidFill>
                  <a:srgbClr val="FF3300"/>
                </a:solidFill>
              </a:rPr>
              <a:t> </a:t>
            </a:r>
            <a:r>
              <a:rPr lang="en-US" altLang="en-US" sz="24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Unvisited Vertices { }</a:t>
            </a: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46FB34E7-5448-6437-EC55-6348317C2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91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66FF"/>
                </a:solidFill>
                <a:latin typeface="Times New Roman" panose="02020603050405020304" pitchFamily="18" charset="0"/>
              </a:rPr>
              <a:t>stack</a:t>
            </a:r>
          </a:p>
        </p:txBody>
      </p:sp>
      <p:sp>
        <p:nvSpPr>
          <p:cNvPr id="60422" name="Line 6">
            <a:extLst>
              <a:ext uri="{FF2B5EF4-FFF2-40B4-BE49-F238E27FC236}">
                <a16:creationId xmlns:a16="http://schemas.microsoft.com/office/drawing/2014/main" id="{77D3466D-92FA-6948-ACF3-902A6A4C3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3" name="Line 7">
            <a:extLst>
              <a:ext uri="{FF2B5EF4-FFF2-40B4-BE49-F238E27FC236}">
                <a16:creationId xmlns:a16="http://schemas.microsoft.com/office/drawing/2014/main" id="{BDA36EA3-EA3C-4199-7C3E-51E01CF250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4" name="Line 8">
            <a:extLst>
              <a:ext uri="{FF2B5EF4-FFF2-40B4-BE49-F238E27FC236}">
                <a16:creationId xmlns:a16="http://schemas.microsoft.com/office/drawing/2014/main" id="{34240866-6430-C46C-78D7-D4E86F2C3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5" name="Line 9">
            <a:extLst>
              <a:ext uri="{FF2B5EF4-FFF2-40B4-BE49-F238E27FC236}">
                <a16:creationId xmlns:a16="http://schemas.microsoft.com/office/drawing/2014/main" id="{6F85EC82-2AE2-BE91-4A4C-EDE1F8999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6" name="Line 10">
            <a:extLst>
              <a:ext uri="{FF2B5EF4-FFF2-40B4-BE49-F238E27FC236}">
                <a16:creationId xmlns:a16="http://schemas.microsoft.com/office/drawing/2014/main" id="{C5F9676C-EA31-348D-DD89-AB983301E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Line 11">
            <a:extLst>
              <a:ext uri="{FF2B5EF4-FFF2-40B4-BE49-F238E27FC236}">
                <a16:creationId xmlns:a16="http://schemas.microsoft.com/office/drawing/2014/main" id="{225EA52B-E460-FFCE-BF17-38EEC4B511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8" name="Line 12">
            <a:extLst>
              <a:ext uri="{FF2B5EF4-FFF2-40B4-BE49-F238E27FC236}">
                <a16:creationId xmlns:a16="http://schemas.microsoft.com/office/drawing/2014/main" id="{2C3719C8-2ED3-2147-5817-9335120B8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9" name="Line 13">
            <a:extLst>
              <a:ext uri="{FF2B5EF4-FFF2-40B4-BE49-F238E27FC236}">
                <a16:creationId xmlns:a16="http://schemas.microsoft.com/office/drawing/2014/main" id="{328B0C0D-0C1C-F3C3-D814-B5E50A6389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Oval 14">
            <a:extLst>
              <a:ext uri="{FF2B5EF4-FFF2-40B4-BE49-F238E27FC236}">
                <a16:creationId xmlns:a16="http://schemas.microsoft.com/office/drawing/2014/main" id="{94735662-23CB-AB37-BCD3-BF331B25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0431" name="Oval 15">
            <a:extLst>
              <a:ext uri="{FF2B5EF4-FFF2-40B4-BE49-F238E27FC236}">
                <a16:creationId xmlns:a16="http://schemas.microsoft.com/office/drawing/2014/main" id="{032C5C8A-97C8-0A7E-3E90-908C90FD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0432" name="Oval 16">
            <a:extLst>
              <a:ext uri="{FF2B5EF4-FFF2-40B4-BE49-F238E27FC236}">
                <a16:creationId xmlns:a16="http://schemas.microsoft.com/office/drawing/2014/main" id="{1E5F85BA-49A8-0B2F-1E95-C275CF29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0433" name="Oval 17">
            <a:extLst>
              <a:ext uri="{FF2B5EF4-FFF2-40B4-BE49-F238E27FC236}">
                <a16:creationId xmlns:a16="http://schemas.microsoft.com/office/drawing/2014/main" id="{45D4B8AD-51C8-4EB8-8682-EBC7FD807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0434" name="Oval 18">
            <a:extLst>
              <a:ext uri="{FF2B5EF4-FFF2-40B4-BE49-F238E27FC236}">
                <a16:creationId xmlns:a16="http://schemas.microsoft.com/office/drawing/2014/main" id="{9387AF1B-4E42-BFBB-D9D5-1C2C10B1D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0435" name="Oval 19">
            <a:extLst>
              <a:ext uri="{FF2B5EF4-FFF2-40B4-BE49-F238E27FC236}">
                <a16:creationId xmlns:a16="http://schemas.microsoft.com/office/drawing/2014/main" id="{A67E4489-63A8-A43A-F972-BB80CEDF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0436" name="Rectangle 26">
            <a:extLst>
              <a:ext uri="{FF2B5EF4-FFF2-40B4-BE49-F238E27FC236}">
                <a16:creationId xmlns:a16="http://schemas.microsoft.com/office/drawing/2014/main" id="{A47D559E-A1DA-7027-BCB5-5D33FFF05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37" name="Rectangle 27">
            <a:extLst>
              <a:ext uri="{FF2B5EF4-FFF2-40B4-BE49-F238E27FC236}">
                <a16:creationId xmlns:a16="http://schemas.microsoft.com/office/drawing/2014/main" id="{24B08DB4-8652-6DB8-70EC-6C83B2DA1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8768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38" name="Rectangle 28">
            <a:extLst>
              <a:ext uri="{FF2B5EF4-FFF2-40B4-BE49-F238E27FC236}">
                <a16:creationId xmlns:a16="http://schemas.microsoft.com/office/drawing/2014/main" id="{8B0CC15E-0FBD-78BD-6CBC-FEAC1A6D5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1816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0439" name="Rectangle 29">
            <a:extLst>
              <a:ext uri="{FF2B5EF4-FFF2-40B4-BE49-F238E27FC236}">
                <a16:creationId xmlns:a16="http://schemas.microsoft.com/office/drawing/2014/main" id="{BA77090A-1EB9-1577-DB87-2BB3EC128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40" name="Rectangle 30">
            <a:extLst>
              <a:ext uri="{FF2B5EF4-FFF2-40B4-BE49-F238E27FC236}">
                <a16:creationId xmlns:a16="http://schemas.microsoft.com/office/drawing/2014/main" id="{62CAADF7-F25C-C22C-869D-0657B6677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86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41" name="Rectangle 31">
            <a:extLst>
              <a:ext uri="{FF2B5EF4-FFF2-40B4-BE49-F238E27FC236}">
                <a16:creationId xmlns:a16="http://schemas.microsoft.com/office/drawing/2014/main" id="{5D81C81F-813A-B4E2-5D52-29B772DE4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BD128BDA-E2A3-0BFC-8D55-BCC78F56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14CA077-36E1-421D-ADF5-667253D62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347" y="228600"/>
            <a:ext cx="866078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Depth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F5E5EF8-C9D0-1E58-619E-DEC61AD80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49827D9-8871-A36A-9316-5B9CC7C22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6" y="1071447"/>
            <a:ext cx="8675649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Probing List is implemented as queue (FIFO)</a:t>
            </a:r>
          </a:p>
          <a:p>
            <a:pPr eaLnBrk="1" hangingPunct="1"/>
            <a:r>
              <a:rPr lang="en-US" altLang="en-US" sz="2400" dirty="0"/>
              <a:t>Example</a:t>
            </a:r>
          </a:p>
          <a:p>
            <a:pPr lvl="1" eaLnBrk="1" hangingPunct="1"/>
            <a:r>
              <a:rPr lang="en-US" altLang="en-US" sz="2000" dirty="0"/>
              <a:t>A’s neighbor: B C E</a:t>
            </a:r>
          </a:p>
          <a:p>
            <a:pPr lvl="1" eaLnBrk="1" hangingPunct="1"/>
            <a:r>
              <a:rPr lang="en-US" altLang="en-US" sz="2000" dirty="0"/>
              <a:t>B’s neighbor: A C F</a:t>
            </a:r>
          </a:p>
          <a:p>
            <a:pPr lvl="1" eaLnBrk="1" hangingPunct="1"/>
            <a:r>
              <a:rPr lang="en-US" altLang="en-US" sz="2000" dirty="0"/>
              <a:t>C’s neighbor: A B D</a:t>
            </a:r>
          </a:p>
          <a:p>
            <a:pPr lvl="1" eaLnBrk="1" hangingPunct="1"/>
            <a:r>
              <a:rPr lang="en-US" altLang="en-US" sz="2000" dirty="0"/>
              <a:t>D’s neighbor: E C F</a:t>
            </a:r>
          </a:p>
          <a:p>
            <a:pPr lvl="1" eaLnBrk="1" hangingPunct="1"/>
            <a:r>
              <a:rPr lang="en-US" altLang="en-US" sz="2000" dirty="0"/>
              <a:t>E’s neighbor: A D</a:t>
            </a:r>
          </a:p>
          <a:p>
            <a:pPr lvl="1" eaLnBrk="1" hangingPunct="1"/>
            <a:r>
              <a:rPr lang="en-US" altLang="en-US" sz="2000" dirty="0"/>
              <a:t>F’s neighbor: B D</a:t>
            </a:r>
          </a:p>
          <a:p>
            <a:pPr lvl="1" eaLnBrk="1" hangingPunct="1"/>
            <a:r>
              <a:rPr lang="en-US" altLang="en-US" sz="2000" dirty="0">
                <a:solidFill>
                  <a:srgbClr val="FF3300"/>
                </a:solidFill>
              </a:rPr>
              <a:t>start from vertex A</a:t>
            </a:r>
          </a:p>
        </p:txBody>
      </p:sp>
      <p:sp>
        <p:nvSpPr>
          <p:cNvPr id="61444" name="Line 4">
            <a:extLst>
              <a:ext uri="{FF2B5EF4-FFF2-40B4-BE49-F238E27FC236}">
                <a16:creationId xmlns:a16="http://schemas.microsoft.com/office/drawing/2014/main" id="{4B2F59B5-C551-6E1C-EC26-1F867193A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8100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5" name="Line 5">
            <a:extLst>
              <a:ext uri="{FF2B5EF4-FFF2-40B4-BE49-F238E27FC236}">
                <a16:creationId xmlns:a16="http://schemas.microsoft.com/office/drawing/2014/main" id="{ADF184FA-7016-5250-6BD4-FA264691CE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30480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Line 6">
            <a:extLst>
              <a:ext uri="{FF2B5EF4-FFF2-40B4-BE49-F238E27FC236}">
                <a16:creationId xmlns:a16="http://schemas.microsoft.com/office/drawing/2014/main" id="{8EC38F5F-EE85-C5AA-9D94-44F0C0DEA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7432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7" name="Line 7">
            <a:extLst>
              <a:ext uri="{FF2B5EF4-FFF2-40B4-BE49-F238E27FC236}">
                <a16:creationId xmlns:a16="http://schemas.microsoft.com/office/drawing/2014/main" id="{5D41F317-0EF3-8DEB-FC05-BDD597E41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895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8" name="Line 8">
            <a:extLst>
              <a:ext uri="{FF2B5EF4-FFF2-40B4-BE49-F238E27FC236}">
                <a16:creationId xmlns:a16="http://schemas.microsoft.com/office/drawing/2014/main" id="{02543E2F-D791-943F-19E5-6DA75EBA0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7338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9" name="Line 9">
            <a:extLst>
              <a:ext uri="{FF2B5EF4-FFF2-40B4-BE49-F238E27FC236}">
                <a16:creationId xmlns:a16="http://schemas.microsoft.com/office/drawing/2014/main" id="{204ABF3D-4F8F-8332-D58E-F80D935E22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39624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0" name="Line 10">
            <a:extLst>
              <a:ext uri="{FF2B5EF4-FFF2-40B4-BE49-F238E27FC236}">
                <a16:creationId xmlns:a16="http://schemas.microsoft.com/office/drawing/2014/main" id="{A34C6B65-C3C8-B481-1FAD-F36DF434F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8862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Line 11">
            <a:extLst>
              <a:ext uri="{FF2B5EF4-FFF2-40B4-BE49-F238E27FC236}">
                <a16:creationId xmlns:a16="http://schemas.microsoft.com/office/drawing/2014/main" id="{FA40D907-057D-6702-504F-159E52BEDE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648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2" name="Oval 12">
            <a:extLst>
              <a:ext uri="{FF2B5EF4-FFF2-40B4-BE49-F238E27FC236}">
                <a16:creationId xmlns:a16="http://schemas.microsoft.com/office/drawing/2014/main" id="{6B893FBB-44A3-B2B8-7A53-58C2A310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1453" name="Oval 13">
            <a:extLst>
              <a:ext uri="{FF2B5EF4-FFF2-40B4-BE49-F238E27FC236}">
                <a16:creationId xmlns:a16="http://schemas.microsoft.com/office/drawing/2014/main" id="{10802075-1E69-8786-90F2-1DF0E0482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505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1454" name="Oval 14">
            <a:extLst>
              <a:ext uri="{FF2B5EF4-FFF2-40B4-BE49-F238E27FC236}">
                <a16:creationId xmlns:a16="http://schemas.microsoft.com/office/drawing/2014/main" id="{9A9FE1D1-6F85-52BF-2782-2D17860FD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6576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1455" name="Oval 15">
            <a:extLst>
              <a:ext uri="{FF2B5EF4-FFF2-40B4-BE49-F238E27FC236}">
                <a16:creationId xmlns:a16="http://schemas.microsoft.com/office/drawing/2014/main" id="{7E7AABE0-BE16-D403-3945-26958E2A8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581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1456" name="Oval 16">
            <a:extLst>
              <a:ext uri="{FF2B5EF4-FFF2-40B4-BE49-F238E27FC236}">
                <a16:creationId xmlns:a16="http://schemas.microsoft.com/office/drawing/2014/main" id="{E6E606D8-3D3D-E0E3-FCA5-D5A4AC10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4196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1457" name="Oval 17">
            <a:extLst>
              <a:ext uri="{FF2B5EF4-FFF2-40B4-BE49-F238E27FC236}">
                <a16:creationId xmlns:a16="http://schemas.microsoft.com/office/drawing/2014/main" id="{8EF6EF19-2F95-24C2-01E1-61A522335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343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2">
            <a:extLst>
              <a:ext uri="{FF2B5EF4-FFF2-40B4-BE49-F238E27FC236}">
                <a16:creationId xmlns:a16="http://schemas.microsoft.com/office/drawing/2014/main" id="{C313E90B-0E44-C9F1-F213-AB2CF5913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7" name="Line 3">
            <a:extLst>
              <a:ext uri="{FF2B5EF4-FFF2-40B4-BE49-F238E27FC236}">
                <a16:creationId xmlns:a16="http://schemas.microsoft.com/office/drawing/2014/main" id="{EEF41D82-E110-E297-2428-3377074A4D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8" name="Line 4">
            <a:extLst>
              <a:ext uri="{FF2B5EF4-FFF2-40B4-BE49-F238E27FC236}">
                <a16:creationId xmlns:a16="http://schemas.microsoft.com/office/drawing/2014/main" id="{C0A0F7A0-86EA-DE8F-ED58-912639934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9" name="Line 5">
            <a:extLst>
              <a:ext uri="{FF2B5EF4-FFF2-40B4-BE49-F238E27FC236}">
                <a16:creationId xmlns:a16="http://schemas.microsoft.com/office/drawing/2014/main" id="{FA5ACA87-69D9-490F-5341-E6CBAD76C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Line 6">
            <a:extLst>
              <a:ext uri="{FF2B5EF4-FFF2-40B4-BE49-F238E27FC236}">
                <a16:creationId xmlns:a16="http://schemas.microsoft.com/office/drawing/2014/main" id="{1682B872-CDBB-13E0-E2AC-A26D45632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1" name="Line 7">
            <a:extLst>
              <a:ext uri="{FF2B5EF4-FFF2-40B4-BE49-F238E27FC236}">
                <a16:creationId xmlns:a16="http://schemas.microsoft.com/office/drawing/2014/main" id="{BDE073D9-AB47-DC90-BC83-93740F8E8A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E85965D5-57B2-1E55-9912-5CA5B1B11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3" name="Line 9">
            <a:extLst>
              <a:ext uri="{FF2B5EF4-FFF2-40B4-BE49-F238E27FC236}">
                <a16:creationId xmlns:a16="http://schemas.microsoft.com/office/drawing/2014/main" id="{33231F92-9947-33DB-AE96-B80F0DC186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9FE84804-DCCE-9FB0-1B9A-C0FA4500C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581400"/>
            <a:ext cx="4628221" cy="2286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Initial State</a:t>
            </a:r>
          </a:p>
          <a:p>
            <a:pPr lvl="1" eaLnBrk="1" hangingPunct="1"/>
            <a:r>
              <a:rPr lang="en-US" altLang="en-US" sz="2000" dirty="0"/>
              <a:t>Visited Vertices  { }</a:t>
            </a:r>
          </a:p>
          <a:p>
            <a:pPr lvl="1" eaLnBrk="1" hangingPunct="1"/>
            <a:r>
              <a:rPr lang="en-US" altLang="en-US" sz="2000" dirty="0"/>
              <a:t>Probing Vertices { A }</a:t>
            </a:r>
          </a:p>
          <a:p>
            <a:pPr lvl="1" eaLnBrk="1" hangingPunct="1"/>
            <a:r>
              <a:rPr lang="en-US" altLang="en-US" sz="2000" dirty="0"/>
              <a:t>Unvisited Vertices { A, B, C, D, E, F }</a:t>
            </a:r>
          </a:p>
        </p:txBody>
      </p:sp>
      <p:sp>
        <p:nvSpPr>
          <p:cNvPr id="62476" name="Oval 12">
            <a:extLst>
              <a:ext uri="{FF2B5EF4-FFF2-40B4-BE49-F238E27FC236}">
                <a16:creationId xmlns:a16="http://schemas.microsoft.com/office/drawing/2014/main" id="{BE310FED-8730-D622-BE78-1386379AB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2477" name="Oval 13">
            <a:extLst>
              <a:ext uri="{FF2B5EF4-FFF2-40B4-BE49-F238E27FC236}">
                <a16:creationId xmlns:a16="http://schemas.microsoft.com/office/drawing/2014/main" id="{7AB10BB6-E3D2-0306-4DCC-23EBF6AB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2478" name="Oval 14">
            <a:extLst>
              <a:ext uri="{FF2B5EF4-FFF2-40B4-BE49-F238E27FC236}">
                <a16:creationId xmlns:a16="http://schemas.microsoft.com/office/drawing/2014/main" id="{5CB84FB7-9D5E-DF86-EF4B-3C26F3E6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2479" name="Oval 15">
            <a:extLst>
              <a:ext uri="{FF2B5EF4-FFF2-40B4-BE49-F238E27FC236}">
                <a16:creationId xmlns:a16="http://schemas.microsoft.com/office/drawing/2014/main" id="{1171F449-CCC6-483F-8C15-CBAF8711D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2480" name="Oval 16">
            <a:extLst>
              <a:ext uri="{FF2B5EF4-FFF2-40B4-BE49-F238E27FC236}">
                <a16:creationId xmlns:a16="http://schemas.microsoft.com/office/drawing/2014/main" id="{8F0FEC82-953B-1157-20B1-821779AB1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2481" name="Oval 17">
            <a:extLst>
              <a:ext uri="{FF2B5EF4-FFF2-40B4-BE49-F238E27FC236}">
                <a16:creationId xmlns:a16="http://schemas.microsoft.com/office/drawing/2014/main" id="{C1997091-A996-0972-8087-549DAF7D2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2483" name="Rectangle 19">
            <a:extLst>
              <a:ext uri="{FF2B5EF4-FFF2-40B4-BE49-F238E27FC236}">
                <a16:creationId xmlns:a16="http://schemas.microsoft.com/office/drawing/2014/main" id="{5EC5434F-1E1B-C495-610A-2F5BEC21D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84" name="Rectangle 20">
            <a:extLst>
              <a:ext uri="{FF2B5EF4-FFF2-40B4-BE49-F238E27FC236}">
                <a16:creationId xmlns:a16="http://schemas.microsoft.com/office/drawing/2014/main" id="{281EA0F2-4F08-B005-1CFB-5A0867255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85" name="Rectangle 21">
            <a:extLst>
              <a:ext uri="{FF2B5EF4-FFF2-40B4-BE49-F238E27FC236}">
                <a16:creationId xmlns:a16="http://schemas.microsoft.com/office/drawing/2014/main" id="{AAA9E3B9-2A3F-C612-3E98-14DED75AD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2486" name="Rectangle 22">
            <a:extLst>
              <a:ext uri="{FF2B5EF4-FFF2-40B4-BE49-F238E27FC236}">
                <a16:creationId xmlns:a16="http://schemas.microsoft.com/office/drawing/2014/main" id="{B4112685-54A0-A194-CC56-E134040BA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87" name="Rectangle 23">
            <a:extLst>
              <a:ext uri="{FF2B5EF4-FFF2-40B4-BE49-F238E27FC236}">
                <a16:creationId xmlns:a16="http://schemas.microsoft.com/office/drawing/2014/main" id="{38DEE485-BC2C-D076-8599-E2BB2FC20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88" name="Rectangle 24">
            <a:extLst>
              <a:ext uri="{FF2B5EF4-FFF2-40B4-BE49-F238E27FC236}">
                <a16:creationId xmlns:a16="http://schemas.microsoft.com/office/drawing/2014/main" id="{D6582D09-6AD4-2402-4D49-FF0DFDB49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89" name="Text Box 25">
            <a:extLst>
              <a:ext uri="{FF2B5EF4-FFF2-40B4-BE49-F238E27FC236}">
                <a16:creationId xmlns:a16="http://schemas.microsoft.com/office/drawing/2014/main" id="{2C7C82CB-808F-0FFC-98F8-3BCC7658D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029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0A774BD5-F699-F156-FFC7-73FA4589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97F378-25C6-C0FC-33E1-26F26353A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>
            <a:extLst>
              <a:ext uri="{FF2B5EF4-FFF2-40B4-BE49-F238E27FC236}">
                <a16:creationId xmlns:a16="http://schemas.microsoft.com/office/drawing/2014/main" id="{C1AF833D-1C3E-F1EB-07E1-287E87B96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1" name="Line 3">
            <a:extLst>
              <a:ext uri="{FF2B5EF4-FFF2-40B4-BE49-F238E27FC236}">
                <a16:creationId xmlns:a16="http://schemas.microsoft.com/office/drawing/2014/main" id="{3FBDA738-F7A0-DDE4-ADE2-AB05FEEF5C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2" name="Line 4">
            <a:extLst>
              <a:ext uri="{FF2B5EF4-FFF2-40B4-BE49-F238E27FC236}">
                <a16:creationId xmlns:a16="http://schemas.microsoft.com/office/drawing/2014/main" id="{F161DD8E-8058-2936-44A7-AAAD01F81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3" name="Line 5">
            <a:extLst>
              <a:ext uri="{FF2B5EF4-FFF2-40B4-BE49-F238E27FC236}">
                <a16:creationId xmlns:a16="http://schemas.microsoft.com/office/drawing/2014/main" id="{734B27BE-1537-EC2A-919C-73444B3A4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4" name="Line 6">
            <a:extLst>
              <a:ext uri="{FF2B5EF4-FFF2-40B4-BE49-F238E27FC236}">
                <a16:creationId xmlns:a16="http://schemas.microsoft.com/office/drawing/2014/main" id="{79B30B2C-EA2A-C68E-7E91-FBD5C1AC6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Line 7">
            <a:extLst>
              <a:ext uri="{FF2B5EF4-FFF2-40B4-BE49-F238E27FC236}">
                <a16:creationId xmlns:a16="http://schemas.microsoft.com/office/drawing/2014/main" id="{D9ABE7A6-DC3E-378F-A9E9-3E3A298F24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Line 8">
            <a:extLst>
              <a:ext uri="{FF2B5EF4-FFF2-40B4-BE49-F238E27FC236}">
                <a16:creationId xmlns:a16="http://schemas.microsoft.com/office/drawing/2014/main" id="{5B9FC43E-BA99-295C-356A-BCAEAF3E8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9">
            <a:extLst>
              <a:ext uri="{FF2B5EF4-FFF2-40B4-BE49-F238E27FC236}">
                <a16:creationId xmlns:a16="http://schemas.microsoft.com/office/drawing/2014/main" id="{759E60AD-C506-3988-4D14-7B46C45975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Rectangle 11">
            <a:extLst>
              <a:ext uri="{FF2B5EF4-FFF2-40B4-BE49-F238E27FC236}">
                <a16:creationId xmlns:a16="http://schemas.microsoft.com/office/drawing/2014/main" id="{AF4EB105-44C4-954A-7E4B-5252D1948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581399"/>
            <a:ext cx="5780514" cy="29420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Delete first vertex from queue, it is A,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A’s all unvisited neighbors, mark them as visited, put them into 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</a:t>
            </a:r>
            <a:r>
              <a:rPr lang="en-US" altLang="en-US" sz="2000" dirty="0">
                <a:solidFill>
                  <a:srgbClr val="FF3300"/>
                </a:solidFill>
              </a:rPr>
              <a:t>A, B, C, E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B, C, E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D, F }</a:t>
            </a:r>
          </a:p>
        </p:txBody>
      </p:sp>
      <p:sp>
        <p:nvSpPr>
          <p:cNvPr id="63500" name="Oval 12">
            <a:extLst>
              <a:ext uri="{FF2B5EF4-FFF2-40B4-BE49-F238E27FC236}">
                <a16:creationId xmlns:a16="http://schemas.microsoft.com/office/drawing/2014/main" id="{675D7766-431A-7481-5581-0376C21F9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3501" name="Oval 13">
            <a:extLst>
              <a:ext uri="{FF2B5EF4-FFF2-40B4-BE49-F238E27FC236}">
                <a16:creationId xmlns:a16="http://schemas.microsoft.com/office/drawing/2014/main" id="{3E9663FC-015D-6B1A-C895-14CFBC8C9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3502" name="Oval 14">
            <a:extLst>
              <a:ext uri="{FF2B5EF4-FFF2-40B4-BE49-F238E27FC236}">
                <a16:creationId xmlns:a16="http://schemas.microsoft.com/office/drawing/2014/main" id="{A7728DB9-5FB8-75C0-76E6-084C23475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3503" name="Oval 15">
            <a:extLst>
              <a:ext uri="{FF2B5EF4-FFF2-40B4-BE49-F238E27FC236}">
                <a16:creationId xmlns:a16="http://schemas.microsoft.com/office/drawing/2014/main" id="{F78964D8-CE91-780F-CA33-EDC4FD62B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3504" name="Oval 16">
            <a:extLst>
              <a:ext uri="{FF2B5EF4-FFF2-40B4-BE49-F238E27FC236}">
                <a16:creationId xmlns:a16="http://schemas.microsoft.com/office/drawing/2014/main" id="{D5F98AF6-15D3-105E-F7B1-7101A927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3505" name="Oval 17">
            <a:extLst>
              <a:ext uri="{FF2B5EF4-FFF2-40B4-BE49-F238E27FC236}">
                <a16:creationId xmlns:a16="http://schemas.microsoft.com/office/drawing/2014/main" id="{5A93A892-3EB3-9762-7EBB-97D141D1F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3507" name="Rectangle 19">
            <a:extLst>
              <a:ext uri="{FF2B5EF4-FFF2-40B4-BE49-F238E27FC236}">
                <a16:creationId xmlns:a16="http://schemas.microsoft.com/office/drawing/2014/main" id="{D5889146-113A-CCE8-42C6-42CE8AA1A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08" name="Rectangle 20">
            <a:extLst>
              <a:ext uri="{FF2B5EF4-FFF2-40B4-BE49-F238E27FC236}">
                <a16:creationId xmlns:a16="http://schemas.microsoft.com/office/drawing/2014/main" id="{FACDBD81-56A3-5410-7A9B-D7A9434D0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09" name="Rectangle 21">
            <a:extLst>
              <a:ext uri="{FF2B5EF4-FFF2-40B4-BE49-F238E27FC236}">
                <a16:creationId xmlns:a16="http://schemas.microsoft.com/office/drawing/2014/main" id="{77A63BA5-99BC-1D56-F79B-6BD708E25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3510" name="Rectangle 22">
            <a:extLst>
              <a:ext uri="{FF2B5EF4-FFF2-40B4-BE49-F238E27FC236}">
                <a16:creationId xmlns:a16="http://schemas.microsoft.com/office/drawing/2014/main" id="{87235C2F-D313-32B3-2D93-DADEF058B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11" name="Rectangle 23">
            <a:extLst>
              <a:ext uri="{FF2B5EF4-FFF2-40B4-BE49-F238E27FC236}">
                <a16:creationId xmlns:a16="http://schemas.microsoft.com/office/drawing/2014/main" id="{0CD125FA-5DBE-7C04-5F95-73F2C9CFB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12" name="Rectangle 24">
            <a:extLst>
              <a:ext uri="{FF2B5EF4-FFF2-40B4-BE49-F238E27FC236}">
                <a16:creationId xmlns:a16="http://schemas.microsoft.com/office/drawing/2014/main" id="{50532FE3-A760-6860-9F8F-776D6AF9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14" name="Rectangle 26">
            <a:extLst>
              <a:ext uri="{FF2B5EF4-FFF2-40B4-BE49-F238E27FC236}">
                <a16:creationId xmlns:a16="http://schemas.microsoft.com/office/drawing/2014/main" id="{A095FC89-7550-DB51-CAEE-1B9BCB680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15" name="Rectangle 27">
            <a:extLst>
              <a:ext uri="{FF2B5EF4-FFF2-40B4-BE49-F238E27FC236}">
                <a16:creationId xmlns:a16="http://schemas.microsoft.com/office/drawing/2014/main" id="{59612BDF-FF31-B7F7-59A5-677C1164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16" name="Rectangle 28">
            <a:extLst>
              <a:ext uri="{FF2B5EF4-FFF2-40B4-BE49-F238E27FC236}">
                <a16:creationId xmlns:a16="http://schemas.microsoft.com/office/drawing/2014/main" id="{BD6E748D-EF11-C322-E157-B051F5F66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3517" name="Rectangle 29">
            <a:extLst>
              <a:ext uri="{FF2B5EF4-FFF2-40B4-BE49-F238E27FC236}">
                <a16:creationId xmlns:a16="http://schemas.microsoft.com/office/drawing/2014/main" id="{FFDAF0C9-6BDD-66C5-7680-585E6056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3518" name="Rectangle 30">
            <a:extLst>
              <a:ext uri="{FF2B5EF4-FFF2-40B4-BE49-F238E27FC236}">
                <a16:creationId xmlns:a16="http://schemas.microsoft.com/office/drawing/2014/main" id="{7DC94E92-FC67-410E-A0C6-48495EBC7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3519" name="Rectangle 31">
            <a:extLst>
              <a:ext uri="{FF2B5EF4-FFF2-40B4-BE49-F238E27FC236}">
                <a16:creationId xmlns:a16="http://schemas.microsoft.com/office/drawing/2014/main" id="{5C792103-F1CB-03CC-08D8-B1F0C7284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3520" name="AutoShape 38">
            <a:extLst>
              <a:ext uri="{FF2B5EF4-FFF2-40B4-BE49-F238E27FC236}">
                <a16:creationId xmlns:a16="http://schemas.microsoft.com/office/drawing/2014/main" id="{BD342FFC-D1DA-C605-BEB5-19C138F2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0961AB01-906C-1092-AE45-439D4B594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FF1EDF-3D1E-82AF-F323-0FD3114E6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08E41DC2-CE0D-9F12-9007-0F9EF47C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2">
            <a:extLst>
              <a:ext uri="{FF2B5EF4-FFF2-40B4-BE49-F238E27FC236}">
                <a16:creationId xmlns:a16="http://schemas.microsoft.com/office/drawing/2014/main" id="{CF48A132-452A-690D-4BFE-CBAD631F0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5" name="Line 3">
            <a:extLst>
              <a:ext uri="{FF2B5EF4-FFF2-40B4-BE49-F238E27FC236}">
                <a16:creationId xmlns:a16="http://schemas.microsoft.com/office/drawing/2014/main" id="{B1688D01-B861-E9CC-094F-FFD2764C5F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6" name="Line 4">
            <a:extLst>
              <a:ext uri="{FF2B5EF4-FFF2-40B4-BE49-F238E27FC236}">
                <a16:creationId xmlns:a16="http://schemas.microsoft.com/office/drawing/2014/main" id="{67CBD611-AFCC-FA4A-ED2D-7C024F360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7" name="Line 5">
            <a:extLst>
              <a:ext uri="{FF2B5EF4-FFF2-40B4-BE49-F238E27FC236}">
                <a16:creationId xmlns:a16="http://schemas.microsoft.com/office/drawing/2014/main" id="{4019E4C3-1DAF-6D37-E77F-A88EF4AE7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8" name="Line 6">
            <a:extLst>
              <a:ext uri="{FF2B5EF4-FFF2-40B4-BE49-F238E27FC236}">
                <a16:creationId xmlns:a16="http://schemas.microsoft.com/office/drawing/2014/main" id="{5BAF4181-7D15-5E60-D6DC-6347C9AFA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9" name="Line 7">
            <a:extLst>
              <a:ext uri="{FF2B5EF4-FFF2-40B4-BE49-F238E27FC236}">
                <a16:creationId xmlns:a16="http://schemas.microsoft.com/office/drawing/2014/main" id="{3356E4F5-6073-BC5F-599E-0976823E29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0" name="Line 8">
            <a:extLst>
              <a:ext uri="{FF2B5EF4-FFF2-40B4-BE49-F238E27FC236}">
                <a16:creationId xmlns:a16="http://schemas.microsoft.com/office/drawing/2014/main" id="{67B83871-A5F9-CABB-9D63-6D73E1BF4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1" name="Line 9">
            <a:extLst>
              <a:ext uri="{FF2B5EF4-FFF2-40B4-BE49-F238E27FC236}">
                <a16:creationId xmlns:a16="http://schemas.microsoft.com/office/drawing/2014/main" id="{4007C46B-9731-30D9-12EA-BDF4C2B7FB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id="{00A2CF35-E7F6-3268-D852-342692D4E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581399"/>
            <a:ext cx="5780514" cy="3048001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Delete first vertex from queue, it is B,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B’s all unvisited neighbors, mark them as visited, put them into 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</a:t>
            </a:r>
            <a:r>
              <a:rPr lang="en-US" altLang="en-US" sz="2000" dirty="0">
                <a:solidFill>
                  <a:srgbClr val="FF3300"/>
                </a:solidFill>
              </a:rPr>
              <a:t>A, B, C, E, F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C, E, F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D }</a:t>
            </a:r>
          </a:p>
        </p:txBody>
      </p:sp>
      <p:sp>
        <p:nvSpPr>
          <p:cNvPr id="64524" name="Oval 12">
            <a:extLst>
              <a:ext uri="{FF2B5EF4-FFF2-40B4-BE49-F238E27FC236}">
                <a16:creationId xmlns:a16="http://schemas.microsoft.com/office/drawing/2014/main" id="{4EAC7A33-4D17-2747-1717-8F7974A29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4525" name="Oval 13">
            <a:extLst>
              <a:ext uri="{FF2B5EF4-FFF2-40B4-BE49-F238E27FC236}">
                <a16:creationId xmlns:a16="http://schemas.microsoft.com/office/drawing/2014/main" id="{D65A712D-EB6F-ABC1-72BB-8A8519F7F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4526" name="Oval 14">
            <a:extLst>
              <a:ext uri="{FF2B5EF4-FFF2-40B4-BE49-F238E27FC236}">
                <a16:creationId xmlns:a16="http://schemas.microsoft.com/office/drawing/2014/main" id="{ADE1419F-055D-C84B-23B1-5D75A00FE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4527" name="Oval 15">
            <a:extLst>
              <a:ext uri="{FF2B5EF4-FFF2-40B4-BE49-F238E27FC236}">
                <a16:creationId xmlns:a16="http://schemas.microsoft.com/office/drawing/2014/main" id="{DDA4688A-E166-8A3D-9D48-009AA6B42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4528" name="Oval 16">
            <a:extLst>
              <a:ext uri="{FF2B5EF4-FFF2-40B4-BE49-F238E27FC236}">
                <a16:creationId xmlns:a16="http://schemas.microsoft.com/office/drawing/2014/main" id="{BC2053F3-16AD-E015-18AD-D460422B6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4529" name="Oval 17">
            <a:extLst>
              <a:ext uri="{FF2B5EF4-FFF2-40B4-BE49-F238E27FC236}">
                <a16:creationId xmlns:a16="http://schemas.microsoft.com/office/drawing/2014/main" id="{25EA462A-94F2-A9DF-7CF5-492CFA8B8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4531" name="Rectangle 19">
            <a:extLst>
              <a:ext uri="{FF2B5EF4-FFF2-40B4-BE49-F238E27FC236}">
                <a16:creationId xmlns:a16="http://schemas.microsoft.com/office/drawing/2014/main" id="{F4C3D0CA-56FB-74D9-41FF-F8914CF8A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532" name="Rectangle 20">
            <a:extLst>
              <a:ext uri="{FF2B5EF4-FFF2-40B4-BE49-F238E27FC236}">
                <a16:creationId xmlns:a16="http://schemas.microsoft.com/office/drawing/2014/main" id="{C93C0323-06B2-D623-4793-4ADA48F77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533" name="Rectangle 21">
            <a:extLst>
              <a:ext uri="{FF2B5EF4-FFF2-40B4-BE49-F238E27FC236}">
                <a16:creationId xmlns:a16="http://schemas.microsoft.com/office/drawing/2014/main" id="{079C21E9-4DE0-F437-30BA-23EE959C8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4534" name="Rectangle 22">
            <a:extLst>
              <a:ext uri="{FF2B5EF4-FFF2-40B4-BE49-F238E27FC236}">
                <a16:creationId xmlns:a16="http://schemas.microsoft.com/office/drawing/2014/main" id="{0337775A-B297-CBBF-5D24-16B9AFDF9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4535" name="Rectangle 23">
            <a:extLst>
              <a:ext uri="{FF2B5EF4-FFF2-40B4-BE49-F238E27FC236}">
                <a16:creationId xmlns:a16="http://schemas.microsoft.com/office/drawing/2014/main" id="{138E12C4-AEB1-C599-CD4E-7C760DA85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536" name="Rectangle 24">
            <a:extLst>
              <a:ext uri="{FF2B5EF4-FFF2-40B4-BE49-F238E27FC236}">
                <a16:creationId xmlns:a16="http://schemas.microsoft.com/office/drawing/2014/main" id="{82E1D2D9-0AE9-A6FF-6C67-9033DC664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4538" name="Rectangle 26">
            <a:extLst>
              <a:ext uri="{FF2B5EF4-FFF2-40B4-BE49-F238E27FC236}">
                <a16:creationId xmlns:a16="http://schemas.microsoft.com/office/drawing/2014/main" id="{914B8AA6-D50B-3E14-7C91-1D74756D4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539" name="Rectangle 27">
            <a:extLst>
              <a:ext uri="{FF2B5EF4-FFF2-40B4-BE49-F238E27FC236}">
                <a16:creationId xmlns:a16="http://schemas.microsoft.com/office/drawing/2014/main" id="{8F9AE4EB-D133-1186-B828-2A269620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540" name="Rectangle 28">
            <a:extLst>
              <a:ext uri="{FF2B5EF4-FFF2-40B4-BE49-F238E27FC236}">
                <a16:creationId xmlns:a16="http://schemas.microsoft.com/office/drawing/2014/main" id="{A40A6F79-13EC-A765-1F18-7EADEE5C0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4541" name="Rectangle 29">
            <a:extLst>
              <a:ext uri="{FF2B5EF4-FFF2-40B4-BE49-F238E27FC236}">
                <a16:creationId xmlns:a16="http://schemas.microsoft.com/office/drawing/2014/main" id="{4E661C3B-0391-C757-6990-8DCC8410D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4542" name="Rectangle 30">
            <a:extLst>
              <a:ext uri="{FF2B5EF4-FFF2-40B4-BE49-F238E27FC236}">
                <a16:creationId xmlns:a16="http://schemas.microsoft.com/office/drawing/2014/main" id="{DE5B92FC-4E15-BFA1-42B2-B12E36E25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543" name="Rectangle 31">
            <a:extLst>
              <a:ext uri="{FF2B5EF4-FFF2-40B4-BE49-F238E27FC236}">
                <a16:creationId xmlns:a16="http://schemas.microsoft.com/office/drawing/2014/main" id="{F787D849-2819-D187-95F1-881C58009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4544" name="AutoShape 32">
            <a:extLst>
              <a:ext uri="{FF2B5EF4-FFF2-40B4-BE49-F238E27FC236}">
                <a16:creationId xmlns:a16="http://schemas.microsoft.com/office/drawing/2014/main" id="{DF9E5A3C-61FF-9C10-61CB-41E0A16B4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09F16828-0F58-EF76-F352-DBC8B7B76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A1A890-2939-A9AD-628C-9FD89F0FE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70EDBB4E-1F58-4D48-0FE2-1F3D5E65E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>
            <a:extLst>
              <a:ext uri="{FF2B5EF4-FFF2-40B4-BE49-F238E27FC236}">
                <a16:creationId xmlns:a16="http://schemas.microsoft.com/office/drawing/2014/main" id="{D945F58A-618F-35E7-006B-A8A391EE05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39" name="Line 3">
            <a:extLst>
              <a:ext uri="{FF2B5EF4-FFF2-40B4-BE49-F238E27FC236}">
                <a16:creationId xmlns:a16="http://schemas.microsoft.com/office/drawing/2014/main" id="{114BA418-E563-D1C8-028E-DF75663DB1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0" name="Line 4">
            <a:extLst>
              <a:ext uri="{FF2B5EF4-FFF2-40B4-BE49-F238E27FC236}">
                <a16:creationId xmlns:a16="http://schemas.microsoft.com/office/drawing/2014/main" id="{D035BF94-35C3-54B5-D5C7-934CA6578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1" name="Line 5">
            <a:extLst>
              <a:ext uri="{FF2B5EF4-FFF2-40B4-BE49-F238E27FC236}">
                <a16:creationId xmlns:a16="http://schemas.microsoft.com/office/drawing/2014/main" id="{A99C4357-3CC7-84BF-F915-F2111E5B4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2" name="Line 6">
            <a:extLst>
              <a:ext uri="{FF2B5EF4-FFF2-40B4-BE49-F238E27FC236}">
                <a16:creationId xmlns:a16="http://schemas.microsoft.com/office/drawing/2014/main" id="{7183F4B8-21CC-F623-B417-06FBEDB71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Line 7">
            <a:extLst>
              <a:ext uri="{FF2B5EF4-FFF2-40B4-BE49-F238E27FC236}">
                <a16:creationId xmlns:a16="http://schemas.microsoft.com/office/drawing/2014/main" id="{E780B83C-3AE6-E648-9232-5D6228906E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4" name="Line 8">
            <a:extLst>
              <a:ext uri="{FF2B5EF4-FFF2-40B4-BE49-F238E27FC236}">
                <a16:creationId xmlns:a16="http://schemas.microsoft.com/office/drawing/2014/main" id="{F0F4CFC4-F563-A1DB-6566-23C26A238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5" name="Line 9">
            <a:extLst>
              <a:ext uri="{FF2B5EF4-FFF2-40B4-BE49-F238E27FC236}">
                <a16:creationId xmlns:a16="http://schemas.microsoft.com/office/drawing/2014/main" id="{2EE5AC90-1680-811F-9D9E-AF4E903577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Rectangle 11">
            <a:extLst>
              <a:ext uri="{FF2B5EF4-FFF2-40B4-BE49-F238E27FC236}">
                <a16:creationId xmlns:a16="http://schemas.microsoft.com/office/drawing/2014/main" id="{4B52C442-4E52-1420-8ADB-0CD298FBF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581400"/>
            <a:ext cx="5780514" cy="3048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Delete first vertex from queue, it is C,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C’s all unvisited neighbors, mark them as visited, put them into 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</a:t>
            </a:r>
            <a:r>
              <a:rPr lang="en-US" altLang="en-US" sz="2000" dirty="0">
                <a:solidFill>
                  <a:srgbClr val="FF3300"/>
                </a:solidFill>
              </a:rPr>
              <a:t>A, B, C, E, F, D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E, F, D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65548" name="Oval 12">
            <a:extLst>
              <a:ext uri="{FF2B5EF4-FFF2-40B4-BE49-F238E27FC236}">
                <a16:creationId xmlns:a16="http://schemas.microsoft.com/office/drawing/2014/main" id="{F7A33B86-720F-D112-6548-5A911513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5549" name="Oval 13">
            <a:extLst>
              <a:ext uri="{FF2B5EF4-FFF2-40B4-BE49-F238E27FC236}">
                <a16:creationId xmlns:a16="http://schemas.microsoft.com/office/drawing/2014/main" id="{DCF2D16D-C491-44D3-9E58-B72922717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5550" name="Oval 14">
            <a:extLst>
              <a:ext uri="{FF2B5EF4-FFF2-40B4-BE49-F238E27FC236}">
                <a16:creationId xmlns:a16="http://schemas.microsoft.com/office/drawing/2014/main" id="{65D3175D-C98B-E299-91EF-71145AABC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5551" name="Oval 15">
            <a:extLst>
              <a:ext uri="{FF2B5EF4-FFF2-40B4-BE49-F238E27FC236}">
                <a16:creationId xmlns:a16="http://schemas.microsoft.com/office/drawing/2014/main" id="{C129D8AA-7EFA-DFB9-F276-E410333EC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5552" name="Oval 16">
            <a:extLst>
              <a:ext uri="{FF2B5EF4-FFF2-40B4-BE49-F238E27FC236}">
                <a16:creationId xmlns:a16="http://schemas.microsoft.com/office/drawing/2014/main" id="{806EB547-6260-2FD6-C0CD-A2B6AC708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5553" name="Oval 17">
            <a:extLst>
              <a:ext uri="{FF2B5EF4-FFF2-40B4-BE49-F238E27FC236}">
                <a16:creationId xmlns:a16="http://schemas.microsoft.com/office/drawing/2014/main" id="{83EA1FF3-9EDB-BC59-8444-5DE04B3E5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5555" name="Rectangle 19">
            <a:extLst>
              <a:ext uri="{FF2B5EF4-FFF2-40B4-BE49-F238E27FC236}">
                <a16:creationId xmlns:a16="http://schemas.microsoft.com/office/drawing/2014/main" id="{878E1DB4-E1B2-C8ED-225D-FC8C34691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56" name="Rectangle 20">
            <a:extLst>
              <a:ext uri="{FF2B5EF4-FFF2-40B4-BE49-F238E27FC236}">
                <a16:creationId xmlns:a16="http://schemas.microsoft.com/office/drawing/2014/main" id="{05033532-17AD-1545-1C90-DCAF8C181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57" name="Rectangle 21">
            <a:extLst>
              <a:ext uri="{FF2B5EF4-FFF2-40B4-BE49-F238E27FC236}">
                <a16:creationId xmlns:a16="http://schemas.microsoft.com/office/drawing/2014/main" id="{1423696C-5960-8DBE-D410-D1382B29C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5558" name="Rectangle 22">
            <a:extLst>
              <a:ext uri="{FF2B5EF4-FFF2-40B4-BE49-F238E27FC236}">
                <a16:creationId xmlns:a16="http://schemas.microsoft.com/office/drawing/2014/main" id="{D2506DA5-3C33-04A3-F223-3F0DC586F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5559" name="Rectangle 23">
            <a:extLst>
              <a:ext uri="{FF2B5EF4-FFF2-40B4-BE49-F238E27FC236}">
                <a16:creationId xmlns:a16="http://schemas.microsoft.com/office/drawing/2014/main" id="{959B66EA-BEFF-2536-DFF6-8DC59202A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60" name="Rectangle 24">
            <a:extLst>
              <a:ext uri="{FF2B5EF4-FFF2-40B4-BE49-F238E27FC236}">
                <a16:creationId xmlns:a16="http://schemas.microsoft.com/office/drawing/2014/main" id="{5AE3EB90-9742-495A-5871-CF893C0FA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5562" name="Rectangle 26">
            <a:extLst>
              <a:ext uri="{FF2B5EF4-FFF2-40B4-BE49-F238E27FC236}">
                <a16:creationId xmlns:a16="http://schemas.microsoft.com/office/drawing/2014/main" id="{0ED0C727-23D2-CC63-6783-767EE8F6E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63" name="Rectangle 27">
            <a:extLst>
              <a:ext uri="{FF2B5EF4-FFF2-40B4-BE49-F238E27FC236}">
                <a16:creationId xmlns:a16="http://schemas.microsoft.com/office/drawing/2014/main" id="{9B993564-B5FE-9C45-443B-7A1F2B302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64" name="Rectangle 28">
            <a:extLst>
              <a:ext uri="{FF2B5EF4-FFF2-40B4-BE49-F238E27FC236}">
                <a16:creationId xmlns:a16="http://schemas.microsoft.com/office/drawing/2014/main" id="{14BAFB4B-5B11-DEF3-3329-CFB7FE6B7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5565" name="Rectangle 29">
            <a:extLst>
              <a:ext uri="{FF2B5EF4-FFF2-40B4-BE49-F238E27FC236}">
                <a16:creationId xmlns:a16="http://schemas.microsoft.com/office/drawing/2014/main" id="{C991CF20-0FC0-2681-80FC-3E5162D17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5566" name="Rectangle 30">
            <a:extLst>
              <a:ext uri="{FF2B5EF4-FFF2-40B4-BE49-F238E27FC236}">
                <a16:creationId xmlns:a16="http://schemas.microsoft.com/office/drawing/2014/main" id="{C9BB25DF-F84B-F960-6D7D-57B66CD80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67" name="Rectangle 31">
            <a:extLst>
              <a:ext uri="{FF2B5EF4-FFF2-40B4-BE49-F238E27FC236}">
                <a16:creationId xmlns:a16="http://schemas.microsoft.com/office/drawing/2014/main" id="{49F5BE2D-8900-80FF-8142-1B3998F29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5568" name="AutoShape 32">
            <a:extLst>
              <a:ext uri="{FF2B5EF4-FFF2-40B4-BE49-F238E27FC236}">
                <a16:creationId xmlns:a16="http://schemas.microsoft.com/office/drawing/2014/main" id="{B1558689-5AF6-B9B6-064F-D595E6053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AE1D2C54-7B5B-AC5C-BE3E-5BB978E7A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C16426-3C65-196B-BFA1-9A7110B1D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BA718378-A421-93F3-03C3-12916752D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>
            <a:extLst>
              <a:ext uri="{FF2B5EF4-FFF2-40B4-BE49-F238E27FC236}">
                <a16:creationId xmlns:a16="http://schemas.microsoft.com/office/drawing/2014/main" id="{550B7E87-8987-D478-11B8-7F7BDF96A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3" name="Line 3">
            <a:extLst>
              <a:ext uri="{FF2B5EF4-FFF2-40B4-BE49-F238E27FC236}">
                <a16:creationId xmlns:a16="http://schemas.microsoft.com/office/drawing/2014/main" id="{1DAE3BFA-1881-DBE1-6A79-87A2D98C8C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4" name="Line 4">
            <a:extLst>
              <a:ext uri="{FF2B5EF4-FFF2-40B4-BE49-F238E27FC236}">
                <a16:creationId xmlns:a16="http://schemas.microsoft.com/office/drawing/2014/main" id="{ECB6EB89-6379-4E4D-A2F0-0D664DFDD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5" name="Line 5">
            <a:extLst>
              <a:ext uri="{FF2B5EF4-FFF2-40B4-BE49-F238E27FC236}">
                <a16:creationId xmlns:a16="http://schemas.microsoft.com/office/drawing/2014/main" id="{EB4BEFF1-B8B4-51A0-389F-CC35CF67E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6" name="Line 6">
            <a:extLst>
              <a:ext uri="{FF2B5EF4-FFF2-40B4-BE49-F238E27FC236}">
                <a16:creationId xmlns:a16="http://schemas.microsoft.com/office/drawing/2014/main" id="{4B593526-BF2E-7ED1-97A4-3AF83763C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7" name="Line 7">
            <a:extLst>
              <a:ext uri="{FF2B5EF4-FFF2-40B4-BE49-F238E27FC236}">
                <a16:creationId xmlns:a16="http://schemas.microsoft.com/office/drawing/2014/main" id="{13E9271D-ACAB-267C-CF66-2980C65B1B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7E56C030-F269-678E-BD1B-65143E697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9" name="Line 9">
            <a:extLst>
              <a:ext uri="{FF2B5EF4-FFF2-40B4-BE49-F238E27FC236}">
                <a16:creationId xmlns:a16="http://schemas.microsoft.com/office/drawing/2014/main" id="{756F1BE0-B814-53DC-DA11-65B31F716C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1" name="Rectangle 11">
            <a:extLst>
              <a:ext uri="{FF2B5EF4-FFF2-40B4-BE49-F238E27FC236}">
                <a16:creationId xmlns:a16="http://schemas.microsoft.com/office/drawing/2014/main" id="{E1228D64-1EBE-C458-98C9-D7A44BB2C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886" y="3581400"/>
            <a:ext cx="5780514" cy="3048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Delete first vertex from queue, it is E,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E’s all unvisited neighbors, no vertex found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</a:t>
            </a:r>
            <a:r>
              <a:rPr lang="en-US" altLang="en-US" sz="2000" dirty="0">
                <a:solidFill>
                  <a:srgbClr val="FF3300"/>
                </a:solidFill>
              </a:rPr>
              <a:t>A, B, C, E, F, D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F, D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66572" name="Oval 12">
            <a:extLst>
              <a:ext uri="{FF2B5EF4-FFF2-40B4-BE49-F238E27FC236}">
                <a16:creationId xmlns:a16="http://schemas.microsoft.com/office/drawing/2014/main" id="{D55798FB-E632-DE5D-D4FD-AB3EF613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6573" name="Oval 13">
            <a:extLst>
              <a:ext uri="{FF2B5EF4-FFF2-40B4-BE49-F238E27FC236}">
                <a16:creationId xmlns:a16="http://schemas.microsoft.com/office/drawing/2014/main" id="{06B35C07-A973-DC05-03CF-AC7D3E53C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6574" name="Oval 14">
            <a:extLst>
              <a:ext uri="{FF2B5EF4-FFF2-40B4-BE49-F238E27FC236}">
                <a16:creationId xmlns:a16="http://schemas.microsoft.com/office/drawing/2014/main" id="{C526C15D-D639-7FEE-98F4-52E571F7A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6575" name="Oval 15">
            <a:extLst>
              <a:ext uri="{FF2B5EF4-FFF2-40B4-BE49-F238E27FC236}">
                <a16:creationId xmlns:a16="http://schemas.microsoft.com/office/drawing/2014/main" id="{19B22A10-B066-6085-6839-1B340F982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6576" name="Oval 16">
            <a:extLst>
              <a:ext uri="{FF2B5EF4-FFF2-40B4-BE49-F238E27FC236}">
                <a16:creationId xmlns:a16="http://schemas.microsoft.com/office/drawing/2014/main" id="{3E5B9FE1-5C2C-7885-C920-BAD93A3D2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6577" name="Oval 17">
            <a:extLst>
              <a:ext uri="{FF2B5EF4-FFF2-40B4-BE49-F238E27FC236}">
                <a16:creationId xmlns:a16="http://schemas.microsoft.com/office/drawing/2014/main" id="{81723699-DEC4-EE96-034A-CC27AF788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6579" name="Rectangle 19">
            <a:extLst>
              <a:ext uri="{FF2B5EF4-FFF2-40B4-BE49-F238E27FC236}">
                <a16:creationId xmlns:a16="http://schemas.microsoft.com/office/drawing/2014/main" id="{F64E25EB-B258-4B0A-2267-94092EFFF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0" name="Rectangle 20">
            <a:extLst>
              <a:ext uri="{FF2B5EF4-FFF2-40B4-BE49-F238E27FC236}">
                <a16:creationId xmlns:a16="http://schemas.microsoft.com/office/drawing/2014/main" id="{72BDFD16-267F-02B0-3C0D-8D3000AC9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1" name="Rectangle 21">
            <a:extLst>
              <a:ext uri="{FF2B5EF4-FFF2-40B4-BE49-F238E27FC236}">
                <a16:creationId xmlns:a16="http://schemas.microsoft.com/office/drawing/2014/main" id="{BB8B1DA7-8A1A-4BA5-99E0-B70BA5486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6582" name="Rectangle 22">
            <a:extLst>
              <a:ext uri="{FF2B5EF4-FFF2-40B4-BE49-F238E27FC236}">
                <a16:creationId xmlns:a16="http://schemas.microsoft.com/office/drawing/2014/main" id="{4AB99B00-791C-ECC5-5204-0CDCD52D0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6583" name="Rectangle 23">
            <a:extLst>
              <a:ext uri="{FF2B5EF4-FFF2-40B4-BE49-F238E27FC236}">
                <a16:creationId xmlns:a16="http://schemas.microsoft.com/office/drawing/2014/main" id="{213DEFF6-366E-3897-B312-E5F52B9C1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4" name="Rectangle 24">
            <a:extLst>
              <a:ext uri="{FF2B5EF4-FFF2-40B4-BE49-F238E27FC236}">
                <a16:creationId xmlns:a16="http://schemas.microsoft.com/office/drawing/2014/main" id="{0A3AECDC-7800-80AD-20A5-7B9A0A94F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6586" name="Rectangle 26">
            <a:extLst>
              <a:ext uri="{FF2B5EF4-FFF2-40B4-BE49-F238E27FC236}">
                <a16:creationId xmlns:a16="http://schemas.microsoft.com/office/drawing/2014/main" id="{DECDEAD6-E3CB-50F7-AEAD-DFE5B5E8A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7" name="Rectangle 27">
            <a:extLst>
              <a:ext uri="{FF2B5EF4-FFF2-40B4-BE49-F238E27FC236}">
                <a16:creationId xmlns:a16="http://schemas.microsoft.com/office/drawing/2014/main" id="{06BAF95D-96DE-2FA6-6C46-9EA0A09C6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8" name="Rectangle 28">
            <a:extLst>
              <a:ext uri="{FF2B5EF4-FFF2-40B4-BE49-F238E27FC236}">
                <a16:creationId xmlns:a16="http://schemas.microsoft.com/office/drawing/2014/main" id="{4D1D4540-DAC3-C7F4-8636-DE12EEBD2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6589" name="Rectangle 29">
            <a:extLst>
              <a:ext uri="{FF2B5EF4-FFF2-40B4-BE49-F238E27FC236}">
                <a16:creationId xmlns:a16="http://schemas.microsoft.com/office/drawing/2014/main" id="{B7587CA5-2A7D-370C-4BCF-12289323C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6590" name="Rectangle 30">
            <a:extLst>
              <a:ext uri="{FF2B5EF4-FFF2-40B4-BE49-F238E27FC236}">
                <a16:creationId xmlns:a16="http://schemas.microsoft.com/office/drawing/2014/main" id="{B53A8AEF-2350-E57A-F5CD-CADBCFAC6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91" name="Rectangle 31">
            <a:extLst>
              <a:ext uri="{FF2B5EF4-FFF2-40B4-BE49-F238E27FC236}">
                <a16:creationId xmlns:a16="http://schemas.microsoft.com/office/drawing/2014/main" id="{DECC5641-5D03-6244-252F-E1A2343A8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6592" name="AutoShape 32">
            <a:extLst>
              <a:ext uri="{FF2B5EF4-FFF2-40B4-BE49-F238E27FC236}">
                <a16:creationId xmlns:a16="http://schemas.microsoft.com/office/drawing/2014/main" id="{0B64DC23-8437-AC2D-0192-03B2E324D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C1669405-F5AE-B5F6-7110-303CAEF5C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C3B7F6-A98B-29AC-CAF6-0CCA407DF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7773A118-8AC3-D7DB-7485-FA7699AEE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2">
            <a:extLst>
              <a:ext uri="{FF2B5EF4-FFF2-40B4-BE49-F238E27FC236}">
                <a16:creationId xmlns:a16="http://schemas.microsoft.com/office/drawing/2014/main" id="{1136BB6C-20DA-14E9-B585-DDABF4B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87" name="Line 3">
            <a:extLst>
              <a:ext uri="{FF2B5EF4-FFF2-40B4-BE49-F238E27FC236}">
                <a16:creationId xmlns:a16="http://schemas.microsoft.com/office/drawing/2014/main" id="{40C2409F-4F64-8374-415A-AF24A1E157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88" name="Line 4">
            <a:extLst>
              <a:ext uri="{FF2B5EF4-FFF2-40B4-BE49-F238E27FC236}">
                <a16:creationId xmlns:a16="http://schemas.microsoft.com/office/drawing/2014/main" id="{34268908-60DD-1A15-BD7C-209EBCC8E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89" name="Line 5">
            <a:extLst>
              <a:ext uri="{FF2B5EF4-FFF2-40B4-BE49-F238E27FC236}">
                <a16:creationId xmlns:a16="http://schemas.microsoft.com/office/drawing/2014/main" id="{82FFD95F-810D-C526-0C81-90EEF3114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0" name="Line 6">
            <a:extLst>
              <a:ext uri="{FF2B5EF4-FFF2-40B4-BE49-F238E27FC236}">
                <a16:creationId xmlns:a16="http://schemas.microsoft.com/office/drawing/2014/main" id="{60FEC1F1-1186-EA5C-4891-078B9455D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1" name="Line 7">
            <a:extLst>
              <a:ext uri="{FF2B5EF4-FFF2-40B4-BE49-F238E27FC236}">
                <a16:creationId xmlns:a16="http://schemas.microsoft.com/office/drawing/2014/main" id="{99E54731-C6C9-945F-AA87-31AB039619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2" name="Line 8">
            <a:extLst>
              <a:ext uri="{FF2B5EF4-FFF2-40B4-BE49-F238E27FC236}">
                <a16:creationId xmlns:a16="http://schemas.microsoft.com/office/drawing/2014/main" id="{ECB6A039-7183-90D4-CC2B-3D63857EA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3" name="Line 9">
            <a:extLst>
              <a:ext uri="{FF2B5EF4-FFF2-40B4-BE49-F238E27FC236}">
                <a16:creationId xmlns:a16="http://schemas.microsoft.com/office/drawing/2014/main" id="{34F78F47-616D-6177-3055-F4B72875FA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5" name="Rectangle 11">
            <a:extLst>
              <a:ext uri="{FF2B5EF4-FFF2-40B4-BE49-F238E27FC236}">
                <a16:creationId xmlns:a16="http://schemas.microsoft.com/office/drawing/2014/main" id="{B2F2F004-4D0C-719D-A339-FF15173EA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581400"/>
            <a:ext cx="5943600" cy="3048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Delete first vertex from queue, it is F,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F’s all unvisited neighbors, no vertex found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</a:t>
            </a:r>
            <a:r>
              <a:rPr lang="en-US" altLang="en-US" sz="2000" dirty="0">
                <a:solidFill>
                  <a:srgbClr val="FF3300"/>
                </a:solidFill>
              </a:rPr>
              <a:t>A, B, C, E, F, D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D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67596" name="Oval 12">
            <a:extLst>
              <a:ext uri="{FF2B5EF4-FFF2-40B4-BE49-F238E27FC236}">
                <a16:creationId xmlns:a16="http://schemas.microsoft.com/office/drawing/2014/main" id="{EEB6A3E7-05E6-67C0-F945-EB80EFBB9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7597" name="Oval 13">
            <a:extLst>
              <a:ext uri="{FF2B5EF4-FFF2-40B4-BE49-F238E27FC236}">
                <a16:creationId xmlns:a16="http://schemas.microsoft.com/office/drawing/2014/main" id="{1A393D73-632D-7D7D-766B-E56FC8AA0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7598" name="Oval 14">
            <a:extLst>
              <a:ext uri="{FF2B5EF4-FFF2-40B4-BE49-F238E27FC236}">
                <a16:creationId xmlns:a16="http://schemas.microsoft.com/office/drawing/2014/main" id="{D729213F-DC7E-065E-F5A9-94DFCF313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7599" name="Oval 15">
            <a:extLst>
              <a:ext uri="{FF2B5EF4-FFF2-40B4-BE49-F238E27FC236}">
                <a16:creationId xmlns:a16="http://schemas.microsoft.com/office/drawing/2014/main" id="{779FE23D-7C14-E3E7-D055-55A335728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7600" name="Oval 16">
            <a:extLst>
              <a:ext uri="{FF2B5EF4-FFF2-40B4-BE49-F238E27FC236}">
                <a16:creationId xmlns:a16="http://schemas.microsoft.com/office/drawing/2014/main" id="{F0B207A8-E8CB-E249-0232-76BDC67FE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7601" name="Oval 17">
            <a:extLst>
              <a:ext uri="{FF2B5EF4-FFF2-40B4-BE49-F238E27FC236}">
                <a16:creationId xmlns:a16="http://schemas.microsoft.com/office/drawing/2014/main" id="{5815E5A7-1E05-2C85-40A8-96C9D54BC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7603" name="Rectangle 19">
            <a:extLst>
              <a:ext uri="{FF2B5EF4-FFF2-40B4-BE49-F238E27FC236}">
                <a16:creationId xmlns:a16="http://schemas.microsoft.com/office/drawing/2014/main" id="{0B96B50A-8CAF-00AC-BF66-47C67857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604" name="Rectangle 20">
            <a:extLst>
              <a:ext uri="{FF2B5EF4-FFF2-40B4-BE49-F238E27FC236}">
                <a16:creationId xmlns:a16="http://schemas.microsoft.com/office/drawing/2014/main" id="{30119AC7-4863-A300-C60B-35D8D6917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605" name="Rectangle 21">
            <a:extLst>
              <a:ext uri="{FF2B5EF4-FFF2-40B4-BE49-F238E27FC236}">
                <a16:creationId xmlns:a16="http://schemas.microsoft.com/office/drawing/2014/main" id="{1A71ABDA-0881-3724-DEC8-09564C7AC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7606" name="Rectangle 22">
            <a:extLst>
              <a:ext uri="{FF2B5EF4-FFF2-40B4-BE49-F238E27FC236}">
                <a16:creationId xmlns:a16="http://schemas.microsoft.com/office/drawing/2014/main" id="{56268E7C-B90D-DE4A-0FF0-438732C55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7607" name="Rectangle 23">
            <a:extLst>
              <a:ext uri="{FF2B5EF4-FFF2-40B4-BE49-F238E27FC236}">
                <a16:creationId xmlns:a16="http://schemas.microsoft.com/office/drawing/2014/main" id="{52DE1C61-2B97-7F6D-0ADF-2698574C9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608" name="Rectangle 24">
            <a:extLst>
              <a:ext uri="{FF2B5EF4-FFF2-40B4-BE49-F238E27FC236}">
                <a16:creationId xmlns:a16="http://schemas.microsoft.com/office/drawing/2014/main" id="{9701CE6D-6706-427A-A6C4-A3524048D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7610" name="Rectangle 26">
            <a:extLst>
              <a:ext uri="{FF2B5EF4-FFF2-40B4-BE49-F238E27FC236}">
                <a16:creationId xmlns:a16="http://schemas.microsoft.com/office/drawing/2014/main" id="{1962B9AE-7EE2-4748-5776-B050A320C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611" name="Rectangle 27">
            <a:extLst>
              <a:ext uri="{FF2B5EF4-FFF2-40B4-BE49-F238E27FC236}">
                <a16:creationId xmlns:a16="http://schemas.microsoft.com/office/drawing/2014/main" id="{FE1A2C36-342C-1C69-2ECA-59A2515A3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612" name="Rectangle 28">
            <a:extLst>
              <a:ext uri="{FF2B5EF4-FFF2-40B4-BE49-F238E27FC236}">
                <a16:creationId xmlns:a16="http://schemas.microsoft.com/office/drawing/2014/main" id="{AD4FE5A1-7267-F665-E3CD-B2F212C98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7613" name="Rectangle 29">
            <a:extLst>
              <a:ext uri="{FF2B5EF4-FFF2-40B4-BE49-F238E27FC236}">
                <a16:creationId xmlns:a16="http://schemas.microsoft.com/office/drawing/2014/main" id="{4A38CA70-7DB2-C27E-2CCF-3E2AD3509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7614" name="Rectangle 30">
            <a:extLst>
              <a:ext uri="{FF2B5EF4-FFF2-40B4-BE49-F238E27FC236}">
                <a16:creationId xmlns:a16="http://schemas.microsoft.com/office/drawing/2014/main" id="{E2CA8BEC-860D-3F7D-AF8E-C73714C70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7615" name="Rectangle 31">
            <a:extLst>
              <a:ext uri="{FF2B5EF4-FFF2-40B4-BE49-F238E27FC236}">
                <a16:creationId xmlns:a16="http://schemas.microsoft.com/office/drawing/2014/main" id="{F47EE1FC-02EB-0C1B-542D-90BE0CB76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7616" name="AutoShape 32">
            <a:extLst>
              <a:ext uri="{FF2B5EF4-FFF2-40B4-BE49-F238E27FC236}">
                <a16:creationId xmlns:a16="http://schemas.microsoft.com/office/drawing/2014/main" id="{6CEFA577-7249-D6FE-DA47-A1B2B1647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AC0A0708-0983-BB99-7676-7A016CC9F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042F1D-5967-8BCA-C2CF-34555B4CC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711ED348-3084-5128-FF3F-52B3B1435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2">
            <a:extLst>
              <a:ext uri="{FF2B5EF4-FFF2-40B4-BE49-F238E27FC236}">
                <a16:creationId xmlns:a16="http://schemas.microsoft.com/office/drawing/2014/main" id="{C6BA12FC-F4F2-0651-B60C-180C64C48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1" name="Line 3">
            <a:extLst>
              <a:ext uri="{FF2B5EF4-FFF2-40B4-BE49-F238E27FC236}">
                <a16:creationId xmlns:a16="http://schemas.microsoft.com/office/drawing/2014/main" id="{CE1F26AD-9237-B747-CC04-C64DADA1BB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2" name="Line 4">
            <a:extLst>
              <a:ext uri="{FF2B5EF4-FFF2-40B4-BE49-F238E27FC236}">
                <a16:creationId xmlns:a16="http://schemas.microsoft.com/office/drawing/2014/main" id="{A4348624-E18C-9D64-AE97-4A08C9FB8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3" name="Line 5">
            <a:extLst>
              <a:ext uri="{FF2B5EF4-FFF2-40B4-BE49-F238E27FC236}">
                <a16:creationId xmlns:a16="http://schemas.microsoft.com/office/drawing/2014/main" id="{AA2F4917-8CBB-7641-7579-481B6E193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4" name="Line 6">
            <a:extLst>
              <a:ext uri="{FF2B5EF4-FFF2-40B4-BE49-F238E27FC236}">
                <a16:creationId xmlns:a16="http://schemas.microsoft.com/office/drawing/2014/main" id="{0F373B3A-4660-9228-98C6-F6A0F1FC0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5" name="Line 7">
            <a:extLst>
              <a:ext uri="{FF2B5EF4-FFF2-40B4-BE49-F238E27FC236}">
                <a16:creationId xmlns:a16="http://schemas.microsoft.com/office/drawing/2014/main" id="{1A4B2986-9628-F2CD-8BB9-8A1721ECB0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6" name="Line 8">
            <a:extLst>
              <a:ext uri="{FF2B5EF4-FFF2-40B4-BE49-F238E27FC236}">
                <a16:creationId xmlns:a16="http://schemas.microsoft.com/office/drawing/2014/main" id="{A8BD43B2-E0C2-B783-E3BC-09570A53D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7" name="Line 9">
            <a:extLst>
              <a:ext uri="{FF2B5EF4-FFF2-40B4-BE49-F238E27FC236}">
                <a16:creationId xmlns:a16="http://schemas.microsoft.com/office/drawing/2014/main" id="{C9F83B5E-DC9A-150D-DE77-DE0984B754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9" name="Rectangle 11">
            <a:extLst>
              <a:ext uri="{FF2B5EF4-FFF2-40B4-BE49-F238E27FC236}">
                <a16:creationId xmlns:a16="http://schemas.microsoft.com/office/drawing/2014/main" id="{30B70062-8AF6-AE62-A1D1-5772721F4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581400"/>
            <a:ext cx="5943600" cy="29309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Delete first vertex from queue, it is D, mark it as 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Find D’s all unvisited neighbors, no vertex found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Visited Vertices  { </a:t>
            </a:r>
            <a:r>
              <a:rPr lang="en-US" altLang="en-US" sz="2000" dirty="0">
                <a:solidFill>
                  <a:srgbClr val="FF3300"/>
                </a:solidFill>
              </a:rPr>
              <a:t>A, B, C, E, F, D 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Probing Vertices {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Unvisited Vertices { }</a:t>
            </a:r>
          </a:p>
        </p:txBody>
      </p:sp>
      <p:sp>
        <p:nvSpPr>
          <p:cNvPr id="68620" name="Oval 12">
            <a:extLst>
              <a:ext uri="{FF2B5EF4-FFF2-40B4-BE49-F238E27FC236}">
                <a16:creationId xmlns:a16="http://schemas.microsoft.com/office/drawing/2014/main" id="{DFE5B73A-43F4-51D0-AD32-F280CA8BC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8621" name="Oval 13">
            <a:extLst>
              <a:ext uri="{FF2B5EF4-FFF2-40B4-BE49-F238E27FC236}">
                <a16:creationId xmlns:a16="http://schemas.microsoft.com/office/drawing/2014/main" id="{3377A4AC-7749-7DFD-29DA-C9B555444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8622" name="Oval 14">
            <a:extLst>
              <a:ext uri="{FF2B5EF4-FFF2-40B4-BE49-F238E27FC236}">
                <a16:creationId xmlns:a16="http://schemas.microsoft.com/office/drawing/2014/main" id="{17875C93-01EA-60C7-9A7E-F57C201A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8623" name="Oval 15">
            <a:extLst>
              <a:ext uri="{FF2B5EF4-FFF2-40B4-BE49-F238E27FC236}">
                <a16:creationId xmlns:a16="http://schemas.microsoft.com/office/drawing/2014/main" id="{E56F2F45-CC5C-5DD9-2F7E-6AC5AF9F0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8624" name="Oval 16">
            <a:extLst>
              <a:ext uri="{FF2B5EF4-FFF2-40B4-BE49-F238E27FC236}">
                <a16:creationId xmlns:a16="http://schemas.microsoft.com/office/drawing/2014/main" id="{A038F3D6-89F9-65AE-7309-4239E6D4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8625" name="Oval 17">
            <a:extLst>
              <a:ext uri="{FF2B5EF4-FFF2-40B4-BE49-F238E27FC236}">
                <a16:creationId xmlns:a16="http://schemas.microsoft.com/office/drawing/2014/main" id="{BFCCF2DC-0FE2-F6F8-88EE-CF4AC9AEF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8627" name="Rectangle 19">
            <a:extLst>
              <a:ext uri="{FF2B5EF4-FFF2-40B4-BE49-F238E27FC236}">
                <a16:creationId xmlns:a16="http://schemas.microsoft.com/office/drawing/2014/main" id="{AAD8E317-3C4E-DBCC-AA3B-EDA4125B2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8" name="Rectangle 20">
            <a:extLst>
              <a:ext uri="{FF2B5EF4-FFF2-40B4-BE49-F238E27FC236}">
                <a16:creationId xmlns:a16="http://schemas.microsoft.com/office/drawing/2014/main" id="{EC17C711-13D9-A0BB-DA2E-3B1C380C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9" name="Rectangle 21">
            <a:extLst>
              <a:ext uri="{FF2B5EF4-FFF2-40B4-BE49-F238E27FC236}">
                <a16:creationId xmlns:a16="http://schemas.microsoft.com/office/drawing/2014/main" id="{1E25C446-73FF-0A68-4D9B-2EA9F7047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8630" name="Rectangle 22">
            <a:extLst>
              <a:ext uri="{FF2B5EF4-FFF2-40B4-BE49-F238E27FC236}">
                <a16:creationId xmlns:a16="http://schemas.microsoft.com/office/drawing/2014/main" id="{1F070174-2A0D-33AB-2BFB-830DDAC93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29F23513-C049-F2D8-4167-27E651752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32" name="Rectangle 24">
            <a:extLst>
              <a:ext uri="{FF2B5EF4-FFF2-40B4-BE49-F238E27FC236}">
                <a16:creationId xmlns:a16="http://schemas.microsoft.com/office/drawing/2014/main" id="{C6891987-C29A-3B76-5967-2A569C460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8634" name="Rectangle 26">
            <a:extLst>
              <a:ext uri="{FF2B5EF4-FFF2-40B4-BE49-F238E27FC236}">
                <a16:creationId xmlns:a16="http://schemas.microsoft.com/office/drawing/2014/main" id="{701C57CA-5A4E-F7A2-B07B-EB5673FB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35" name="Rectangle 27">
            <a:extLst>
              <a:ext uri="{FF2B5EF4-FFF2-40B4-BE49-F238E27FC236}">
                <a16:creationId xmlns:a16="http://schemas.microsoft.com/office/drawing/2014/main" id="{909FF24B-7CA7-31B4-62C8-94BD2E48A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36" name="Rectangle 28">
            <a:extLst>
              <a:ext uri="{FF2B5EF4-FFF2-40B4-BE49-F238E27FC236}">
                <a16:creationId xmlns:a16="http://schemas.microsoft.com/office/drawing/2014/main" id="{ACC83DBF-1D7F-DD24-EEC2-F4BF781F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8637" name="Rectangle 29">
            <a:extLst>
              <a:ext uri="{FF2B5EF4-FFF2-40B4-BE49-F238E27FC236}">
                <a16:creationId xmlns:a16="http://schemas.microsoft.com/office/drawing/2014/main" id="{282DBA38-5C7C-E4B4-4A18-B6F2A6CEA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8638" name="Rectangle 30">
            <a:extLst>
              <a:ext uri="{FF2B5EF4-FFF2-40B4-BE49-F238E27FC236}">
                <a16:creationId xmlns:a16="http://schemas.microsoft.com/office/drawing/2014/main" id="{C73318CB-0850-4422-313D-DC5BA622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39" name="Rectangle 31">
            <a:extLst>
              <a:ext uri="{FF2B5EF4-FFF2-40B4-BE49-F238E27FC236}">
                <a16:creationId xmlns:a16="http://schemas.microsoft.com/office/drawing/2014/main" id="{9E2C9D90-555D-5D9F-F6EE-8AAE1A331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8640" name="AutoShape 32">
            <a:extLst>
              <a:ext uri="{FF2B5EF4-FFF2-40B4-BE49-F238E27FC236}">
                <a16:creationId xmlns:a16="http://schemas.microsoft.com/office/drawing/2014/main" id="{274421EA-F4F6-D63C-24E7-FD025E722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876800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25CA7A11-6BE7-D6B8-10D3-63ABB22D3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3B4BC4-9FF1-E789-793E-2FDDABACA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E86A2F61-200E-4F64-58B6-F2E8083E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Line 2">
            <a:extLst>
              <a:ext uri="{FF2B5EF4-FFF2-40B4-BE49-F238E27FC236}">
                <a16:creationId xmlns:a16="http://schemas.microsoft.com/office/drawing/2014/main" id="{95EC86D3-F480-4D91-4788-BB0149A66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5" name="Line 3">
            <a:extLst>
              <a:ext uri="{FF2B5EF4-FFF2-40B4-BE49-F238E27FC236}">
                <a16:creationId xmlns:a16="http://schemas.microsoft.com/office/drawing/2014/main" id="{2118FC17-53B4-D842-F659-2A64C55650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828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6" name="Line 4">
            <a:extLst>
              <a:ext uri="{FF2B5EF4-FFF2-40B4-BE49-F238E27FC236}">
                <a16:creationId xmlns:a16="http://schemas.microsoft.com/office/drawing/2014/main" id="{893652C6-935E-36DB-929D-49A3F09CC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7" name="Line 5">
            <a:extLst>
              <a:ext uri="{FF2B5EF4-FFF2-40B4-BE49-F238E27FC236}">
                <a16:creationId xmlns:a16="http://schemas.microsoft.com/office/drawing/2014/main" id="{97A6BF67-299C-0A94-6A80-9DFF0736E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676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8" name="Line 6">
            <a:extLst>
              <a:ext uri="{FF2B5EF4-FFF2-40B4-BE49-F238E27FC236}">
                <a16:creationId xmlns:a16="http://schemas.microsoft.com/office/drawing/2014/main" id="{EDD41B1D-4770-25B0-9BFB-664F92E16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9" name="Line 7">
            <a:extLst>
              <a:ext uri="{FF2B5EF4-FFF2-40B4-BE49-F238E27FC236}">
                <a16:creationId xmlns:a16="http://schemas.microsoft.com/office/drawing/2014/main" id="{0F4905B7-D522-FA8B-BBA9-253E9BCD46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7432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28A0FA36-0DAF-B2E2-849B-E92CD4504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667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1" name="Line 9">
            <a:extLst>
              <a:ext uri="{FF2B5EF4-FFF2-40B4-BE49-F238E27FC236}">
                <a16:creationId xmlns:a16="http://schemas.microsoft.com/office/drawing/2014/main" id="{8AFFDB71-284C-9EBC-5D75-91224DFE16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3" name="Rectangle 11">
            <a:extLst>
              <a:ext uri="{FF2B5EF4-FFF2-40B4-BE49-F238E27FC236}">
                <a16:creationId xmlns:a16="http://schemas.microsoft.com/office/drawing/2014/main" id="{35571777-2D88-E408-79A4-E0B7672E6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581400"/>
            <a:ext cx="5943600" cy="1905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Now the queue is empty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End of Breadth First Traversal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Visited Vertices  { </a:t>
            </a:r>
            <a:r>
              <a:rPr lang="en-US" altLang="en-US" sz="2400" dirty="0">
                <a:solidFill>
                  <a:srgbClr val="FF3300"/>
                </a:solidFill>
              </a:rPr>
              <a:t>A, B, C, E, F, D </a:t>
            </a:r>
            <a:r>
              <a:rPr lang="en-US" altLang="en-US" sz="24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Probing Vertices {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Unvisited Vertices { }</a:t>
            </a:r>
          </a:p>
        </p:txBody>
      </p:sp>
      <p:sp>
        <p:nvSpPr>
          <p:cNvPr id="69644" name="Oval 12">
            <a:extLst>
              <a:ext uri="{FF2B5EF4-FFF2-40B4-BE49-F238E27FC236}">
                <a16:creationId xmlns:a16="http://schemas.microsoft.com/office/drawing/2014/main" id="{AC1F0BB5-9C32-5B73-4E8F-36EF1367D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716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9645" name="Oval 13">
            <a:extLst>
              <a:ext uri="{FF2B5EF4-FFF2-40B4-BE49-F238E27FC236}">
                <a16:creationId xmlns:a16="http://schemas.microsoft.com/office/drawing/2014/main" id="{5373F39D-18F1-025F-BCCD-0AAA5B104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2860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9646" name="Oval 14">
            <a:extLst>
              <a:ext uri="{FF2B5EF4-FFF2-40B4-BE49-F238E27FC236}">
                <a16:creationId xmlns:a16="http://schemas.microsoft.com/office/drawing/2014/main" id="{980A40B4-D8D3-BAE7-8BB9-4107ED81D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9647" name="Oval 15">
            <a:extLst>
              <a:ext uri="{FF2B5EF4-FFF2-40B4-BE49-F238E27FC236}">
                <a16:creationId xmlns:a16="http://schemas.microsoft.com/office/drawing/2014/main" id="{D56BCD00-4058-1008-3D93-75970801A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362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9648" name="Oval 16">
            <a:extLst>
              <a:ext uri="{FF2B5EF4-FFF2-40B4-BE49-F238E27FC236}">
                <a16:creationId xmlns:a16="http://schemas.microsoft.com/office/drawing/2014/main" id="{4FB465BC-E67B-100A-B3CE-B73E85571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9649" name="Oval 17">
            <a:extLst>
              <a:ext uri="{FF2B5EF4-FFF2-40B4-BE49-F238E27FC236}">
                <a16:creationId xmlns:a16="http://schemas.microsoft.com/office/drawing/2014/main" id="{32181782-9238-AF50-551F-DBBD1B198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124200"/>
            <a:ext cx="533400" cy="533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9652" name="Rectangle 26">
            <a:extLst>
              <a:ext uri="{FF2B5EF4-FFF2-40B4-BE49-F238E27FC236}">
                <a16:creationId xmlns:a16="http://schemas.microsoft.com/office/drawing/2014/main" id="{AF2FD61E-8C20-1001-A35B-B30D6E371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9653" name="Rectangle 27">
            <a:extLst>
              <a:ext uri="{FF2B5EF4-FFF2-40B4-BE49-F238E27FC236}">
                <a16:creationId xmlns:a16="http://schemas.microsoft.com/office/drawing/2014/main" id="{8E91B152-20EF-5A9A-B2FA-16976D8AA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9654" name="Rectangle 28">
            <a:extLst>
              <a:ext uri="{FF2B5EF4-FFF2-40B4-BE49-F238E27FC236}">
                <a16:creationId xmlns:a16="http://schemas.microsoft.com/office/drawing/2014/main" id="{0EF7BAFB-3C93-86CB-0A0C-7C0E0F879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9655" name="Rectangle 29">
            <a:extLst>
              <a:ext uri="{FF2B5EF4-FFF2-40B4-BE49-F238E27FC236}">
                <a16:creationId xmlns:a16="http://schemas.microsoft.com/office/drawing/2014/main" id="{A17C17FD-7E58-7682-C9AD-BC08AC033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9656" name="Rectangle 30">
            <a:extLst>
              <a:ext uri="{FF2B5EF4-FFF2-40B4-BE49-F238E27FC236}">
                <a16:creationId xmlns:a16="http://schemas.microsoft.com/office/drawing/2014/main" id="{BC939BCA-E1A2-18A2-BB64-812404A52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9657" name="Rectangle 31">
            <a:extLst>
              <a:ext uri="{FF2B5EF4-FFF2-40B4-BE49-F238E27FC236}">
                <a16:creationId xmlns:a16="http://schemas.microsoft.com/office/drawing/2014/main" id="{3AD73291-DAE7-6950-27F1-1CD3ECC5B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334000"/>
            <a:ext cx="457200" cy="3048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Text Box 53">
            <a:extLst>
              <a:ext uri="{FF2B5EF4-FFF2-40B4-BE49-F238E27FC236}">
                <a16:creationId xmlns:a16="http://schemas.microsoft.com/office/drawing/2014/main" id="{04F5C829-0CE1-724C-FF72-B1A5FFB46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86" y="1178080"/>
            <a:ext cx="3496837" cy="2060575"/>
          </a:xfrm>
          <a:prstGeom prst="rect">
            <a:avLst/>
          </a:prstGeom>
          <a:noFill/>
          <a:ln w="19050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A’s neighbor: B C E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B’s neighbor: A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C’s neighbor: A B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D’s neighbor: E C F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E’s neighbor: A D</a:t>
            </a:r>
          </a:p>
          <a:p>
            <a:pPr marL="457200" lvl="1"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en-US" sz="2000" dirty="0">
                <a:latin typeface="Comic Sans MS" panose="030F0902030302020204" pitchFamily="66" charset="0"/>
              </a:rPr>
              <a:t>F’s neighbor: B 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60FDC7-5C60-D170-780C-D8B48C2DE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Breadth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First Traversal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id="{C664755E-C46E-B438-BD95-D73C8B895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912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66FF"/>
                </a:solidFill>
                <a:latin typeface="Comic Sans MS" panose="030F0902030302020204" pitchFamily="66" charset="0"/>
              </a:rPr>
              <a:t>queue</a:t>
            </a:r>
            <a:endParaRPr lang="en-US" altLang="en-US" sz="2400" dirty="0">
              <a:solidFill>
                <a:srgbClr val="0066FF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:a16="http://schemas.microsoft.com/office/drawing/2014/main" id="{66D88EA8-7D95-2D79-69C3-8B3D1949B3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327" y="1066800"/>
            <a:ext cx="7772400" cy="2438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Depth First Traversal (DFT)</a:t>
            </a:r>
          </a:p>
          <a:p>
            <a:pPr lvl="1" eaLnBrk="1" hangingPunct="1"/>
            <a:r>
              <a:rPr lang="en-US" altLang="en-US" sz="2000" dirty="0"/>
              <a:t>order of visited: A, B, C, D, E, F</a:t>
            </a:r>
          </a:p>
          <a:p>
            <a:pPr lvl="1" eaLnBrk="1" hangingPunct="1"/>
            <a:endParaRPr lang="en-US" altLang="en-US" sz="2000" dirty="0"/>
          </a:p>
          <a:p>
            <a:pPr eaLnBrk="1" hangingPunct="1"/>
            <a:r>
              <a:rPr lang="en-US" altLang="en-US" sz="2400" dirty="0"/>
              <a:t>Breadth First Traversal (BFT)</a:t>
            </a:r>
          </a:p>
          <a:p>
            <a:pPr lvl="1" eaLnBrk="1" hangingPunct="1"/>
            <a:r>
              <a:rPr lang="en-US" altLang="en-US" sz="2000" dirty="0"/>
              <a:t>order of visited: A, B, C, E, F, D</a:t>
            </a:r>
          </a:p>
          <a:p>
            <a:pPr lvl="1" eaLnBrk="1" hangingPunct="1"/>
            <a:endParaRPr lang="en-US" altLang="en-US" sz="2000" dirty="0"/>
          </a:p>
        </p:txBody>
      </p:sp>
      <p:sp>
        <p:nvSpPr>
          <p:cNvPr id="70660" name="Line 4">
            <a:extLst>
              <a:ext uri="{FF2B5EF4-FFF2-40B4-BE49-F238E27FC236}">
                <a16:creationId xmlns:a16="http://schemas.microsoft.com/office/drawing/2014/main" id="{653F25D0-335A-863F-16B2-0CE1EB084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2117" y="270510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1" name="Line 5">
            <a:extLst>
              <a:ext uri="{FF2B5EF4-FFF2-40B4-BE49-F238E27FC236}">
                <a16:creationId xmlns:a16="http://schemas.microsoft.com/office/drawing/2014/main" id="{2EB8E7C2-6EBC-0393-8374-8C5D27277D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8317" y="19431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2" name="Line 6">
            <a:extLst>
              <a:ext uri="{FF2B5EF4-FFF2-40B4-BE49-F238E27FC236}">
                <a16:creationId xmlns:a16="http://schemas.microsoft.com/office/drawing/2014/main" id="{E0946ED6-EAA2-B266-4D6A-E52448460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7917" y="1638300"/>
            <a:ext cx="304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3" name="Line 7">
            <a:extLst>
              <a:ext uri="{FF2B5EF4-FFF2-40B4-BE49-F238E27FC236}">
                <a16:creationId xmlns:a16="http://schemas.microsoft.com/office/drawing/2014/main" id="{D87B06AD-7DC1-490F-8EE7-5A5210440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0317" y="17907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4" name="Line 8">
            <a:extLst>
              <a:ext uri="{FF2B5EF4-FFF2-40B4-BE49-F238E27FC236}">
                <a16:creationId xmlns:a16="http://schemas.microsoft.com/office/drawing/2014/main" id="{5EEACCAA-1277-8CBF-658C-422A4F028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9717" y="26289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5" name="Line 9">
            <a:extLst>
              <a:ext uri="{FF2B5EF4-FFF2-40B4-BE49-F238E27FC236}">
                <a16:creationId xmlns:a16="http://schemas.microsoft.com/office/drawing/2014/main" id="{C27B48FF-BF1E-1AAD-374E-84B8E0E485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7117" y="28575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6" name="Line 10">
            <a:extLst>
              <a:ext uri="{FF2B5EF4-FFF2-40B4-BE49-F238E27FC236}">
                <a16:creationId xmlns:a16="http://schemas.microsoft.com/office/drawing/2014/main" id="{3342B7C1-9180-31A4-F8DA-650CD478E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8917" y="27813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Line 11">
            <a:extLst>
              <a:ext uri="{FF2B5EF4-FFF2-40B4-BE49-F238E27FC236}">
                <a16:creationId xmlns:a16="http://schemas.microsoft.com/office/drawing/2014/main" id="{51B06E5D-2870-55DE-A151-9354BD1EE2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4517" y="3543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8" name="Oval 12">
            <a:extLst>
              <a:ext uri="{FF2B5EF4-FFF2-40B4-BE49-F238E27FC236}">
                <a16:creationId xmlns:a16="http://schemas.microsoft.com/office/drawing/2014/main" id="{F91198D7-7CC0-0996-41D9-566997BF2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317" y="14859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0669" name="Oval 13">
            <a:extLst>
              <a:ext uri="{FF2B5EF4-FFF2-40B4-BE49-F238E27FC236}">
                <a16:creationId xmlns:a16="http://schemas.microsoft.com/office/drawing/2014/main" id="{C6CEE60F-E4C8-B456-A904-D5AE87CF8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117" y="24003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0670" name="Oval 14">
            <a:extLst>
              <a:ext uri="{FF2B5EF4-FFF2-40B4-BE49-F238E27FC236}">
                <a16:creationId xmlns:a16="http://schemas.microsoft.com/office/drawing/2014/main" id="{538201D8-55CE-5B05-E57A-15DE6B12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117" y="25527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0671" name="Oval 15">
            <a:extLst>
              <a:ext uri="{FF2B5EF4-FFF2-40B4-BE49-F238E27FC236}">
                <a16:creationId xmlns:a16="http://schemas.microsoft.com/office/drawing/2014/main" id="{B67EC7D9-7ED3-171C-9864-43389D164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917" y="24765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70672" name="Oval 16">
            <a:extLst>
              <a:ext uri="{FF2B5EF4-FFF2-40B4-BE49-F238E27FC236}">
                <a16:creationId xmlns:a16="http://schemas.microsoft.com/office/drawing/2014/main" id="{2C67402F-E95C-A0FC-7025-72AC2CF6E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3517" y="33147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70673" name="Oval 17">
            <a:extLst>
              <a:ext uri="{FF2B5EF4-FFF2-40B4-BE49-F238E27FC236}">
                <a16:creationId xmlns:a16="http://schemas.microsoft.com/office/drawing/2014/main" id="{876B879E-7884-B49A-4B87-F32B735D0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2317" y="3238500"/>
            <a:ext cx="5334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9ECB3F-20BC-F79C-CBE2-E84AF5F57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327" y="228600"/>
            <a:ext cx="8675649" cy="685800"/>
          </a:xfrm>
        </p:spPr>
        <p:txBody>
          <a:bodyPr/>
          <a:lstStyle/>
          <a:p>
            <a:r>
              <a:rPr lang="en-US" altLang="en-US" dirty="0"/>
              <a:t>Difference Between DFT &amp; BFT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1977</TotalTime>
  <Words>3719</Words>
  <Application>Microsoft Macintosh PowerPoint</Application>
  <PresentationFormat>On-screen Show (4:3)</PresentationFormat>
  <Paragraphs>1000</Paragraphs>
  <Slides>62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Times</vt:lpstr>
      <vt:lpstr>ZapfDingbats</vt:lpstr>
      <vt:lpstr>Aptos</vt:lpstr>
      <vt:lpstr>Arial</vt:lpstr>
      <vt:lpstr>Cambria Math</vt:lpstr>
      <vt:lpstr>Comic Sans MS</vt:lpstr>
      <vt:lpstr>Courier New</vt:lpstr>
      <vt:lpstr>Symbol</vt:lpstr>
      <vt:lpstr>Times New Roman</vt:lpstr>
      <vt:lpstr>Wingdings</vt:lpstr>
      <vt:lpstr>Office Theme</vt:lpstr>
      <vt:lpstr>方程式</vt:lpstr>
      <vt:lpstr>PowerPoint Presentation</vt:lpstr>
      <vt:lpstr>Northwest Airline Flight</vt:lpstr>
      <vt:lpstr>Computer Network Or Internet</vt:lpstr>
      <vt:lpstr>Application</vt:lpstr>
      <vt:lpstr>Concepts of Graphs</vt:lpstr>
      <vt:lpstr>Graph Definition</vt:lpstr>
      <vt:lpstr>Undirected vs. Directed Graph</vt:lpstr>
      <vt:lpstr>PowerPoint Presentation</vt:lpstr>
      <vt:lpstr>Degree of a Vertex</vt:lpstr>
      <vt:lpstr>Subgraph</vt:lpstr>
      <vt:lpstr>Simple Path</vt:lpstr>
      <vt:lpstr>Cycle</vt:lpstr>
      <vt:lpstr>Connected vs. Unconnected Graph</vt:lpstr>
      <vt:lpstr>Directed Acyclic Graph</vt:lpstr>
      <vt:lpstr>Weighted Graph</vt:lpstr>
      <vt:lpstr>Representation Of Graph</vt:lpstr>
      <vt:lpstr>Adjacency Matrix</vt:lpstr>
      <vt:lpstr>Example of Adjacency Matrix</vt:lpstr>
      <vt:lpstr>PowerPoint Presentation</vt:lpstr>
      <vt:lpstr>PowerPoint Presentation</vt:lpstr>
      <vt:lpstr>PowerPoint Presentation</vt:lpstr>
      <vt:lpstr>PowerPoint Presentation</vt:lpstr>
      <vt:lpstr>Undirected vs. Directed </vt:lpstr>
      <vt:lpstr>Weighted Graph</vt:lpstr>
      <vt:lpstr>Adjacency List</vt:lpstr>
      <vt:lpstr>Weighted Graph</vt:lpstr>
      <vt:lpstr>Comparison Of Representations</vt:lpstr>
      <vt:lpstr>Complete Graph</vt:lpstr>
      <vt:lpstr>Sparse Graph</vt:lpstr>
      <vt:lpstr>Space Requirements</vt:lpstr>
      <vt:lpstr>Graph Traversal</vt:lpstr>
      <vt:lpstr>Graph Traversal</vt:lpstr>
      <vt:lpstr>Traversal Algorithm</vt:lpstr>
      <vt:lpstr>Traversal Algorithm</vt:lpstr>
      <vt:lpstr>Traversal Algorithm</vt:lpstr>
      <vt:lpstr>Traversal Algorithm</vt:lpstr>
      <vt:lpstr>Algorithm of Graph Traversal</vt:lpstr>
      <vt:lpstr>Graph Traversal Algorithms</vt:lpstr>
      <vt:lpstr>Depth First Traversal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Depth First Traversal (Cont)</vt:lpstr>
      <vt:lpstr>Breadth First Traversal</vt:lpstr>
      <vt:lpstr>Breadth First Traversal (Cont)</vt:lpstr>
      <vt:lpstr>Breadth First Traversal (Cont)</vt:lpstr>
      <vt:lpstr>Breadth First Traversal (Cont)</vt:lpstr>
      <vt:lpstr>Breadth First Traversal (Cont)</vt:lpstr>
      <vt:lpstr>Breadth First Traversal (Cont)</vt:lpstr>
      <vt:lpstr>Breadth First Traversal (Cont)</vt:lpstr>
      <vt:lpstr>Breadth First Traversal (Cont)</vt:lpstr>
      <vt:lpstr>Breadth First Traversal (Cont)</vt:lpstr>
      <vt:lpstr>Difference Between DFT &amp; BFT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Fan, Heng</dc:creator>
  <cp:lastModifiedBy>Fan, Heng</cp:lastModifiedBy>
  <cp:revision>934</cp:revision>
  <dcterms:created xsi:type="dcterms:W3CDTF">2021-08-20T15:15:54Z</dcterms:created>
  <dcterms:modified xsi:type="dcterms:W3CDTF">2025-11-05T15:18:21Z</dcterms:modified>
</cp:coreProperties>
</file>